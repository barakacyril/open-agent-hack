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6f051b4d794818" /><Relationship Type="http://schemas.openxmlformats.org/officeDocument/2006/relationships/extended-properties" Target="/docProps/app.xml" Id="R8884c8466d8740b2" /><Relationship Type="http://schemas.openxmlformats.org/officeDocument/2006/relationships/officeDocument" Target="/ppt/presentation.xml" Id="R27bd9dd16d834444" /></Relationships>
</file>

<file path=ppt/presentation.xml><?xml version="1.0" encoding="utf-8"?>
<p:presentation xmlns:p="http://schemas.openxmlformats.org/presentationml/2006/main">
  <p:sldMasterIdLst>
    <p:sldMasterId xmlns:r="http://schemas.openxmlformats.org/officeDocument/2006/relationships" id="2147483648" r:id="R71989fea33a04086"/>
  </p:sldMasterIdLst>
  <p:notesMasterIdLst>
    <p:notesMasterId xmlns:r="http://schemas.openxmlformats.org/officeDocument/2006/relationships" r:id="R8629f75b7eac4b4a"/>
  </p:notesMasterIdLst>
  <p:sldIdLst>
    <p:sldId xmlns:r="http://schemas.openxmlformats.org/officeDocument/2006/relationships" id="256" r:id="Rfbe100c3709b4a0b"/>
    <p:sldId xmlns:r="http://schemas.openxmlformats.org/officeDocument/2006/relationships" id="257" r:id="R95d44c9d74244af1"/>
    <p:sldId xmlns:r="http://schemas.openxmlformats.org/officeDocument/2006/relationships" id="258" r:id="Rd79fde6c27d1467d"/>
    <p:sldId xmlns:r="http://schemas.openxmlformats.org/officeDocument/2006/relationships" id="259" r:id="R92900982dad84da7"/>
    <p:sldId xmlns:r="http://schemas.openxmlformats.org/officeDocument/2006/relationships" id="260" r:id="R3c2da39254d44d60"/>
    <p:sldId xmlns:r="http://schemas.openxmlformats.org/officeDocument/2006/relationships" id="261" r:id="Rb701afe354b94f0c"/>
    <p:sldId xmlns:r="http://schemas.openxmlformats.org/officeDocument/2006/relationships" id="262" r:id="R45a58b9c65174d11"/>
    <p:sldId xmlns:r="http://schemas.openxmlformats.org/officeDocument/2006/relationships" id="263" r:id="Reae8eae0491842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2ddd70da26434e" /><Relationship Type="http://schemas.openxmlformats.org/officeDocument/2006/relationships/slideMaster" Target="/ppt/slideMasters/slideMaster1.xml" Id="R71989fea33a04086" /><Relationship Type="http://schemas.openxmlformats.org/officeDocument/2006/relationships/notesMaster" Target="/ppt/notesMasters/notesMaster1.xml" Id="R8629f75b7eac4b4a" /><Relationship Type="http://schemas.openxmlformats.org/officeDocument/2006/relationships/presProps" Target="/ppt/presProps.xml" Id="R2b22d1ad3f8b4e53" /><Relationship Type="http://schemas.openxmlformats.org/officeDocument/2006/relationships/tableStyles" Target="/ppt/tableStyles.xml" Id="R50e9e8a858344a77" /><Relationship Type="http://schemas.openxmlformats.org/officeDocument/2006/relationships/slide" Target="/ppt/slides/slide1.xml" Id="Rfbe100c3709b4a0b" /><Relationship Type="http://schemas.openxmlformats.org/officeDocument/2006/relationships/slide" Target="/ppt/slides/slide2.xml" Id="R95d44c9d74244af1" /><Relationship Type="http://schemas.openxmlformats.org/officeDocument/2006/relationships/slide" Target="/ppt/slides/slide3.xml" Id="Rd79fde6c27d1467d" /><Relationship Type="http://schemas.openxmlformats.org/officeDocument/2006/relationships/slide" Target="/ppt/slides/slide4.xml" Id="R92900982dad84da7" /><Relationship Type="http://schemas.openxmlformats.org/officeDocument/2006/relationships/slide" Target="/ppt/slides/slide5.xml" Id="R3c2da39254d44d60" /><Relationship Type="http://schemas.openxmlformats.org/officeDocument/2006/relationships/slide" Target="/ppt/slides/slide6.xml" Id="Rb701afe354b94f0c" /><Relationship Type="http://schemas.openxmlformats.org/officeDocument/2006/relationships/slide" Target="/ppt/slides/slide7.xml" Id="R45a58b9c65174d11" /><Relationship Type="http://schemas.openxmlformats.org/officeDocument/2006/relationships/slide" Target="/ppt/slides/slide8.xml" Id="Reae8eae0491842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40319eef4345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c5e6bc06054ef3" /><Relationship Type="http://schemas.openxmlformats.org/officeDocument/2006/relationships/notesMaster" Target="/ppt/notesMasters/notesMaster1.xml" Id="Rda4a97f257c14d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e0e3b7926041da" /><Relationship Type="http://schemas.openxmlformats.org/officeDocument/2006/relationships/notesMaster" Target="/ppt/notesMasters/notesMaster1.xml" Id="R20b7b543bd0a49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2c2746ab374cd5" /><Relationship Type="http://schemas.openxmlformats.org/officeDocument/2006/relationships/notesMaster" Target="/ppt/notesMasters/notesMaster1.xml" Id="R17486a29220f4c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733fcef64044cd" /><Relationship Type="http://schemas.openxmlformats.org/officeDocument/2006/relationships/notesMaster" Target="/ppt/notesMasters/notesMaster1.xml" Id="R2e4e7537517541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c89e4a50f04f0a" /><Relationship Type="http://schemas.openxmlformats.org/officeDocument/2006/relationships/notesMaster" Target="/ppt/notesMasters/notesMaster1.xml" Id="Rb702bcb2fb434c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c99f9892d84150" /><Relationship Type="http://schemas.openxmlformats.org/officeDocument/2006/relationships/notesMaster" Target="/ppt/notesMasters/notesMaster1.xml" Id="R5b654380213e41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8331172a934acd" /><Relationship Type="http://schemas.openxmlformats.org/officeDocument/2006/relationships/notesMaster" Target="/ppt/notesMasters/notesMaster1.xml" Id="R0827a86fa2a24b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38835ec655478c" /><Relationship Type="http://schemas.openxmlformats.org/officeDocument/2006/relationships/notesMaster" Target="/ppt/notesMasters/notesMaster1.xml" Id="Rc858e294c36144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facts are from the repository README and implementation. The selected track recommendation is Reasoning Architecture, whose HackOS description focuses on reliable decisions and actions from data, knowledge, memory and reasoning.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user, problem statement and data limitations are described in README.md and data/README.md. HackOS scoring gives Impact 30 points and Product &amp; UX 10 points.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and loop limits come from README.md and src/orchestration/graph.ts. Market prices, weather, storage-loss rules, news and farmer history are read through the Zetaris adapter when available; H-MEM stores and recalls farmer records. The source supports a local sample fallback and records it in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stale threshold is 3 days; the coverage block is below 3 fresh white-maize quotes; the loop caps are 2 revisions, 2 refreshes and 3 rounds. The Monte Carlo is fixed-seed, with a liquidity penalty of 2 per KES of unraised cash need. These are implementation rules, not measured farm outcomes. Source: README.md, src/agents/riskCritic.ts and src/tools/expectedValue.ts.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is a React interface wired to POST /run and the run event endpoint. The UI only presents fields and data returned by the backend; source and freshness are shown per evidence item. Synthetic data labels are defined in 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Zetaris integration was live-checked from the team workspace on 24 October 2026; all five table count queries succeeded. The user reports the Meterless runtime is working on the teammate's machine; this environment did not verify that host. Sponsor adapter behavior is implemented in src/adapters/zetaris.ts and src/adapters/meterless.ts. NVIDIA route/lane details are not claimed. Event requirements: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is a hypothesis, not a measured result. Current product boundary and proposed pilot measures are documented in submission/impact_and_measurement.md. Kenya's data and thresholds should not be reused globally without local validation.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24 October 2026 from this workspace: Fastify GET /health and React/Vite on :3001 responded; /api/zetaris/check returned online with counts 51, 8, 8, 8, 4; a POST /run used data_source=zetaris and returned no_recommendation because the price date was 2026-10-18 (6 days old) and news was 2026-10-05 (19 days old). Meterless test from this workspace returned offline at its local configured endpoint; user reports Meterless works on teammate's machine, so this is team-reported and host-specific, not independently verified here. The suite passed 66 tests after the safe token refresh changes. Refresh evidence for an affirmative recommendation demo.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82a92b426f47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1a85d894a047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d6628d17eb4b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8f90d6f22443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069f2e1c364a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c95625301d4c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D67673-F123-475D-87F8-4FCB6F5649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801AF-2926-405D-BB9A-9A3A339141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6097C3-6C34-4C5A-B9F3-EBB3628978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EBDF62-6132-47A2-915F-A0213AAE4E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A0ED79-CEAE-4922-AF6D-400AAC27FC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77BA56-934B-4A2E-8D81-B104C8A806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8EA497-F659-4E94-8EF6-A566DA362F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77F2DD-E817-4A4B-A621-CFF85DBD32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7221A6-19CB-4900-91A1-3D70087D19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BE820D-1BF5-4610-8E88-626180A515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1c5f0f269a4c9f" /><Relationship Type="http://schemas.openxmlformats.org/officeDocument/2006/relationships/slideLayout" Target="/ppt/slideLayouts/slideLayout1.xml" Id="Raec6353b70d945aa" /><Relationship Type="http://schemas.openxmlformats.org/officeDocument/2006/relationships/slideLayout" Target="/ppt/slideLayouts/slideLayout2.xml" Id="R7e642dbe8cb04e56" /><Relationship Type="http://schemas.openxmlformats.org/officeDocument/2006/relationships/slideLayout" Target="/ppt/slideLayouts/slideLayout3.xml" Id="R4f9a7af4ca694016" /><Relationship Type="http://schemas.openxmlformats.org/officeDocument/2006/relationships/slideLayout" Target="/ppt/slideLayouts/slideLayout4.xml" Id="R5a2628a9173c4916" /><Relationship Type="http://schemas.openxmlformats.org/officeDocument/2006/relationships/slideLayout" Target="/ppt/slideLayouts/slideLayout5.xml" Id="Rbc53fad780414035" /><Relationship Type="http://schemas.openxmlformats.org/officeDocument/2006/relationships/slideLayout" Target="/ppt/slideLayouts/slideLayout6.xml" Id="Rba7f4544e26b46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c6353b70d945aa"/>
    <p:sldLayoutId xmlns:r="http://schemas.openxmlformats.org/officeDocument/2006/relationships" id="2147483650" r:id="R7e642dbe8cb04e56"/>
    <p:sldLayoutId xmlns:r="http://schemas.openxmlformats.org/officeDocument/2006/relationships" id="2147483651" r:id="R4f9a7af4ca694016"/>
    <p:sldLayoutId xmlns:r="http://schemas.openxmlformats.org/officeDocument/2006/relationships" id="2147483652" r:id="R5a2628a9173c4916"/>
    <p:sldLayoutId xmlns:r="http://schemas.openxmlformats.org/officeDocument/2006/relationships" id="2147483653" r:id="Rbc53fad780414035"/>
    <p:sldLayoutId xmlns:r="http://schemas.openxmlformats.org/officeDocument/2006/relationships" id="2147483654" r:id="Rba7f4544e26b46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7eb31990cb4c83" /><Relationship Type="http://schemas.openxmlformats.org/officeDocument/2006/relationships/notesSlide" Target="/ppt/notesSlides/notesSlide1.xml" Id="Rdb64467da00d47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6853c99d7a407b" /><Relationship Type="http://schemas.openxmlformats.org/officeDocument/2006/relationships/notesSlide" Target="/ppt/notesSlides/notesSlide2.xml" Id="Rd99f1344036d40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ded734d3804bdb" /><Relationship Type="http://schemas.openxmlformats.org/officeDocument/2006/relationships/notesSlide" Target="/ppt/notesSlides/notesSlide3.xml" Id="R09063647901447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31e45c737541e6" /><Relationship Type="http://schemas.openxmlformats.org/officeDocument/2006/relationships/notesSlide" Target="/ppt/notesSlides/notesSlide4.xml" Id="R49e0b64365d24e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3722098cea4544" /><Relationship Type="http://schemas.openxmlformats.org/officeDocument/2006/relationships/notesSlide" Target="/ppt/notesSlides/notesSlide5.xml" Id="R4caf791db46c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1c57fb64aa4638" /><Relationship Type="http://schemas.openxmlformats.org/officeDocument/2006/relationships/notesSlide" Target="/ppt/notesSlides/notesSlide6.xml" Id="R30cc03715f0b4e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48e39a70773486e" /><Relationship Type="http://schemas.openxmlformats.org/officeDocument/2006/relationships/notesSlide" Target="/ppt/notesSlides/notesSlide7.xml" Id="R8fd04f4de7b64e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af3804528a49d2" /><Relationship Type="http://schemas.openxmlformats.org/officeDocument/2006/relationships/notesSlide" Target="/ppt/notesSlides/notesSlide8.xml" Id="Rdd412e9795dc49d8" /></Relationships>
</file>

<file path=ppt/slides/slide1.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8" name="cover-gold-rule">
            <a:extLst xmlns:a="http://schemas.openxmlformats.org/drawingml/2006/main">
              <a:ext uri="{FF2B5EF4-FFF2-40B4-BE49-F238E27FC236}">
                <a16:creationId xmlns:a16="http://schemas.microsoft.com/office/drawing/2014/main" id="{279CFA01-447A-4237-96EB-C02DBFA8F50E}"/>
              </a:ext>
            </a:extLst>
          </p:cNvPr>
          <p:cNvSpPr>
            <a:spLocks xmlns:a="http://schemas.openxmlformats.org/drawingml/2006/main" noGrp="1"/>
          </p:cNvSpPr>
          <p:nvPr/>
        </p:nvSpPr>
        <p:spPr>
          <a:xfrm xmlns:a="http://schemas.openxmlformats.org/drawingml/2006/main">
            <a:off x="762000" y="962025"/>
            <a:ext cx="533400" cy="2857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F79AA2FC-8C5C-4CAC-AA5E-6445DE96965F}"/>
              </a:ext>
            </a:extLst>
          </p:cNvPr>
          <p:cNvSpPr>
            <a:spLocks xmlns:a="http://schemas.openxmlformats.org/drawingml/2006/main" noGrp="1"/>
          </p:cNvSpPr>
          <p:nvPr/>
        </p:nvSpPr>
        <p:spPr>
          <a:xfrm xmlns:a="http://schemas.openxmlformats.org/drawingml/2006/main">
            <a:off x="762000" y="1219200"/>
            <a:ext cx="561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9C99F"/>
                </a:solidFill>
                <a:latin typeface="Arial"/>
                <a:ea typeface="Arial"/>
                <a:cs typeface="Arial"/>
              </a:defRPr>
            </a:defPPr>
            <a:lvl1pPr algn="l">
              <a:defRPr sz="975" b="1">
                <a:solidFill>
                  <a:srgbClr val="D9C99F"/>
                </a:solidFill>
                <a:latin typeface="Arial"/>
                <a:ea typeface="Arial"/>
                <a:cs typeface="Arial"/>
              </a:defRPr>
            </a:lvl1pPr>
            <a:lvl2pPr algn="l">
              <a:defRPr sz="975" b="1">
                <a:solidFill>
                  <a:srgbClr val="D9C99F"/>
                </a:solidFill>
                <a:latin typeface="Arial"/>
                <a:ea typeface="Arial"/>
                <a:cs typeface="Arial"/>
              </a:defRPr>
            </a:lvl2pPr>
            <a:lvl3pPr algn="l">
              <a:defRPr sz="975" b="1">
                <a:solidFill>
                  <a:srgbClr val="D9C99F"/>
                </a:solidFill>
                <a:latin typeface="Arial"/>
                <a:ea typeface="Arial"/>
                <a:cs typeface="Arial"/>
              </a:defRPr>
            </a:lvl3pPr>
            <a:lvl4pPr algn="l">
              <a:defRPr sz="975" b="1">
                <a:solidFill>
                  <a:srgbClr val="D9C99F"/>
                </a:solidFill>
                <a:latin typeface="Arial"/>
                <a:ea typeface="Arial"/>
                <a:cs typeface="Arial"/>
              </a:defRPr>
            </a:lvl4pPr>
            <a:lvl5pPr algn="l">
              <a:defRPr sz="975" b="1">
                <a:solidFill>
                  <a:srgbClr val="D9C99F"/>
                </a:solidFill>
                <a:latin typeface="Arial"/>
                <a:ea typeface="Arial"/>
                <a:cs typeface="Arial"/>
              </a:defRPr>
            </a:lvl5pPr>
            <a:lvl6pPr algn="l">
              <a:defRPr sz="975" b="1">
                <a:solidFill>
                  <a:srgbClr val="D9C99F"/>
                </a:solidFill>
                <a:latin typeface="Arial"/>
                <a:ea typeface="Arial"/>
                <a:cs typeface="Arial"/>
              </a:defRPr>
            </a:lvl6pPr>
            <a:lvl7pPr algn="l">
              <a:defRPr sz="975" b="1">
                <a:solidFill>
                  <a:srgbClr val="D9C99F"/>
                </a:solidFill>
                <a:latin typeface="Arial"/>
                <a:ea typeface="Arial"/>
                <a:cs typeface="Arial"/>
              </a:defRPr>
            </a:lvl7pPr>
            <a:lvl8pPr algn="l">
              <a:defRPr sz="975" b="1">
                <a:solidFill>
                  <a:srgbClr val="D9C99F"/>
                </a:solidFill>
                <a:latin typeface="Arial"/>
                <a:ea typeface="Arial"/>
                <a:cs typeface="Arial"/>
              </a:defRPr>
            </a:lvl8pPr>
            <a:lvl9pPr algn="l">
              <a:defRPr sz="975" b="1">
                <a:solidFill>
                  <a:srgbClr val="D9C99F"/>
                </a:solidFill>
                <a:latin typeface="Arial"/>
                <a:ea typeface="Arial"/>
                <a:cs typeface="Arial"/>
              </a:defRPr>
            </a:lvl9pPr>
          </a:lstStyle>
          <a:p xmlns:a="http://schemas.openxmlformats.org/drawingml/2006/main">
            <a:pPr algn="l">
              <a:defRPr sz="975" b="1">
                <a:solidFill>
                  <a:srgbClr val="D9C99F"/>
                </a:solidFill>
                <a:latin typeface="Arial"/>
                <a:ea typeface="Arial"/>
                <a:cs typeface="Arial"/>
              </a:defRPr>
            </a:pPr>
            <a:r>
              <a:rPr sz="975" b="1">
                <a:solidFill>
                  <a:srgbClr val="D9C99F"/>
                </a:solidFill>
                <a:latin typeface="Arial"/>
                <a:ea typeface="Arial"/>
                <a:cs typeface="Arial"/>
              </a:rPr>
              <a:t>OPEN AGENT HACKATHON 2026  ·  REASONING ARCHITECTURE</a:t>
            </a:r>
          </a:p>
        </p:txBody>
      </p:sp>
      <p:sp>
        <p:nvSpPr>
          <p:cNvPr id="3" name="cover-title">
            <a:extLst xmlns:a="http://schemas.openxmlformats.org/drawingml/2006/main">
              <a:ext uri="{FF2B5EF4-FFF2-40B4-BE49-F238E27FC236}">
                <a16:creationId xmlns:a16="http://schemas.microsoft.com/office/drawing/2014/main" id="{74285647-D2F7-4FFD-A154-2FE0EFAFE9E8}"/>
              </a:ext>
            </a:extLst>
          </p:cNvPr>
          <p:cNvSpPr>
            <a:spLocks xmlns:a="http://schemas.openxmlformats.org/drawingml/2006/main" noGrp="1"/>
          </p:cNvSpPr>
          <p:nvPr/>
        </p:nvSpPr>
        <p:spPr>
          <a:xfrm xmlns:a="http://schemas.openxmlformats.org/drawingml/2006/main">
            <a:off x="723900" y="2124075"/>
            <a:ext cx="857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41"/>
          </a:bodyPr>
          <a:lstStyle xmlns:a="http://schemas.openxmlformats.org/drawingml/2006/main">
            <a:defPPr algn="l">
              <a:defRPr sz="6150" b="0">
                <a:solidFill>
                  <a:srgbClr val="FFFEFA"/>
                </a:solidFill>
                <a:latin typeface="Georgia"/>
                <a:ea typeface="Georgia"/>
                <a:cs typeface="Georgia"/>
              </a:defRPr>
            </a:defPPr>
            <a:lvl1pPr algn="l">
              <a:defRPr sz="6150" b="0">
                <a:solidFill>
                  <a:srgbClr val="FFFEFA"/>
                </a:solidFill>
                <a:latin typeface="Georgia"/>
                <a:ea typeface="Georgia"/>
                <a:cs typeface="Georgia"/>
              </a:defRPr>
            </a:lvl1pPr>
            <a:lvl2pPr algn="l">
              <a:defRPr sz="6150" b="0">
                <a:solidFill>
                  <a:srgbClr val="FFFEFA"/>
                </a:solidFill>
                <a:latin typeface="Georgia"/>
                <a:ea typeface="Georgia"/>
                <a:cs typeface="Georgia"/>
              </a:defRPr>
            </a:lvl2pPr>
            <a:lvl3pPr algn="l">
              <a:defRPr sz="6150" b="0">
                <a:solidFill>
                  <a:srgbClr val="FFFEFA"/>
                </a:solidFill>
                <a:latin typeface="Georgia"/>
                <a:ea typeface="Georgia"/>
                <a:cs typeface="Georgia"/>
              </a:defRPr>
            </a:lvl3pPr>
            <a:lvl4pPr algn="l">
              <a:defRPr sz="6150" b="0">
                <a:solidFill>
                  <a:srgbClr val="FFFEFA"/>
                </a:solidFill>
                <a:latin typeface="Georgia"/>
                <a:ea typeface="Georgia"/>
                <a:cs typeface="Georgia"/>
              </a:defRPr>
            </a:lvl4pPr>
            <a:lvl5pPr algn="l">
              <a:defRPr sz="6150" b="0">
                <a:solidFill>
                  <a:srgbClr val="FFFEFA"/>
                </a:solidFill>
                <a:latin typeface="Georgia"/>
                <a:ea typeface="Georgia"/>
                <a:cs typeface="Georgia"/>
              </a:defRPr>
            </a:lvl5pPr>
            <a:lvl6pPr algn="l">
              <a:defRPr sz="6150" b="0">
                <a:solidFill>
                  <a:srgbClr val="FFFEFA"/>
                </a:solidFill>
                <a:latin typeface="Georgia"/>
                <a:ea typeface="Georgia"/>
                <a:cs typeface="Georgia"/>
              </a:defRPr>
            </a:lvl6pPr>
            <a:lvl7pPr algn="l">
              <a:defRPr sz="6150" b="0">
                <a:solidFill>
                  <a:srgbClr val="FFFEFA"/>
                </a:solidFill>
                <a:latin typeface="Georgia"/>
                <a:ea typeface="Georgia"/>
                <a:cs typeface="Georgia"/>
              </a:defRPr>
            </a:lvl7pPr>
            <a:lvl8pPr algn="l">
              <a:defRPr sz="6150" b="0">
                <a:solidFill>
                  <a:srgbClr val="FFFEFA"/>
                </a:solidFill>
                <a:latin typeface="Georgia"/>
                <a:ea typeface="Georgia"/>
                <a:cs typeface="Georgia"/>
              </a:defRPr>
            </a:lvl8pPr>
            <a:lvl9pPr algn="l">
              <a:defRPr sz="6150" b="0">
                <a:solidFill>
                  <a:srgbClr val="FFFEFA"/>
                </a:solidFill>
                <a:latin typeface="Georgia"/>
                <a:ea typeface="Georgia"/>
                <a:cs typeface="Georgia"/>
              </a:defRPr>
            </a:lvl9pPr>
          </a:lstStyle>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Open Agent</a:t>
            </a:r>
          </a:p>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Maize</a:t>
            </a:r>
          </a:p>
        </p:txBody>
      </p:sp>
      <p:sp>
        <p:nvSpPr>
          <p:cNvPr id="4" name="cover-subtitle">
            <a:extLst xmlns:a="http://schemas.openxmlformats.org/drawingml/2006/main">
              <a:ext uri="{FF2B5EF4-FFF2-40B4-BE49-F238E27FC236}">
                <a16:creationId xmlns:a16="http://schemas.microsoft.com/office/drawing/2014/main" id="{24D423C6-A98F-4FFE-BDFE-0A7CBA7E62E1}"/>
              </a:ext>
            </a:extLst>
          </p:cNvPr>
          <p:cNvSpPr>
            <a:spLocks xmlns:a="http://schemas.openxmlformats.org/drawingml/2006/main" noGrp="1"/>
          </p:cNvSpPr>
          <p:nvPr/>
        </p:nvSpPr>
        <p:spPr>
          <a:xfrm xmlns:a="http://schemas.openxmlformats.org/drawingml/2006/main">
            <a:off x="781050" y="4038600"/>
            <a:ext cx="647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D7E0D5"/>
                </a:solidFill>
                <a:latin typeface="Arial"/>
                <a:ea typeface="Arial"/>
                <a:cs typeface="Arial"/>
              </a:defRPr>
            </a:defPPr>
            <a:lvl1pPr algn="l">
              <a:defRPr sz="1950" b="0">
                <a:solidFill>
                  <a:srgbClr val="D7E0D5"/>
                </a:solidFill>
                <a:latin typeface="Arial"/>
                <a:ea typeface="Arial"/>
                <a:cs typeface="Arial"/>
              </a:defRPr>
            </a:lvl1pPr>
            <a:lvl2pPr algn="l">
              <a:defRPr sz="1950" b="0">
                <a:solidFill>
                  <a:srgbClr val="D7E0D5"/>
                </a:solidFill>
                <a:latin typeface="Arial"/>
                <a:ea typeface="Arial"/>
                <a:cs typeface="Arial"/>
              </a:defRPr>
            </a:lvl2pPr>
            <a:lvl3pPr algn="l">
              <a:defRPr sz="1950" b="0">
                <a:solidFill>
                  <a:srgbClr val="D7E0D5"/>
                </a:solidFill>
                <a:latin typeface="Arial"/>
                <a:ea typeface="Arial"/>
                <a:cs typeface="Arial"/>
              </a:defRPr>
            </a:lvl3pPr>
            <a:lvl4pPr algn="l">
              <a:defRPr sz="1950" b="0">
                <a:solidFill>
                  <a:srgbClr val="D7E0D5"/>
                </a:solidFill>
                <a:latin typeface="Arial"/>
                <a:ea typeface="Arial"/>
                <a:cs typeface="Arial"/>
              </a:defRPr>
            </a:lvl4pPr>
            <a:lvl5pPr algn="l">
              <a:defRPr sz="1950" b="0">
                <a:solidFill>
                  <a:srgbClr val="D7E0D5"/>
                </a:solidFill>
                <a:latin typeface="Arial"/>
                <a:ea typeface="Arial"/>
                <a:cs typeface="Arial"/>
              </a:defRPr>
            </a:lvl5pPr>
            <a:lvl6pPr algn="l">
              <a:defRPr sz="1950" b="0">
                <a:solidFill>
                  <a:srgbClr val="D7E0D5"/>
                </a:solidFill>
                <a:latin typeface="Arial"/>
                <a:ea typeface="Arial"/>
                <a:cs typeface="Arial"/>
              </a:defRPr>
            </a:lvl6pPr>
            <a:lvl7pPr algn="l">
              <a:defRPr sz="1950" b="0">
                <a:solidFill>
                  <a:srgbClr val="D7E0D5"/>
                </a:solidFill>
                <a:latin typeface="Arial"/>
                <a:ea typeface="Arial"/>
                <a:cs typeface="Arial"/>
              </a:defRPr>
            </a:lvl7pPr>
            <a:lvl8pPr algn="l">
              <a:defRPr sz="1950" b="0">
                <a:solidFill>
                  <a:srgbClr val="D7E0D5"/>
                </a:solidFill>
                <a:latin typeface="Arial"/>
                <a:ea typeface="Arial"/>
                <a:cs typeface="Arial"/>
              </a:defRPr>
            </a:lvl8pPr>
            <a:lvl9pPr algn="l">
              <a:defRPr sz="1950" b="0">
                <a:solidFill>
                  <a:srgbClr val="D7E0D5"/>
                </a:solidFill>
                <a:latin typeface="Arial"/>
                <a:ea typeface="Arial"/>
                <a:cs typeface="Arial"/>
              </a:defRPr>
            </a:lvl9pPr>
          </a:lstStyle>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Sell, hold or split support for</a:t>
            </a:r>
          </a:p>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Kenya’s smallholder maize farmers</a:t>
            </a:r>
          </a:p>
        </p:txBody>
      </p:sp>
      <p:sp>
        <p:nvSpPr>
          <p:cNvPr id="5" name="cover-footer-rule">
            <a:extLst xmlns:a="http://schemas.openxmlformats.org/drawingml/2006/main">
              <a:ext uri="{FF2B5EF4-FFF2-40B4-BE49-F238E27FC236}">
                <a16:creationId xmlns:a16="http://schemas.microsoft.com/office/drawing/2014/main" id="{6B3CBEB2-8A1B-4AA5-A140-F9AC61D020E4}"/>
              </a:ext>
            </a:extLst>
          </p:cNvPr>
          <p:cNvSpPr>
            <a:spLocks xmlns:a="http://schemas.openxmlformats.org/drawingml/2006/main" noGrp="1"/>
          </p:cNvSpPr>
          <p:nvPr/>
        </p:nvSpPr>
        <p:spPr>
          <a:xfrm xmlns:a="http://schemas.openxmlformats.org/drawingml/2006/main">
            <a:off x="781050" y="5743575"/>
            <a:ext cx="1057275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6" name="cover-footer-left">
            <a:extLst xmlns:a="http://schemas.openxmlformats.org/drawingml/2006/main">
              <a:ext uri="{FF2B5EF4-FFF2-40B4-BE49-F238E27FC236}">
                <a16:creationId xmlns:a16="http://schemas.microsoft.com/office/drawing/2014/main" id="{3DE681CA-1D2C-4B27-8A3B-36BBA64C14EE}"/>
              </a:ext>
            </a:extLst>
          </p:cNvPr>
          <p:cNvSpPr>
            <a:spLocks xmlns:a="http://schemas.openxmlformats.org/drawingml/2006/main" noGrp="1"/>
          </p:cNvSpPr>
          <p:nvPr/>
        </p:nvSpPr>
        <p:spPr>
          <a:xfrm xmlns:a="http://schemas.openxmlformats.org/drawingml/2006/main">
            <a:off x="781050" y="5953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Compare today’s offer with market, weather and storage risk</a:t>
            </a:r>
          </a:p>
        </p:txBody>
      </p:sp>
      <p:sp>
        <p:nvSpPr>
          <p:cNvPr id="7" name="cover-footer-right">
            <a:extLst xmlns:a="http://schemas.openxmlformats.org/drawingml/2006/main">
              <a:ext uri="{FF2B5EF4-FFF2-40B4-BE49-F238E27FC236}">
                <a16:creationId xmlns:a16="http://schemas.microsoft.com/office/drawing/2014/main" id="{2EFA13CA-29C8-487F-BCAB-D8EAE3C57FBD}"/>
              </a:ext>
            </a:extLst>
          </p:cNvPr>
          <p:cNvSpPr>
            <a:spLocks xmlns:a="http://schemas.openxmlformats.org/drawingml/2006/main" noGrp="1"/>
          </p:cNvSpPr>
          <p:nvPr/>
        </p:nvSpPr>
        <p:spPr>
          <a:xfrm xmlns:a="http://schemas.openxmlformats.org/drawingml/2006/main">
            <a:off x="8572500" y="595312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D9C99F"/>
                </a:solidFill>
                <a:latin typeface="Arial"/>
                <a:ea typeface="Arial"/>
                <a:cs typeface="Arial"/>
              </a:defRPr>
            </a:defPPr>
            <a:lvl1pPr algn="r">
              <a:defRPr sz="975" b="1">
                <a:solidFill>
                  <a:srgbClr val="D9C99F"/>
                </a:solidFill>
                <a:latin typeface="Arial"/>
                <a:ea typeface="Arial"/>
                <a:cs typeface="Arial"/>
              </a:defRPr>
            </a:lvl1pPr>
            <a:lvl2pPr algn="r">
              <a:defRPr sz="975" b="1">
                <a:solidFill>
                  <a:srgbClr val="D9C99F"/>
                </a:solidFill>
                <a:latin typeface="Arial"/>
                <a:ea typeface="Arial"/>
                <a:cs typeface="Arial"/>
              </a:defRPr>
            </a:lvl2pPr>
            <a:lvl3pPr algn="r">
              <a:defRPr sz="975" b="1">
                <a:solidFill>
                  <a:srgbClr val="D9C99F"/>
                </a:solidFill>
                <a:latin typeface="Arial"/>
                <a:ea typeface="Arial"/>
                <a:cs typeface="Arial"/>
              </a:defRPr>
            </a:lvl3pPr>
            <a:lvl4pPr algn="r">
              <a:defRPr sz="975" b="1">
                <a:solidFill>
                  <a:srgbClr val="D9C99F"/>
                </a:solidFill>
                <a:latin typeface="Arial"/>
                <a:ea typeface="Arial"/>
                <a:cs typeface="Arial"/>
              </a:defRPr>
            </a:lvl4pPr>
            <a:lvl5pPr algn="r">
              <a:defRPr sz="975" b="1">
                <a:solidFill>
                  <a:srgbClr val="D9C99F"/>
                </a:solidFill>
                <a:latin typeface="Arial"/>
                <a:ea typeface="Arial"/>
                <a:cs typeface="Arial"/>
              </a:defRPr>
            </a:lvl5pPr>
            <a:lvl6pPr algn="r">
              <a:defRPr sz="975" b="1">
                <a:solidFill>
                  <a:srgbClr val="D9C99F"/>
                </a:solidFill>
                <a:latin typeface="Arial"/>
                <a:ea typeface="Arial"/>
                <a:cs typeface="Arial"/>
              </a:defRPr>
            </a:lvl6pPr>
            <a:lvl7pPr algn="r">
              <a:defRPr sz="975" b="1">
                <a:solidFill>
                  <a:srgbClr val="D9C99F"/>
                </a:solidFill>
                <a:latin typeface="Arial"/>
                <a:ea typeface="Arial"/>
                <a:cs typeface="Arial"/>
              </a:defRPr>
            </a:lvl7pPr>
            <a:lvl8pPr algn="r">
              <a:defRPr sz="975" b="1">
                <a:solidFill>
                  <a:srgbClr val="D9C99F"/>
                </a:solidFill>
                <a:latin typeface="Arial"/>
                <a:ea typeface="Arial"/>
                <a:cs typeface="Arial"/>
              </a:defRPr>
            </a:lvl8pPr>
            <a:lvl9pPr algn="r">
              <a:defRPr sz="975" b="1">
                <a:solidFill>
                  <a:srgbClr val="D9C99F"/>
                </a:solidFill>
                <a:latin typeface="Arial"/>
                <a:ea typeface="Arial"/>
                <a:cs typeface="Arial"/>
              </a:defRPr>
            </a:lvl9pPr>
          </a:lstStyle>
          <a:p xmlns:a="http://schemas.openxmlformats.org/drawingml/2006/main">
            <a:pPr algn="r">
              <a:defRPr sz="975" b="1">
                <a:solidFill>
                  <a:srgbClr val="D9C99F"/>
                </a:solidFill>
                <a:latin typeface="Arial"/>
                <a:ea typeface="Arial"/>
                <a:cs typeface="Arial"/>
              </a:defRPr>
            </a:pPr>
            <a:r>
              <a:rPr sz="975" b="1">
                <a:solidFill>
                  <a:srgbClr val="D9C99F"/>
                </a:solidFill>
                <a:latin typeface="Arial"/>
                <a:ea typeface="Arial"/>
                <a:cs typeface="Arial"/>
              </a:rPr>
              <a:t>24 OCTOBER 2026</a:t>
            </a:r>
          </a:p>
        </p:txBody>
      </p:sp>
    </p:spTree>
    <p:extLst>
      <p:ext uri="{BB962C8B-B14F-4D97-AF65-F5344CB8AC3E}">
        <p14:creationId xmlns:p14="http://schemas.microsoft.com/office/powerpoint/2010/main" val="228014757"/>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1" name="slide-2-index">
            <a:extLst xmlns:a="http://schemas.openxmlformats.org/drawingml/2006/main">
              <a:ext uri="{FF2B5EF4-FFF2-40B4-BE49-F238E27FC236}">
                <a16:creationId xmlns:a16="http://schemas.microsoft.com/office/drawing/2014/main" id="{A3F9FDAE-65E5-4386-A535-DDF6981DE659}"/>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02</a:t>
            </a:r>
          </a:p>
        </p:txBody>
      </p:sp>
      <p:sp>
        <p:nvSpPr>
          <p:cNvPr id="2" name="slide-2-title">
            <a:extLst xmlns:a="http://schemas.openxmlformats.org/drawingml/2006/main">
              <a:ext uri="{FF2B5EF4-FFF2-40B4-BE49-F238E27FC236}">
                <a16:creationId xmlns:a16="http://schemas.microsoft.com/office/drawing/2014/main" id="{5CD86A63-4E0A-4108-9490-7ADC087806A1}"/>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A sale decision has more than one price</a:t>
            </a:r>
          </a:p>
        </p:txBody>
      </p:sp>
      <p:sp>
        <p:nvSpPr>
          <p:cNvPr id="3" name="slide-2-subtitle">
            <a:extLst xmlns:a="http://schemas.openxmlformats.org/drawingml/2006/main">
              <a:ext uri="{FF2B5EF4-FFF2-40B4-BE49-F238E27FC236}">
                <a16:creationId xmlns:a16="http://schemas.microsoft.com/office/drawing/2014/main" id="{E51E2797-7605-427E-8539-4EBA804F9459}"/>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same bag can earn cash today or lose value while it waits.</a:t>
            </a:r>
          </a:p>
        </p:txBody>
      </p:sp>
      <p:sp>
        <p:nvSpPr>
          <p:cNvPr id="4" name="slide-2-header-rule">
            <a:extLst xmlns:a="http://schemas.openxmlformats.org/drawingml/2006/main">
              <a:ext uri="{FF2B5EF4-FFF2-40B4-BE49-F238E27FC236}">
                <a16:creationId xmlns:a16="http://schemas.microsoft.com/office/drawing/2014/main" id="{23F2B400-C602-4389-842A-9DFC1BD55384}"/>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blem-statement">
            <a:extLst xmlns:a="http://schemas.openxmlformats.org/drawingml/2006/main">
              <a:ext uri="{FF2B5EF4-FFF2-40B4-BE49-F238E27FC236}">
                <a16:creationId xmlns:a16="http://schemas.microsoft.com/office/drawing/2014/main" id="{B305966B-A2F2-4708-B071-04E3CA1FA59A}"/>
              </a:ext>
            </a:extLst>
          </p:cNvPr>
          <p:cNvSpPr>
            <a:spLocks xmlns:a="http://schemas.openxmlformats.org/drawingml/2006/main" noGrp="1"/>
          </p:cNvSpPr>
          <p:nvPr/>
        </p:nvSpPr>
        <p:spPr>
          <a:xfrm xmlns:a="http://schemas.openxmlformats.org/drawingml/2006/main">
            <a:off x="762000" y="2438400"/>
            <a:ext cx="4667250"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a:solidFill>
                  <a:srgbClr val="183525"/>
                </a:solidFill>
                <a:latin typeface="Georgia"/>
                <a:ea typeface="Georgia"/>
                <a:cs typeface="Georgia"/>
              </a:defRPr>
            </a:defPPr>
            <a:lvl1pPr algn="l">
              <a:defRPr sz="2550" b="0">
                <a:solidFill>
                  <a:srgbClr val="183525"/>
                </a:solidFill>
                <a:latin typeface="Georgia"/>
                <a:ea typeface="Georgia"/>
                <a:cs typeface="Georgia"/>
              </a:defRPr>
            </a:lvl1pPr>
            <a:lvl2pPr algn="l">
              <a:defRPr sz="2550" b="0">
                <a:solidFill>
                  <a:srgbClr val="183525"/>
                </a:solidFill>
                <a:latin typeface="Georgia"/>
                <a:ea typeface="Georgia"/>
                <a:cs typeface="Georgia"/>
              </a:defRPr>
            </a:lvl2pPr>
            <a:lvl3pPr algn="l">
              <a:defRPr sz="2550" b="0">
                <a:solidFill>
                  <a:srgbClr val="183525"/>
                </a:solidFill>
                <a:latin typeface="Georgia"/>
                <a:ea typeface="Georgia"/>
                <a:cs typeface="Georgia"/>
              </a:defRPr>
            </a:lvl3pPr>
            <a:lvl4pPr algn="l">
              <a:defRPr sz="2550" b="0">
                <a:solidFill>
                  <a:srgbClr val="183525"/>
                </a:solidFill>
                <a:latin typeface="Georgia"/>
                <a:ea typeface="Georgia"/>
                <a:cs typeface="Georgia"/>
              </a:defRPr>
            </a:lvl4pPr>
            <a:lvl5pPr algn="l">
              <a:defRPr sz="2550" b="0">
                <a:solidFill>
                  <a:srgbClr val="183525"/>
                </a:solidFill>
                <a:latin typeface="Georgia"/>
                <a:ea typeface="Georgia"/>
                <a:cs typeface="Georgia"/>
              </a:defRPr>
            </a:lvl5pPr>
            <a:lvl6pPr algn="l">
              <a:defRPr sz="2550" b="0">
                <a:solidFill>
                  <a:srgbClr val="183525"/>
                </a:solidFill>
                <a:latin typeface="Georgia"/>
                <a:ea typeface="Georgia"/>
                <a:cs typeface="Georgia"/>
              </a:defRPr>
            </a:lvl6pPr>
            <a:lvl7pPr algn="l">
              <a:defRPr sz="2550" b="0">
                <a:solidFill>
                  <a:srgbClr val="183525"/>
                </a:solidFill>
                <a:latin typeface="Georgia"/>
                <a:ea typeface="Georgia"/>
                <a:cs typeface="Georgia"/>
              </a:defRPr>
            </a:lvl7pPr>
            <a:lvl8pPr algn="l">
              <a:defRPr sz="2550" b="0">
                <a:solidFill>
                  <a:srgbClr val="183525"/>
                </a:solidFill>
                <a:latin typeface="Georgia"/>
                <a:ea typeface="Georgia"/>
                <a:cs typeface="Georgia"/>
              </a:defRPr>
            </a:lvl8pPr>
            <a:lvl9pPr algn="l">
              <a:defRPr sz="2550" b="0">
                <a:solidFill>
                  <a:srgbClr val="183525"/>
                </a:solidFill>
                <a:latin typeface="Georgia"/>
                <a:ea typeface="Georgia"/>
                <a:cs typeface="Georgia"/>
              </a:defRPr>
            </a:lvl9pPr>
          </a:lstStyle>
          <a:p xmlns:a="http://schemas.openxmlformats.org/drawingml/2006/main">
            <a:pPr algn="l">
              <a:defRPr sz="2550" b="0">
                <a:solidFill>
                  <a:srgbClr val="183525"/>
                </a:solidFill>
                <a:latin typeface="Georgia"/>
                <a:ea typeface="Georgia"/>
                <a:cs typeface="Georgia"/>
              </a:defRPr>
            </a:pPr>
            <a:r>
              <a:rPr sz="2550" b="0">
                <a:solidFill>
                  <a:srgbClr val="183525"/>
                </a:solidFill>
                <a:latin typeface="Georgia"/>
                <a:ea typeface="Georgia"/>
                <a:cs typeface="Georgia"/>
              </a:rPr>
              <a:t>A farmer needs to compare the buyer’s offer with the value of holding grain through the forecast.</a:t>
            </a:r>
          </a:p>
        </p:txBody>
      </p:sp>
      <p:sp>
        <p:nvSpPr>
          <p:cNvPr id="6" name="problem-user">
            <a:extLst xmlns:a="http://schemas.openxmlformats.org/drawingml/2006/main">
              <a:ext uri="{FF2B5EF4-FFF2-40B4-BE49-F238E27FC236}">
                <a16:creationId xmlns:a16="http://schemas.microsoft.com/office/drawing/2014/main" id="{6BFE31AF-996F-46EC-9553-797B2C59CCDC}"/>
              </a:ext>
            </a:extLst>
          </p:cNvPr>
          <p:cNvSpPr>
            <a:spLocks xmlns:a="http://schemas.openxmlformats.org/drawingml/2006/main" noGrp="1"/>
          </p:cNvSpPr>
          <p:nvPr/>
        </p:nvSpPr>
        <p:spPr>
          <a:xfrm xmlns:a="http://schemas.openxmlformats.org/drawingml/2006/main">
            <a:off x="762000" y="4552950"/>
            <a:ext cx="433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For a smallholder white-maize farmer deciding what to do with a known lot.</a:t>
            </a:r>
          </a:p>
        </p:txBody>
      </p:sp>
      <p:sp>
        <p:nvSpPr>
          <p:cNvPr id="7" name="problem-column-divider">
            <a:extLst xmlns:a="http://schemas.openxmlformats.org/drawingml/2006/main">
              <a:ext uri="{FF2B5EF4-FFF2-40B4-BE49-F238E27FC236}">
                <a16:creationId xmlns:a16="http://schemas.microsoft.com/office/drawing/2014/main" id="{909E0205-5D79-4776-A80A-E5DB04FA221A}"/>
              </a:ext>
            </a:extLst>
          </p:cNvPr>
          <p:cNvSpPr>
            <a:spLocks xmlns:a="http://schemas.openxmlformats.org/drawingml/2006/main" noGrp="1"/>
          </p:cNvSpPr>
          <p:nvPr/>
        </p:nvSpPr>
        <p:spPr>
          <a:xfrm xmlns:a="http://schemas.openxmlformats.org/drawingml/2006/main">
            <a:off x="5829300" y="2381250"/>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8" name="problem-row-01-number">
            <a:extLst xmlns:a="http://schemas.openxmlformats.org/drawingml/2006/main">
              <a:ext uri="{FF2B5EF4-FFF2-40B4-BE49-F238E27FC236}">
                <a16:creationId xmlns:a16="http://schemas.microsoft.com/office/drawing/2014/main" id="{D9ED62D7-DE6B-46D9-909C-B7CD81C3E91A}"/>
              </a:ext>
            </a:extLst>
          </p:cNvPr>
          <p:cNvSpPr>
            <a:spLocks xmlns:a="http://schemas.openxmlformats.org/drawingml/2006/main" noGrp="1"/>
          </p:cNvSpPr>
          <p:nvPr/>
        </p:nvSpPr>
        <p:spPr>
          <a:xfrm xmlns:a="http://schemas.openxmlformats.org/drawingml/2006/main">
            <a:off x="6324600" y="25050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01</a:t>
            </a:r>
          </a:p>
        </p:txBody>
      </p:sp>
      <p:sp>
        <p:nvSpPr>
          <p:cNvPr id="9" name="problem-row-01-heading">
            <a:extLst xmlns:a="http://schemas.openxmlformats.org/drawingml/2006/main">
              <a:ext uri="{FF2B5EF4-FFF2-40B4-BE49-F238E27FC236}">
                <a16:creationId xmlns:a16="http://schemas.microsoft.com/office/drawing/2014/main" id="{259255B6-40E6-4DC9-8D4F-481F94B8EA30}"/>
              </a:ext>
            </a:extLst>
          </p:cNvPr>
          <p:cNvSpPr>
            <a:spLocks xmlns:a="http://schemas.openxmlformats.org/drawingml/2006/main" noGrp="1"/>
          </p:cNvSpPr>
          <p:nvPr/>
        </p:nvSpPr>
        <p:spPr>
          <a:xfrm xmlns:a="http://schemas.openxmlformats.org/drawingml/2006/main">
            <a:off x="6886575" y="2495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Price movement</a:t>
            </a:r>
          </a:p>
        </p:txBody>
      </p:sp>
      <p:sp>
        <p:nvSpPr>
          <p:cNvPr id="10" name="problem-row-01-body">
            <a:extLst xmlns:a="http://schemas.openxmlformats.org/drawingml/2006/main">
              <a:ext uri="{FF2B5EF4-FFF2-40B4-BE49-F238E27FC236}">
                <a16:creationId xmlns:a16="http://schemas.microsoft.com/office/drawing/2014/main" id="{7C10C327-92D2-440F-A546-43060011134E}"/>
              </a:ext>
            </a:extLst>
          </p:cNvPr>
          <p:cNvSpPr>
            <a:spLocks xmlns:a="http://schemas.openxmlformats.org/drawingml/2006/main" noGrp="1"/>
          </p:cNvSpPr>
          <p:nvPr/>
        </p:nvSpPr>
        <p:spPr>
          <a:xfrm xmlns:a="http://schemas.openxmlformats.org/drawingml/2006/main">
            <a:off x="6886575" y="28289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quotes vary in date, market and coverage.</a:t>
            </a:r>
          </a:p>
        </p:txBody>
      </p:sp>
      <p:sp>
        <p:nvSpPr>
          <p:cNvPr id="11" name="problem-row-01-rule">
            <a:extLst xmlns:a="http://schemas.openxmlformats.org/drawingml/2006/main">
              <a:ext uri="{FF2B5EF4-FFF2-40B4-BE49-F238E27FC236}">
                <a16:creationId xmlns:a16="http://schemas.microsoft.com/office/drawing/2014/main" id="{119DBFF2-FBE2-404C-810F-3B75D6E33830}"/>
              </a:ext>
            </a:extLst>
          </p:cNvPr>
          <p:cNvSpPr>
            <a:spLocks xmlns:a="http://schemas.openxmlformats.org/drawingml/2006/main" noGrp="1"/>
          </p:cNvSpPr>
          <p:nvPr/>
        </p:nvSpPr>
        <p:spPr>
          <a:xfrm xmlns:a="http://schemas.openxmlformats.org/drawingml/2006/main">
            <a:off x="632460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2" name="problem-row-02-number">
            <a:extLst xmlns:a="http://schemas.openxmlformats.org/drawingml/2006/main">
              <a:ext uri="{FF2B5EF4-FFF2-40B4-BE49-F238E27FC236}">
                <a16:creationId xmlns:a16="http://schemas.microsoft.com/office/drawing/2014/main" id="{431BED00-5AEA-46FE-A318-ADBE0CD553D2}"/>
              </a:ext>
            </a:extLst>
          </p:cNvPr>
          <p:cNvSpPr>
            <a:spLocks xmlns:a="http://schemas.openxmlformats.org/drawingml/2006/main" noGrp="1"/>
          </p:cNvSpPr>
          <p:nvPr/>
        </p:nvSpPr>
        <p:spPr>
          <a:xfrm xmlns:a="http://schemas.openxmlformats.org/drawingml/2006/main">
            <a:off x="6324600" y="3590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02</a:t>
            </a:r>
          </a:p>
        </p:txBody>
      </p:sp>
      <p:sp>
        <p:nvSpPr>
          <p:cNvPr id="13" name="problem-row-02-heading">
            <a:extLst xmlns:a="http://schemas.openxmlformats.org/drawingml/2006/main">
              <a:ext uri="{FF2B5EF4-FFF2-40B4-BE49-F238E27FC236}">
                <a16:creationId xmlns:a16="http://schemas.microsoft.com/office/drawing/2014/main" id="{3FF0A671-1C54-4B12-9F4D-30660B659950}"/>
              </a:ext>
            </a:extLst>
          </p:cNvPr>
          <p:cNvSpPr>
            <a:spLocks xmlns:a="http://schemas.openxmlformats.org/drawingml/2006/main" noGrp="1"/>
          </p:cNvSpPr>
          <p:nvPr/>
        </p:nvSpPr>
        <p:spPr>
          <a:xfrm xmlns:a="http://schemas.openxmlformats.org/drawingml/2006/main">
            <a:off x="6886575" y="3581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Storage exposure</a:t>
            </a:r>
          </a:p>
        </p:txBody>
      </p:sp>
      <p:sp>
        <p:nvSpPr>
          <p:cNvPr id="14" name="problem-row-02-body">
            <a:extLst xmlns:a="http://schemas.openxmlformats.org/drawingml/2006/main">
              <a:ext uri="{FF2B5EF4-FFF2-40B4-BE49-F238E27FC236}">
                <a16:creationId xmlns:a16="http://schemas.microsoft.com/office/drawing/2014/main" id="{3CFE176C-7F41-456F-B7B4-6A8A453A2A84}"/>
              </a:ext>
            </a:extLst>
          </p:cNvPr>
          <p:cNvSpPr>
            <a:spLocks xmlns:a="http://schemas.openxmlformats.org/drawingml/2006/main" noGrp="1"/>
          </p:cNvSpPr>
          <p:nvPr/>
        </p:nvSpPr>
        <p:spPr>
          <a:xfrm xmlns:a="http://schemas.openxmlformats.org/drawingml/2006/main">
            <a:off x="6886575" y="391477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Rain and humidity can reduce the grain kept for sale.</a:t>
            </a:r>
          </a:p>
        </p:txBody>
      </p:sp>
      <p:sp>
        <p:nvSpPr>
          <p:cNvPr id="15" name="problem-row-02-rule">
            <a:extLst xmlns:a="http://schemas.openxmlformats.org/drawingml/2006/main">
              <a:ext uri="{FF2B5EF4-FFF2-40B4-BE49-F238E27FC236}">
                <a16:creationId xmlns:a16="http://schemas.microsoft.com/office/drawing/2014/main" id="{1DB8B1C1-6A44-4463-8F24-9725C1AF39C4}"/>
              </a:ext>
            </a:extLst>
          </p:cNvPr>
          <p:cNvSpPr>
            <a:spLocks xmlns:a="http://schemas.openxmlformats.org/drawingml/2006/main" noGrp="1"/>
          </p:cNvSpPr>
          <p:nvPr/>
        </p:nvSpPr>
        <p:spPr>
          <a:xfrm xmlns:a="http://schemas.openxmlformats.org/drawingml/2006/main">
            <a:off x="6324600" y="450532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6" name="problem-row-03-number">
            <a:extLst xmlns:a="http://schemas.openxmlformats.org/drawingml/2006/main">
              <a:ext uri="{FF2B5EF4-FFF2-40B4-BE49-F238E27FC236}">
                <a16:creationId xmlns:a16="http://schemas.microsoft.com/office/drawing/2014/main" id="{3602AA5D-8A56-4ED0-82FB-14D434A7178B}"/>
              </a:ext>
            </a:extLst>
          </p:cNvPr>
          <p:cNvSpPr>
            <a:spLocks xmlns:a="http://schemas.openxmlformats.org/drawingml/2006/main" noGrp="1"/>
          </p:cNvSpPr>
          <p:nvPr/>
        </p:nvSpPr>
        <p:spPr>
          <a:xfrm xmlns:a="http://schemas.openxmlformats.org/drawingml/2006/main">
            <a:off x="6324600" y="46767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03</a:t>
            </a:r>
          </a:p>
        </p:txBody>
      </p:sp>
      <p:sp>
        <p:nvSpPr>
          <p:cNvPr id="17" name="problem-row-03-heading">
            <a:extLst xmlns:a="http://schemas.openxmlformats.org/drawingml/2006/main">
              <a:ext uri="{FF2B5EF4-FFF2-40B4-BE49-F238E27FC236}">
                <a16:creationId xmlns:a16="http://schemas.microsoft.com/office/drawing/2014/main" id="{C976F1DA-9A89-4EB1-ACE1-EFA140E7D865}"/>
              </a:ext>
            </a:extLst>
          </p:cNvPr>
          <p:cNvSpPr>
            <a:spLocks xmlns:a="http://schemas.openxmlformats.org/drawingml/2006/main" noGrp="1"/>
          </p:cNvSpPr>
          <p:nvPr/>
        </p:nvSpPr>
        <p:spPr>
          <a:xfrm xmlns:a="http://schemas.openxmlformats.org/drawingml/2006/main">
            <a:off x="6886575" y="4667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Cash today</a:t>
            </a:r>
          </a:p>
        </p:txBody>
      </p:sp>
      <p:sp>
        <p:nvSpPr>
          <p:cNvPr id="18" name="problem-row-03-body">
            <a:extLst xmlns:a="http://schemas.openxmlformats.org/drawingml/2006/main">
              <a:ext uri="{FF2B5EF4-FFF2-40B4-BE49-F238E27FC236}">
                <a16:creationId xmlns:a16="http://schemas.microsoft.com/office/drawing/2014/main" id="{1F769660-FCF0-4806-902C-19DBC7AB8347}"/>
              </a:ext>
            </a:extLst>
          </p:cNvPr>
          <p:cNvSpPr>
            <a:spLocks xmlns:a="http://schemas.openxmlformats.org/drawingml/2006/main" noGrp="1"/>
          </p:cNvSpPr>
          <p:nvPr/>
        </p:nvSpPr>
        <p:spPr>
          <a:xfrm xmlns:a="http://schemas.openxmlformats.org/drawingml/2006/main">
            <a:off x="6886575" y="50006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An urgent cash need changes the value of selling part or all of the lot.</a:t>
            </a:r>
          </a:p>
        </p:txBody>
      </p:sp>
      <p:sp>
        <p:nvSpPr>
          <p:cNvPr id="19" name="problem-abstain-stripe">
            <a:extLst xmlns:a="http://schemas.openxmlformats.org/drawingml/2006/main">
              <a:ext uri="{FF2B5EF4-FFF2-40B4-BE49-F238E27FC236}">
                <a16:creationId xmlns:a16="http://schemas.microsoft.com/office/drawing/2014/main" id="{AD0A95A8-2FDF-45D5-A3B9-E28F45F98696}"/>
              </a:ext>
            </a:extLst>
          </p:cNvPr>
          <p:cNvSpPr>
            <a:spLocks xmlns:a="http://schemas.openxmlformats.org/drawingml/2006/main" noGrp="1"/>
          </p:cNvSpPr>
          <p:nvPr/>
        </p:nvSpPr>
        <p:spPr>
          <a:xfrm xmlns:a="http://schemas.openxmlformats.org/drawingml/2006/main">
            <a:off x="762000" y="5562600"/>
            <a:ext cx="38100" cy="428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0" name="problem-abstain">
            <a:extLst xmlns:a="http://schemas.openxmlformats.org/drawingml/2006/main">
              <a:ext uri="{FF2B5EF4-FFF2-40B4-BE49-F238E27FC236}">
                <a16:creationId xmlns:a16="http://schemas.microsoft.com/office/drawing/2014/main" id="{DCE82D4D-3248-47E6-A632-B238779D2F2D}"/>
              </a:ext>
            </a:extLst>
          </p:cNvPr>
          <p:cNvSpPr>
            <a:spLocks xmlns:a="http://schemas.openxmlformats.org/drawingml/2006/main" noGrp="1"/>
          </p:cNvSpPr>
          <p:nvPr/>
        </p:nvSpPr>
        <p:spPr>
          <a:xfrm xmlns:a="http://schemas.openxmlformats.org/drawingml/2006/main">
            <a:off x="942975" y="55626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74A34"/>
                </a:solidFill>
                <a:latin typeface="Arial"/>
                <a:ea typeface="Arial"/>
                <a:cs typeface="Arial"/>
              </a:defRPr>
            </a:defPPr>
            <a:lvl1pPr algn="l">
              <a:defRPr sz="1425" b="0">
                <a:solidFill>
                  <a:srgbClr val="274A34"/>
                </a:solidFill>
                <a:latin typeface="Arial"/>
                <a:ea typeface="Arial"/>
                <a:cs typeface="Arial"/>
              </a:defRPr>
            </a:lvl1pPr>
            <a:lvl2pPr algn="l">
              <a:defRPr sz="1425" b="0">
                <a:solidFill>
                  <a:srgbClr val="274A34"/>
                </a:solidFill>
                <a:latin typeface="Arial"/>
                <a:ea typeface="Arial"/>
                <a:cs typeface="Arial"/>
              </a:defRPr>
            </a:lvl2pPr>
            <a:lvl3pPr algn="l">
              <a:defRPr sz="1425" b="0">
                <a:solidFill>
                  <a:srgbClr val="274A34"/>
                </a:solidFill>
                <a:latin typeface="Arial"/>
                <a:ea typeface="Arial"/>
                <a:cs typeface="Arial"/>
              </a:defRPr>
            </a:lvl3pPr>
            <a:lvl4pPr algn="l">
              <a:defRPr sz="1425" b="0">
                <a:solidFill>
                  <a:srgbClr val="274A34"/>
                </a:solidFill>
                <a:latin typeface="Arial"/>
                <a:ea typeface="Arial"/>
                <a:cs typeface="Arial"/>
              </a:defRPr>
            </a:lvl4pPr>
            <a:lvl5pPr algn="l">
              <a:defRPr sz="1425" b="0">
                <a:solidFill>
                  <a:srgbClr val="274A34"/>
                </a:solidFill>
                <a:latin typeface="Arial"/>
                <a:ea typeface="Arial"/>
                <a:cs typeface="Arial"/>
              </a:defRPr>
            </a:lvl5pPr>
            <a:lvl6pPr algn="l">
              <a:defRPr sz="1425" b="0">
                <a:solidFill>
                  <a:srgbClr val="274A34"/>
                </a:solidFill>
                <a:latin typeface="Arial"/>
                <a:ea typeface="Arial"/>
                <a:cs typeface="Arial"/>
              </a:defRPr>
            </a:lvl6pPr>
            <a:lvl7pPr algn="l">
              <a:defRPr sz="1425" b="0">
                <a:solidFill>
                  <a:srgbClr val="274A34"/>
                </a:solidFill>
                <a:latin typeface="Arial"/>
                <a:ea typeface="Arial"/>
                <a:cs typeface="Arial"/>
              </a:defRPr>
            </a:lvl7pPr>
            <a:lvl8pPr algn="l">
              <a:defRPr sz="1425" b="0">
                <a:solidFill>
                  <a:srgbClr val="274A34"/>
                </a:solidFill>
                <a:latin typeface="Arial"/>
                <a:ea typeface="Arial"/>
                <a:cs typeface="Arial"/>
              </a:defRPr>
            </a:lvl8pPr>
            <a:lvl9pPr algn="l">
              <a:defRPr sz="1425" b="0">
                <a:solidFill>
                  <a:srgbClr val="274A34"/>
                </a:solidFill>
                <a:latin typeface="Arial"/>
                <a:ea typeface="Arial"/>
                <a:cs typeface="Arial"/>
              </a:defRPr>
            </a:lvl9pPr>
          </a:lstStyle>
          <a:p xmlns:a="http://schemas.openxmlformats.org/drawingml/2006/main">
            <a:pPr algn="l">
              <a:defRPr sz="1425" b="0">
                <a:solidFill>
                  <a:srgbClr val="274A34"/>
                </a:solidFill>
                <a:latin typeface="Arial"/>
                <a:ea typeface="Arial"/>
                <a:cs typeface="Arial"/>
              </a:defRPr>
            </a:pPr>
            <a:r>
              <a:rPr sz="1425" b="0">
                <a:solidFill>
                  <a:srgbClr val="274A34"/>
                </a:solidFill>
                <a:latin typeface="Arial"/>
                <a:ea typeface="Arial"/>
                <a:cs typeface="Arial"/>
              </a:rPr>
              <a:t>When evidence is too thin or stale, the system asks for better information instead of guessing.</a:t>
            </a:r>
          </a:p>
        </p:txBody>
      </p:sp>
    </p:spTree>
    <p:extLst>
      <p:ext uri="{BB962C8B-B14F-4D97-AF65-F5344CB8AC3E}">
        <p14:creationId xmlns:p14="http://schemas.microsoft.com/office/powerpoint/2010/main" val="1714803175"/>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38" name="slide-3-index">
            <a:extLst xmlns:a="http://schemas.openxmlformats.org/drawingml/2006/main">
              <a:ext uri="{FF2B5EF4-FFF2-40B4-BE49-F238E27FC236}">
                <a16:creationId xmlns:a16="http://schemas.microsoft.com/office/drawing/2014/main" id="{8529B1C6-1026-459D-AB0D-789275EC9313}"/>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03</a:t>
            </a:r>
          </a:p>
        </p:txBody>
      </p:sp>
      <p:sp>
        <p:nvSpPr>
          <p:cNvPr id="2" name="slide-3-title">
            <a:extLst xmlns:a="http://schemas.openxmlformats.org/drawingml/2006/main">
              <a:ext uri="{FF2B5EF4-FFF2-40B4-BE49-F238E27FC236}">
                <a16:creationId xmlns:a16="http://schemas.microsoft.com/office/drawing/2014/main" id="{D9674732-3EF0-436F-A1CF-1EF1178CA007}"/>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case moves through a bounded review</a:t>
            </a:r>
          </a:p>
        </p:txBody>
      </p:sp>
      <p:sp>
        <p:nvSpPr>
          <p:cNvPr id="3" name="slide-3-subtitle">
            <a:extLst xmlns:a="http://schemas.openxmlformats.org/drawingml/2006/main">
              <a:ext uri="{FF2B5EF4-FFF2-40B4-BE49-F238E27FC236}">
                <a16:creationId xmlns:a16="http://schemas.microsoft.com/office/drawing/2014/main" id="{299703BD-6642-420E-A6B1-EA7EE4508ADD}"/>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Each claim keeps its evidence, owner and review status.</a:t>
            </a:r>
          </a:p>
        </p:txBody>
      </p:sp>
      <p:sp>
        <p:nvSpPr>
          <p:cNvPr id="4" name="slide-3-header-rule">
            <a:extLst xmlns:a="http://schemas.openxmlformats.org/drawingml/2006/main">
              <a:ext uri="{FF2B5EF4-FFF2-40B4-BE49-F238E27FC236}">
                <a16:creationId xmlns:a16="http://schemas.microsoft.com/office/drawing/2014/main" id="{E0E6F1AB-828A-4622-AD68-4894FAE41608}"/>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workflow-stage-1">
            <a:extLst xmlns:a="http://schemas.openxmlformats.org/drawingml/2006/main">
              <a:ext uri="{FF2B5EF4-FFF2-40B4-BE49-F238E27FC236}">
                <a16:creationId xmlns:a16="http://schemas.microsoft.com/office/drawing/2014/main" id="{EB39C15D-527B-4A5F-8499-B1C986DB1976}"/>
              </a:ext>
            </a:extLst>
          </p:cNvPr>
          <p:cNvSpPr>
            <a:spLocks xmlns:a="http://schemas.openxmlformats.org/drawingml/2006/main" noGrp="1"/>
          </p:cNvSpPr>
          <p:nvPr/>
        </p:nvSpPr>
        <p:spPr>
          <a:xfrm xmlns:a="http://schemas.openxmlformats.org/drawingml/2006/main">
            <a:off x="7429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6" name="workflow-stage-1-accent">
            <a:extLst xmlns:a="http://schemas.openxmlformats.org/drawingml/2006/main">
              <a:ext uri="{FF2B5EF4-FFF2-40B4-BE49-F238E27FC236}">
                <a16:creationId xmlns:a16="http://schemas.microsoft.com/office/drawing/2014/main" id="{0D5BA7F2-BC09-45DD-BB34-B5765F93DC09}"/>
              </a:ext>
            </a:extLst>
          </p:cNvPr>
          <p:cNvSpPr>
            <a:spLocks xmlns:a="http://schemas.openxmlformats.org/drawingml/2006/main" noGrp="1"/>
          </p:cNvSpPr>
          <p:nvPr/>
        </p:nvSpPr>
        <p:spPr>
          <a:xfrm xmlns:a="http://schemas.openxmlformats.org/drawingml/2006/main">
            <a:off x="7429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7" name="workflow-stage-1-number">
            <a:extLst xmlns:a="http://schemas.openxmlformats.org/drawingml/2006/main">
              <a:ext uri="{FF2B5EF4-FFF2-40B4-BE49-F238E27FC236}">
                <a16:creationId xmlns:a16="http://schemas.microsoft.com/office/drawing/2014/main" id="{8A4F6E0A-EFBF-47D9-9F30-A2BC7C274F79}"/>
              </a:ext>
            </a:extLst>
          </p:cNvPr>
          <p:cNvSpPr>
            <a:spLocks xmlns:a="http://schemas.openxmlformats.org/drawingml/2006/main" noGrp="1"/>
          </p:cNvSpPr>
          <p:nvPr/>
        </p:nvSpPr>
        <p:spPr>
          <a:xfrm xmlns:a="http://schemas.openxmlformats.org/drawingml/2006/main">
            <a:off x="8953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01</a:t>
            </a:r>
          </a:p>
        </p:txBody>
      </p:sp>
      <p:sp>
        <p:nvSpPr>
          <p:cNvPr id="8" name="workflow-stage-1-title">
            <a:extLst xmlns:a="http://schemas.openxmlformats.org/drawingml/2006/main">
              <a:ext uri="{FF2B5EF4-FFF2-40B4-BE49-F238E27FC236}">
                <a16:creationId xmlns:a16="http://schemas.microsoft.com/office/drawing/2014/main" id="{48D48DEF-0C3B-430D-8739-3D0DC1FB3D2C}"/>
              </a:ext>
            </a:extLst>
          </p:cNvPr>
          <p:cNvSpPr>
            <a:spLocks xmlns:a="http://schemas.openxmlformats.org/drawingml/2006/main" noGrp="1"/>
          </p:cNvSpPr>
          <p:nvPr/>
        </p:nvSpPr>
        <p:spPr>
          <a:xfrm xmlns:a="http://schemas.openxmlformats.org/drawingml/2006/main">
            <a:off x="8953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Farmer</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request</a:t>
            </a:r>
          </a:p>
        </p:txBody>
      </p:sp>
      <p:sp>
        <p:nvSpPr>
          <p:cNvPr id="9" name="workflow-stage-1-body">
            <a:extLst xmlns:a="http://schemas.openxmlformats.org/drawingml/2006/main">
              <a:ext uri="{FF2B5EF4-FFF2-40B4-BE49-F238E27FC236}">
                <a16:creationId xmlns:a16="http://schemas.microsoft.com/office/drawing/2014/main" id="{74159DB5-743A-4189-8F49-9E530F5B9FC9}"/>
              </a:ext>
            </a:extLst>
          </p:cNvPr>
          <p:cNvSpPr>
            <a:spLocks xmlns:a="http://schemas.openxmlformats.org/drawingml/2006/main" noGrp="1"/>
          </p:cNvSpPr>
          <p:nvPr/>
        </p:nvSpPr>
        <p:spPr>
          <a:xfrm xmlns:a="http://schemas.openxmlformats.org/drawingml/2006/main">
            <a:off x="8953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County · bags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 · offer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cash need</a:t>
            </a:r>
          </a:p>
        </p:txBody>
      </p:sp>
      <p:sp>
        <p:nvSpPr>
          <p:cNvPr id="10" name="workflow-arrow-1">
            <a:extLst xmlns:a="http://schemas.openxmlformats.org/drawingml/2006/main">
              <a:ext uri="{FF2B5EF4-FFF2-40B4-BE49-F238E27FC236}">
                <a16:creationId xmlns:a16="http://schemas.microsoft.com/office/drawing/2014/main" id="{6873F0B0-2CEB-4569-AE6B-A19CEBD91980}"/>
              </a:ext>
            </a:extLst>
          </p:cNvPr>
          <p:cNvSpPr>
            <a:spLocks xmlns:a="http://schemas.openxmlformats.org/drawingml/2006/main" noGrp="1"/>
          </p:cNvSpPr>
          <p:nvPr/>
        </p:nvSpPr>
        <p:spPr>
          <a:xfrm xmlns:a="http://schemas.openxmlformats.org/drawingml/2006/main">
            <a:off x="24669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1" name="workflow-stage-2">
            <a:extLst xmlns:a="http://schemas.openxmlformats.org/drawingml/2006/main">
              <a:ext uri="{FF2B5EF4-FFF2-40B4-BE49-F238E27FC236}">
                <a16:creationId xmlns:a16="http://schemas.microsoft.com/office/drawing/2014/main" id="{46F47D07-3FD3-4516-BEFA-26419E744716}"/>
              </a:ext>
            </a:extLst>
          </p:cNvPr>
          <p:cNvSpPr>
            <a:spLocks xmlns:a="http://schemas.openxmlformats.org/drawingml/2006/main" noGrp="1"/>
          </p:cNvSpPr>
          <p:nvPr/>
        </p:nvSpPr>
        <p:spPr>
          <a:xfrm xmlns:a="http://schemas.openxmlformats.org/drawingml/2006/main">
            <a:off x="28765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2" name="workflow-stage-2-accent">
            <a:extLst xmlns:a="http://schemas.openxmlformats.org/drawingml/2006/main">
              <a:ext uri="{FF2B5EF4-FFF2-40B4-BE49-F238E27FC236}">
                <a16:creationId xmlns:a16="http://schemas.microsoft.com/office/drawing/2014/main" id="{44B37604-7BB4-4C4D-B811-C864415F8BB2}"/>
              </a:ext>
            </a:extLst>
          </p:cNvPr>
          <p:cNvSpPr>
            <a:spLocks xmlns:a="http://schemas.openxmlformats.org/drawingml/2006/main" noGrp="1"/>
          </p:cNvSpPr>
          <p:nvPr/>
        </p:nvSpPr>
        <p:spPr>
          <a:xfrm xmlns:a="http://schemas.openxmlformats.org/drawingml/2006/main">
            <a:off x="28765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3" name="workflow-stage-2-number">
            <a:extLst xmlns:a="http://schemas.openxmlformats.org/drawingml/2006/main">
              <a:ext uri="{FF2B5EF4-FFF2-40B4-BE49-F238E27FC236}">
                <a16:creationId xmlns:a16="http://schemas.microsoft.com/office/drawing/2014/main" id="{7B17C2FD-00ED-4643-93CC-F47562B4119A}"/>
              </a:ext>
            </a:extLst>
          </p:cNvPr>
          <p:cNvSpPr>
            <a:spLocks xmlns:a="http://schemas.openxmlformats.org/drawingml/2006/main" noGrp="1"/>
          </p:cNvSpPr>
          <p:nvPr/>
        </p:nvSpPr>
        <p:spPr>
          <a:xfrm xmlns:a="http://schemas.openxmlformats.org/drawingml/2006/main">
            <a:off x="30289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02</a:t>
            </a:r>
          </a:p>
        </p:txBody>
      </p:sp>
      <p:sp>
        <p:nvSpPr>
          <p:cNvPr id="14" name="workflow-stage-2-title">
            <a:extLst xmlns:a="http://schemas.openxmlformats.org/drawingml/2006/main">
              <a:ext uri="{FF2B5EF4-FFF2-40B4-BE49-F238E27FC236}">
                <a16:creationId xmlns:a16="http://schemas.microsoft.com/office/drawing/2014/main" id="{22FFB797-619B-4F8D-98CC-A451F137C2AD}"/>
              </a:ext>
            </a:extLst>
          </p:cNvPr>
          <p:cNvSpPr>
            <a:spLocks xmlns:a="http://schemas.openxmlformats.org/drawingml/2006/main" noGrp="1"/>
          </p:cNvSpPr>
          <p:nvPr/>
        </p:nvSpPr>
        <p:spPr>
          <a:xfrm xmlns:a="http://schemas.openxmlformats.org/drawingml/2006/main">
            <a:off x="30289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Data &amp;</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memory</a:t>
            </a:r>
          </a:p>
        </p:txBody>
      </p:sp>
      <p:sp>
        <p:nvSpPr>
          <p:cNvPr id="15" name="workflow-stage-2-body">
            <a:extLst xmlns:a="http://schemas.openxmlformats.org/drawingml/2006/main">
              <a:ext uri="{FF2B5EF4-FFF2-40B4-BE49-F238E27FC236}">
                <a16:creationId xmlns:a16="http://schemas.microsoft.com/office/drawing/2014/main" id="{65B9EF2D-0260-4344-9C5D-75BCBC201DA8}"/>
              </a:ext>
            </a:extLst>
          </p:cNvPr>
          <p:cNvSpPr>
            <a:spLocks xmlns:a="http://schemas.openxmlformats.org/drawingml/2006/main" noGrp="1"/>
          </p:cNvSpPr>
          <p:nvPr/>
        </p:nvSpPr>
        <p:spPr>
          <a:xfrm xmlns:a="http://schemas.openxmlformats.org/drawingml/2006/main">
            <a:off x="30289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Zetaris market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weather · rules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H-MEM history</a:t>
            </a:r>
          </a:p>
        </p:txBody>
      </p:sp>
      <p:sp>
        <p:nvSpPr>
          <p:cNvPr id="16" name="workflow-arrow-2">
            <a:extLst xmlns:a="http://schemas.openxmlformats.org/drawingml/2006/main">
              <a:ext uri="{FF2B5EF4-FFF2-40B4-BE49-F238E27FC236}">
                <a16:creationId xmlns:a16="http://schemas.microsoft.com/office/drawing/2014/main" id="{95B47962-E295-4B9D-8132-DFC023683CA8}"/>
              </a:ext>
            </a:extLst>
          </p:cNvPr>
          <p:cNvSpPr>
            <a:spLocks xmlns:a="http://schemas.openxmlformats.org/drawingml/2006/main" noGrp="1"/>
          </p:cNvSpPr>
          <p:nvPr/>
        </p:nvSpPr>
        <p:spPr>
          <a:xfrm xmlns:a="http://schemas.openxmlformats.org/drawingml/2006/main">
            <a:off x="46005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7" name="workflow-stage-3">
            <a:extLst xmlns:a="http://schemas.openxmlformats.org/drawingml/2006/main">
              <a:ext uri="{FF2B5EF4-FFF2-40B4-BE49-F238E27FC236}">
                <a16:creationId xmlns:a16="http://schemas.microsoft.com/office/drawing/2014/main" id="{D40CB518-537E-453E-A10A-09E50711CF36}"/>
              </a:ext>
            </a:extLst>
          </p:cNvPr>
          <p:cNvSpPr>
            <a:spLocks xmlns:a="http://schemas.openxmlformats.org/drawingml/2006/main" noGrp="1"/>
          </p:cNvSpPr>
          <p:nvPr/>
        </p:nvSpPr>
        <p:spPr>
          <a:xfrm xmlns:a="http://schemas.openxmlformats.org/drawingml/2006/main">
            <a:off x="50101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8" name="workflow-stage-3-accent">
            <a:extLst xmlns:a="http://schemas.openxmlformats.org/drawingml/2006/main">
              <a:ext uri="{FF2B5EF4-FFF2-40B4-BE49-F238E27FC236}">
                <a16:creationId xmlns:a16="http://schemas.microsoft.com/office/drawing/2014/main" id="{850E0721-8A20-4DF3-9A3C-332D0ED2A081}"/>
              </a:ext>
            </a:extLst>
          </p:cNvPr>
          <p:cNvSpPr>
            <a:spLocks xmlns:a="http://schemas.openxmlformats.org/drawingml/2006/main" noGrp="1"/>
          </p:cNvSpPr>
          <p:nvPr/>
        </p:nvSpPr>
        <p:spPr>
          <a:xfrm xmlns:a="http://schemas.openxmlformats.org/drawingml/2006/main">
            <a:off x="50101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9" name="workflow-stage-3-number">
            <a:extLst xmlns:a="http://schemas.openxmlformats.org/drawingml/2006/main">
              <a:ext uri="{FF2B5EF4-FFF2-40B4-BE49-F238E27FC236}">
                <a16:creationId xmlns:a16="http://schemas.microsoft.com/office/drawing/2014/main" id="{DE806F37-A242-4FCE-A239-4DE1F497684B}"/>
              </a:ext>
            </a:extLst>
          </p:cNvPr>
          <p:cNvSpPr>
            <a:spLocks xmlns:a="http://schemas.openxmlformats.org/drawingml/2006/main" noGrp="1"/>
          </p:cNvSpPr>
          <p:nvPr/>
        </p:nvSpPr>
        <p:spPr>
          <a:xfrm xmlns:a="http://schemas.openxmlformats.org/drawingml/2006/main">
            <a:off x="51625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03</a:t>
            </a:r>
          </a:p>
        </p:txBody>
      </p:sp>
      <p:sp>
        <p:nvSpPr>
          <p:cNvPr id="20" name="workflow-stage-3-title">
            <a:extLst xmlns:a="http://schemas.openxmlformats.org/drawingml/2006/main">
              <a:ext uri="{FF2B5EF4-FFF2-40B4-BE49-F238E27FC236}">
                <a16:creationId xmlns:a16="http://schemas.microsoft.com/office/drawing/2014/main" id="{8E8B3D09-C1C3-42CC-936B-129A39C5F214}"/>
              </a:ext>
            </a:extLst>
          </p:cNvPr>
          <p:cNvSpPr>
            <a:spLocks xmlns:a="http://schemas.openxmlformats.org/drawingml/2006/main" noGrp="1"/>
          </p:cNvSpPr>
          <p:nvPr/>
        </p:nvSpPr>
        <p:spPr>
          <a:xfrm xmlns:a="http://schemas.openxmlformats.org/drawingml/2006/main">
            <a:off x="51625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Analyst</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agents</a:t>
            </a:r>
          </a:p>
        </p:txBody>
      </p:sp>
      <p:sp>
        <p:nvSpPr>
          <p:cNvPr id="21" name="workflow-stage-3-body">
            <a:extLst xmlns:a="http://schemas.openxmlformats.org/drawingml/2006/main">
              <a:ext uri="{FF2B5EF4-FFF2-40B4-BE49-F238E27FC236}">
                <a16:creationId xmlns:a16="http://schemas.microsoft.com/office/drawing/2014/main" id="{2AC099EF-00F7-4FDA-91A4-8FE3EA8D9B7A}"/>
              </a:ext>
            </a:extLst>
          </p:cNvPr>
          <p:cNvSpPr>
            <a:spLocks xmlns:a="http://schemas.openxmlformats.org/drawingml/2006/main" noGrp="1"/>
          </p:cNvSpPr>
          <p:nvPr/>
        </p:nvSpPr>
        <p:spPr>
          <a:xfrm xmlns:a="http://schemas.openxmlformats.org/drawingml/2006/main">
            <a:off x="51625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MarketAnalyst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StorageWeather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Analyst</a:t>
            </a:r>
          </a:p>
        </p:txBody>
      </p:sp>
      <p:sp>
        <p:nvSpPr>
          <p:cNvPr id="22" name="workflow-arrow-3">
            <a:extLst xmlns:a="http://schemas.openxmlformats.org/drawingml/2006/main">
              <a:ext uri="{FF2B5EF4-FFF2-40B4-BE49-F238E27FC236}">
                <a16:creationId xmlns:a16="http://schemas.microsoft.com/office/drawing/2014/main" id="{1CD1EDF7-DEB6-4769-A610-9E05A0AE2FCB}"/>
              </a:ext>
            </a:extLst>
          </p:cNvPr>
          <p:cNvSpPr>
            <a:spLocks xmlns:a="http://schemas.openxmlformats.org/drawingml/2006/main" noGrp="1"/>
          </p:cNvSpPr>
          <p:nvPr/>
        </p:nvSpPr>
        <p:spPr>
          <a:xfrm xmlns:a="http://schemas.openxmlformats.org/drawingml/2006/main">
            <a:off x="67341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3" name="workflow-stage-4">
            <a:extLst xmlns:a="http://schemas.openxmlformats.org/drawingml/2006/main">
              <a:ext uri="{FF2B5EF4-FFF2-40B4-BE49-F238E27FC236}">
                <a16:creationId xmlns:a16="http://schemas.microsoft.com/office/drawing/2014/main" id="{3B7BFC2F-C2DB-404E-BF2A-3656A707F2C5}"/>
              </a:ext>
            </a:extLst>
          </p:cNvPr>
          <p:cNvSpPr>
            <a:spLocks xmlns:a="http://schemas.openxmlformats.org/drawingml/2006/main" noGrp="1"/>
          </p:cNvSpPr>
          <p:nvPr/>
        </p:nvSpPr>
        <p:spPr>
          <a:xfrm xmlns:a="http://schemas.openxmlformats.org/drawingml/2006/main">
            <a:off x="7143750" y="2647950"/>
            <a:ext cx="1657350" cy="1743075"/>
          </a:xfrm>
          <a:prstGeom xmlns:a="http://schemas.openxmlformats.org/drawingml/2006/main" prst="rect">
            <a:avLst/>
          </a:prstGeom>
          <a:solidFill xmlns:a="http://schemas.openxmlformats.org/drawingml/2006/main">
            <a:srgbClr val="F5EBD9"/>
          </a:solidFill>
          <a:ln xmlns:a="http://schemas.openxmlformats.org/drawingml/2006/main" w="0">
            <a:noFill/>
            <a:prstDash val="solid"/>
          </a:ln>
        </p:spPr>
      </p:sp>
      <p:sp>
        <p:nvSpPr>
          <p:cNvPr id="24" name="workflow-stage-4-accent">
            <a:extLst xmlns:a="http://schemas.openxmlformats.org/drawingml/2006/main">
              <a:ext uri="{FF2B5EF4-FFF2-40B4-BE49-F238E27FC236}">
                <a16:creationId xmlns:a16="http://schemas.microsoft.com/office/drawing/2014/main" id="{7F890244-E203-4B2F-8027-0F3CA36A152A}"/>
              </a:ext>
            </a:extLst>
          </p:cNvPr>
          <p:cNvSpPr>
            <a:spLocks xmlns:a="http://schemas.openxmlformats.org/drawingml/2006/main" noGrp="1"/>
          </p:cNvSpPr>
          <p:nvPr/>
        </p:nvSpPr>
        <p:spPr>
          <a:xfrm xmlns:a="http://schemas.openxmlformats.org/drawingml/2006/main">
            <a:off x="71437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5" name="workflow-stage-4-number">
            <a:extLst xmlns:a="http://schemas.openxmlformats.org/drawingml/2006/main">
              <a:ext uri="{FF2B5EF4-FFF2-40B4-BE49-F238E27FC236}">
                <a16:creationId xmlns:a16="http://schemas.microsoft.com/office/drawing/2014/main" id="{D8DB9400-8C45-4629-9409-B0B92000AB17}"/>
              </a:ext>
            </a:extLst>
          </p:cNvPr>
          <p:cNvSpPr>
            <a:spLocks xmlns:a="http://schemas.openxmlformats.org/drawingml/2006/main" noGrp="1"/>
          </p:cNvSpPr>
          <p:nvPr/>
        </p:nvSpPr>
        <p:spPr>
          <a:xfrm xmlns:a="http://schemas.openxmlformats.org/drawingml/2006/main">
            <a:off x="72961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04</a:t>
            </a:r>
          </a:p>
        </p:txBody>
      </p:sp>
      <p:sp>
        <p:nvSpPr>
          <p:cNvPr id="26" name="workflow-stage-4-title">
            <a:extLst xmlns:a="http://schemas.openxmlformats.org/drawingml/2006/main">
              <a:ext uri="{FF2B5EF4-FFF2-40B4-BE49-F238E27FC236}">
                <a16:creationId xmlns:a16="http://schemas.microsoft.com/office/drawing/2014/main" id="{6BFCDA61-AC22-4137-A28F-C73D74037365}"/>
              </a:ext>
            </a:extLst>
          </p:cNvPr>
          <p:cNvSpPr>
            <a:spLocks xmlns:a="http://schemas.openxmlformats.org/drawingml/2006/main" noGrp="1"/>
          </p:cNvSpPr>
          <p:nvPr/>
        </p:nvSpPr>
        <p:spPr>
          <a:xfrm xmlns:a="http://schemas.openxmlformats.org/drawingml/2006/main">
            <a:off x="72961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Risk</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Critic</a:t>
            </a:r>
          </a:p>
        </p:txBody>
      </p:sp>
      <p:sp>
        <p:nvSpPr>
          <p:cNvPr id="27" name="workflow-stage-4-body">
            <a:extLst xmlns:a="http://schemas.openxmlformats.org/drawingml/2006/main">
              <a:ext uri="{FF2B5EF4-FFF2-40B4-BE49-F238E27FC236}">
                <a16:creationId xmlns:a16="http://schemas.microsoft.com/office/drawing/2014/main" id="{F19DE480-1FA7-4B04-B873-9B77D96C4F41}"/>
              </a:ext>
            </a:extLst>
          </p:cNvPr>
          <p:cNvSpPr>
            <a:spLocks xmlns:a="http://schemas.openxmlformats.org/drawingml/2006/main" noGrp="1"/>
          </p:cNvSpPr>
          <p:nvPr/>
        </p:nvSpPr>
        <p:spPr>
          <a:xfrm xmlns:a="http://schemas.openxmlformats.org/drawingml/2006/main">
            <a:off x="72961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Freshness · coverage</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contradiction</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farmer limits</a:t>
            </a:r>
          </a:p>
        </p:txBody>
      </p:sp>
      <p:sp>
        <p:nvSpPr>
          <p:cNvPr id="28" name="workflow-arrow-4">
            <a:extLst xmlns:a="http://schemas.openxmlformats.org/drawingml/2006/main">
              <a:ext uri="{FF2B5EF4-FFF2-40B4-BE49-F238E27FC236}">
                <a16:creationId xmlns:a16="http://schemas.microsoft.com/office/drawing/2014/main" id="{FEB9BDA8-83F6-425B-B10B-8E7EB362C88E}"/>
              </a:ext>
            </a:extLst>
          </p:cNvPr>
          <p:cNvSpPr>
            <a:spLocks xmlns:a="http://schemas.openxmlformats.org/drawingml/2006/main" noGrp="1"/>
          </p:cNvSpPr>
          <p:nvPr/>
        </p:nvSpPr>
        <p:spPr>
          <a:xfrm xmlns:a="http://schemas.openxmlformats.org/drawingml/2006/main">
            <a:off x="88677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9" name="workflow-stage-5">
            <a:extLst xmlns:a="http://schemas.openxmlformats.org/drawingml/2006/main">
              <a:ext uri="{FF2B5EF4-FFF2-40B4-BE49-F238E27FC236}">
                <a16:creationId xmlns:a16="http://schemas.microsoft.com/office/drawing/2014/main" id="{8A9C118F-0149-4E03-BAA6-252B51D1F288}"/>
              </a:ext>
            </a:extLst>
          </p:cNvPr>
          <p:cNvSpPr>
            <a:spLocks xmlns:a="http://schemas.openxmlformats.org/drawingml/2006/main" noGrp="1"/>
          </p:cNvSpPr>
          <p:nvPr/>
        </p:nvSpPr>
        <p:spPr>
          <a:xfrm xmlns:a="http://schemas.openxmlformats.org/drawingml/2006/main">
            <a:off x="92773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30" name="workflow-stage-5-accent">
            <a:extLst xmlns:a="http://schemas.openxmlformats.org/drawingml/2006/main">
              <a:ext uri="{FF2B5EF4-FFF2-40B4-BE49-F238E27FC236}">
                <a16:creationId xmlns:a16="http://schemas.microsoft.com/office/drawing/2014/main" id="{3579BAF7-2E5D-4751-AE05-F2D15309CBCC}"/>
              </a:ext>
            </a:extLst>
          </p:cNvPr>
          <p:cNvSpPr>
            <a:spLocks xmlns:a="http://schemas.openxmlformats.org/drawingml/2006/main" noGrp="1"/>
          </p:cNvSpPr>
          <p:nvPr/>
        </p:nvSpPr>
        <p:spPr>
          <a:xfrm xmlns:a="http://schemas.openxmlformats.org/drawingml/2006/main">
            <a:off x="92773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31" name="workflow-stage-5-number">
            <a:extLst xmlns:a="http://schemas.openxmlformats.org/drawingml/2006/main">
              <a:ext uri="{FF2B5EF4-FFF2-40B4-BE49-F238E27FC236}">
                <a16:creationId xmlns:a16="http://schemas.microsoft.com/office/drawing/2014/main" id="{04F16CBC-7462-4107-80A4-A0F454B96B02}"/>
              </a:ext>
            </a:extLst>
          </p:cNvPr>
          <p:cNvSpPr>
            <a:spLocks xmlns:a="http://schemas.openxmlformats.org/drawingml/2006/main" noGrp="1"/>
          </p:cNvSpPr>
          <p:nvPr/>
        </p:nvSpPr>
        <p:spPr>
          <a:xfrm xmlns:a="http://schemas.openxmlformats.org/drawingml/2006/main">
            <a:off x="94297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05</a:t>
            </a:r>
          </a:p>
        </p:txBody>
      </p:sp>
      <p:sp>
        <p:nvSpPr>
          <p:cNvPr id="32" name="workflow-stage-5-title">
            <a:extLst xmlns:a="http://schemas.openxmlformats.org/drawingml/2006/main">
              <a:ext uri="{FF2B5EF4-FFF2-40B4-BE49-F238E27FC236}">
                <a16:creationId xmlns:a16="http://schemas.microsoft.com/office/drawing/2014/main" id="{00D00791-9E1A-4A39-A979-EB1D2283FF85}"/>
              </a:ext>
            </a:extLst>
          </p:cNvPr>
          <p:cNvSpPr>
            <a:spLocks xmlns:a="http://schemas.openxmlformats.org/drawingml/2006/main" noGrp="1"/>
          </p:cNvSpPr>
          <p:nvPr/>
        </p:nvSpPr>
        <p:spPr>
          <a:xfrm xmlns:a="http://schemas.openxmlformats.org/drawingml/2006/main">
            <a:off x="94297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Computed</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comparison</a:t>
            </a:r>
          </a:p>
        </p:txBody>
      </p:sp>
      <p:sp>
        <p:nvSpPr>
          <p:cNvPr id="33" name="workflow-stage-5-body">
            <a:extLst xmlns:a="http://schemas.openxmlformats.org/drawingml/2006/main">
              <a:ext uri="{FF2B5EF4-FFF2-40B4-BE49-F238E27FC236}">
                <a16:creationId xmlns:a16="http://schemas.microsoft.com/office/drawing/2014/main" id="{0E77F105-99F7-43EF-989E-2C776B97C9F7}"/>
              </a:ext>
            </a:extLst>
          </p:cNvPr>
          <p:cNvSpPr>
            <a:spLocks xmlns:a="http://schemas.openxmlformats.org/drawingml/2006/main" noGrp="1"/>
          </p:cNvSpPr>
          <p:nvPr/>
        </p:nvSpPr>
        <p:spPr>
          <a:xfrm xmlns:a="http://schemas.openxmlformats.org/drawingml/2006/main">
            <a:off x="94297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03"/>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Sell · hold · split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or no recommendation</a:t>
            </a:r>
          </a:p>
        </p:txBody>
      </p:sp>
      <p:sp>
        <p:nvSpPr>
          <p:cNvPr id="34" name="workflow-feedback-arrow">
            <a:extLst xmlns:a="http://schemas.openxmlformats.org/drawingml/2006/main">
              <a:ext uri="{FF2B5EF4-FFF2-40B4-BE49-F238E27FC236}">
                <a16:creationId xmlns:a16="http://schemas.microsoft.com/office/drawing/2014/main" id="{3B5EB0F4-3F08-4F49-BA73-A111CEB465AC}"/>
              </a:ext>
            </a:extLst>
          </p:cNvPr>
          <p:cNvSpPr>
            <a:spLocks xmlns:a="http://schemas.openxmlformats.org/drawingml/2006/main" noGrp="1"/>
          </p:cNvSpPr>
          <p:nvPr/>
        </p:nvSpPr>
        <p:spPr>
          <a:xfrm xmlns:a="http://schemas.openxmlformats.org/drawingml/2006/main">
            <a:off x="4619625" y="46291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486C75"/>
                </a:solidFill>
                <a:latin typeface="Arial"/>
                <a:ea typeface="Arial"/>
                <a:cs typeface="Arial"/>
              </a:defRPr>
            </a:defPPr>
            <a:lvl1pPr algn="ctr">
              <a:defRPr sz="1200" b="1">
                <a:solidFill>
                  <a:srgbClr val="486C75"/>
                </a:solidFill>
                <a:latin typeface="Arial"/>
                <a:ea typeface="Arial"/>
                <a:cs typeface="Arial"/>
              </a:defRPr>
            </a:lvl1pPr>
            <a:lvl2pPr algn="ctr">
              <a:defRPr sz="1200" b="1">
                <a:solidFill>
                  <a:srgbClr val="486C75"/>
                </a:solidFill>
                <a:latin typeface="Arial"/>
                <a:ea typeface="Arial"/>
                <a:cs typeface="Arial"/>
              </a:defRPr>
            </a:lvl2pPr>
            <a:lvl3pPr algn="ctr">
              <a:defRPr sz="1200" b="1">
                <a:solidFill>
                  <a:srgbClr val="486C75"/>
                </a:solidFill>
                <a:latin typeface="Arial"/>
                <a:ea typeface="Arial"/>
                <a:cs typeface="Arial"/>
              </a:defRPr>
            </a:lvl3pPr>
            <a:lvl4pPr algn="ctr">
              <a:defRPr sz="1200" b="1">
                <a:solidFill>
                  <a:srgbClr val="486C75"/>
                </a:solidFill>
                <a:latin typeface="Arial"/>
                <a:ea typeface="Arial"/>
                <a:cs typeface="Arial"/>
              </a:defRPr>
            </a:lvl4pPr>
            <a:lvl5pPr algn="ctr">
              <a:defRPr sz="1200" b="1">
                <a:solidFill>
                  <a:srgbClr val="486C75"/>
                </a:solidFill>
                <a:latin typeface="Arial"/>
                <a:ea typeface="Arial"/>
                <a:cs typeface="Arial"/>
              </a:defRPr>
            </a:lvl5pPr>
            <a:lvl6pPr algn="ctr">
              <a:defRPr sz="1200" b="1">
                <a:solidFill>
                  <a:srgbClr val="486C75"/>
                </a:solidFill>
                <a:latin typeface="Arial"/>
                <a:ea typeface="Arial"/>
                <a:cs typeface="Arial"/>
              </a:defRPr>
            </a:lvl6pPr>
            <a:lvl7pPr algn="ctr">
              <a:defRPr sz="1200" b="1">
                <a:solidFill>
                  <a:srgbClr val="486C75"/>
                </a:solidFill>
                <a:latin typeface="Arial"/>
                <a:ea typeface="Arial"/>
                <a:cs typeface="Arial"/>
              </a:defRPr>
            </a:lvl7pPr>
            <a:lvl8pPr algn="ctr">
              <a:defRPr sz="1200" b="1">
                <a:solidFill>
                  <a:srgbClr val="486C75"/>
                </a:solidFill>
                <a:latin typeface="Arial"/>
                <a:ea typeface="Arial"/>
                <a:cs typeface="Arial"/>
              </a:defRPr>
            </a:lvl8pPr>
            <a:lvl9pPr algn="ctr">
              <a:defRPr sz="1200" b="1">
                <a:solidFill>
                  <a:srgbClr val="486C75"/>
                </a:solidFill>
                <a:latin typeface="Arial"/>
                <a:ea typeface="Arial"/>
                <a:cs typeface="Arial"/>
              </a:defRPr>
            </a:lvl9pPr>
          </a:lstStyle>
          <a:p xmlns:a="http://schemas.openxmlformats.org/drawingml/2006/main">
            <a:pPr algn="ctr">
              <a:defRPr sz="1200" b="1">
                <a:solidFill>
                  <a:srgbClr val="486C75"/>
                </a:solidFill>
                <a:latin typeface="Arial"/>
                <a:ea typeface="Arial"/>
                <a:cs typeface="Arial"/>
              </a:defRPr>
            </a:pPr>
            <a:r>
              <a:rPr sz="1200" b="1">
                <a:solidFill>
                  <a:srgbClr val="486C75"/>
                </a:solidFill>
                <a:latin typeface="Arial"/>
                <a:ea typeface="Arial"/>
                <a:cs typeface="Arial"/>
              </a:rPr>
              <a:t>←  Rejected claims return to their owning analyst  ←</a:t>
            </a:r>
          </a:p>
        </p:txBody>
      </p:sp>
      <p:sp>
        <p:nvSpPr>
          <p:cNvPr id="35" name="workflow-feedback-line">
            <a:extLst xmlns:a="http://schemas.openxmlformats.org/drawingml/2006/main">
              <a:ext uri="{FF2B5EF4-FFF2-40B4-BE49-F238E27FC236}">
                <a16:creationId xmlns:a16="http://schemas.microsoft.com/office/drawing/2014/main" id="{FF6C73C3-F576-4F7B-913F-0411CDAFE7AC}"/>
              </a:ext>
            </a:extLst>
          </p:cNvPr>
          <p:cNvSpPr>
            <a:spLocks xmlns:a="http://schemas.openxmlformats.org/drawingml/2006/main" noGrp="1"/>
          </p:cNvSpPr>
          <p:nvPr/>
        </p:nvSpPr>
        <p:spPr>
          <a:xfrm xmlns:a="http://schemas.openxmlformats.org/drawingml/2006/main">
            <a:off x="5334000" y="4533900"/>
            <a:ext cx="3048000" cy="0"/>
          </a:xfrm>
          <a:prstGeom xmlns:a="http://schemas.openxmlformats.org/drawingml/2006/main" prst="line">
            <a:avLst/>
          </a:prstGeom>
          <a:noFill xmlns:a="http://schemas.openxmlformats.org/drawingml/2006/main"/>
          <a:ln xmlns:a="http://schemas.openxmlformats.org/drawingml/2006/main" w="19050">
            <a:solidFill>
              <a:srgbClr val="486C75"/>
            </a:solidFill>
            <a:prstDash val="solid"/>
          </a:ln>
        </p:spPr>
      </p:sp>
      <p:sp>
        <p:nvSpPr>
          <p:cNvPr id="36" name="workflow-bounds">
            <a:extLst xmlns:a="http://schemas.openxmlformats.org/drawingml/2006/main">
              <a:ext uri="{FF2B5EF4-FFF2-40B4-BE49-F238E27FC236}">
                <a16:creationId xmlns:a16="http://schemas.microsoft.com/office/drawing/2014/main" id="{4607E070-3819-4415-BE9A-544C93F08E2D}"/>
              </a:ext>
            </a:extLst>
          </p:cNvPr>
          <p:cNvSpPr>
            <a:spLocks xmlns:a="http://schemas.openxmlformats.org/drawingml/2006/main" noGrp="1"/>
          </p:cNvSpPr>
          <p:nvPr/>
        </p:nvSpPr>
        <p:spPr>
          <a:xfrm xmlns:a="http://schemas.openxmlformats.org/drawingml/2006/main">
            <a:off x="762000" y="5248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4A34"/>
                </a:solidFill>
                <a:latin typeface="Arial"/>
                <a:ea typeface="Arial"/>
                <a:cs typeface="Arial"/>
              </a:defRPr>
            </a:defPPr>
            <a:lvl1pPr algn="ctr">
              <a:defRPr sz="1275" b="1">
                <a:solidFill>
                  <a:srgbClr val="274A34"/>
                </a:solidFill>
                <a:latin typeface="Arial"/>
                <a:ea typeface="Arial"/>
                <a:cs typeface="Arial"/>
              </a:defRPr>
            </a:lvl1pPr>
            <a:lvl2pPr algn="ctr">
              <a:defRPr sz="1275" b="1">
                <a:solidFill>
                  <a:srgbClr val="274A34"/>
                </a:solidFill>
                <a:latin typeface="Arial"/>
                <a:ea typeface="Arial"/>
                <a:cs typeface="Arial"/>
              </a:defRPr>
            </a:lvl2pPr>
            <a:lvl3pPr algn="ctr">
              <a:defRPr sz="1275" b="1">
                <a:solidFill>
                  <a:srgbClr val="274A34"/>
                </a:solidFill>
                <a:latin typeface="Arial"/>
                <a:ea typeface="Arial"/>
                <a:cs typeface="Arial"/>
              </a:defRPr>
            </a:lvl3pPr>
            <a:lvl4pPr algn="ctr">
              <a:defRPr sz="1275" b="1">
                <a:solidFill>
                  <a:srgbClr val="274A34"/>
                </a:solidFill>
                <a:latin typeface="Arial"/>
                <a:ea typeface="Arial"/>
                <a:cs typeface="Arial"/>
              </a:defRPr>
            </a:lvl4pPr>
            <a:lvl5pPr algn="ctr">
              <a:defRPr sz="1275" b="1">
                <a:solidFill>
                  <a:srgbClr val="274A34"/>
                </a:solidFill>
                <a:latin typeface="Arial"/>
                <a:ea typeface="Arial"/>
                <a:cs typeface="Arial"/>
              </a:defRPr>
            </a:lvl5pPr>
            <a:lvl6pPr algn="ctr">
              <a:defRPr sz="1275" b="1">
                <a:solidFill>
                  <a:srgbClr val="274A34"/>
                </a:solidFill>
                <a:latin typeface="Arial"/>
                <a:ea typeface="Arial"/>
                <a:cs typeface="Arial"/>
              </a:defRPr>
            </a:lvl6pPr>
            <a:lvl7pPr algn="ctr">
              <a:defRPr sz="1275" b="1">
                <a:solidFill>
                  <a:srgbClr val="274A34"/>
                </a:solidFill>
                <a:latin typeface="Arial"/>
                <a:ea typeface="Arial"/>
                <a:cs typeface="Arial"/>
              </a:defRPr>
            </a:lvl7pPr>
            <a:lvl8pPr algn="ctr">
              <a:defRPr sz="1275" b="1">
                <a:solidFill>
                  <a:srgbClr val="274A34"/>
                </a:solidFill>
                <a:latin typeface="Arial"/>
                <a:ea typeface="Arial"/>
                <a:cs typeface="Arial"/>
              </a:defRPr>
            </a:lvl8pPr>
            <a:lvl9pPr algn="ctr">
              <a:defRPr sz="1275" b="1">
                <a:solidFill>
                  <a:srgbClr val="274A34"/>
                </a:solidFill>
                <a:latin typeface="Arial"/>
                <a:ea typeface="Arial"/>
                <a:cs typeface="Arial"/>
              </a:defRPr>
            </a:lvl9pPr>
          </a:lstStyle>
          <a:p xmlns:a="http://schemas.openxmlformats.org/drawingml/2006/main">
            <a:pPr algn="ctr">
              <a:defRPr sz="1275" b="1">
                <a:solidFill>
                  <a:srgbClr val="274A34"/>
                </a:solidFill>
                <a:latin typeface="Arial"/>
                <a:ea typeface="Arial"/>
                <a:cs typeface="Arial"/>
              </a:defRPr>
            </a:pPr>
            <a:r>
              <a:rPr sz="1275" b="1">
                <a:solidFill>
                  <a:srgbClr val="274A34"/>
                </a:solidFill>
                <a:latin typeface="Arial"/>
                <a:ea typeface="Arial"/>
                <a:cs typeface="Arial"/>
              </a:rPr>
              <a:t>At most 2 revisions · 2 refreshes · 3 review rounds</a:t>
            </a:r>
          </a:p>
        </p:txBody>
      </p:sp>
      <p:sp>
        <p:nvSpPr>
          <p:cNvPr id="37" name="workflow-outcome">
            <a:extLst xmlns:a="http://schemas.openxmlformats.org/drawingml/2006/main">
              <a:ext uri="{FF2B5EF4-FFF2-40B4-BE49-F238E27FC236}">
                <a16:creationId xmlns:a16="http://schemas.microsoft.com/office/drawing/2014/main" id="{ACC8B352-B80D-4704-B81D-E0204439F3C2}"/>
              </a:ext>
            </a:extLst>
          </p:cNvPr>
          <p:cNvSpPr>
            <a:spLocks xmlns:a="http://schemas.openxmlformats.org/drawingml/2006/main" noGrp="1"/>
          </p:cNvSpPr>
          <p:nvPr/>
        </p:nvSpPr>
        <p:spPr>
          <a:xfrm xmlns:a="http://schemas.openxmlformats.org/drawingml/2006/main">
            <a:off x="1104900" y="5724525"/>
            <a:ext cx="9982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69766B"/>
                </a:solidFill>
                <a:latin typeface="Arial"/>
                <a:ea typeface="Arial"/>
                <a:cs typeface="Arial"/>
              </a:defRPr>
            </a:defPPr>
            <a:lvl1pPr algn="ctr">
              <a:defRPr sz="1200" b="0">
                <a:solidFill>
                  <a:srgbClr val="69766B"/>
                </a:solidFill>
                <a:latin typeface="Arial"/>
                <a:ea typeface="Arial"/>
                <a:cs typeface="Arial"/>
              </a:defRPr>
            </a:lvl1pPr>
            <a:lvl2pPr algn="ctr">
              <a:defRPr sz="1200" b="0">
                <a:solidFill>
                  <a:srgbClr val="69766B"/>
                </a:solidFill>
                <a:latin typeface="Arial"/>
                <a:ea typeface="Arial"/>
                <a:cs typeface="Arial"/>
              </a:defRPr>
            </a:lvl2pPr>
            <a:lvl3pPr algn="ctr">
              <a:defRPr sz="1200" b="0">
                <a:solidFill>
                  <a:srgbClr val="69766B"/>
                </a:solidFill>
                <a:latin typeface="Arial"/>
                <a:ea typeface="Arial"/>
                <a:cs typeface="Arial"/>
              </a:defRPr>
            </a:lvl3pPr>
            <a:lvl4pPr algn="ctr">
              <a:defRPr sz="1200" b="0">
                <a:solidFill>
                  <a:srgbClr val="69766B"/>
                </a:solidFill>
                <a:latin typeface="Arial"/>
                <a:ea typeface="Arial"/>
                <a:cs typeface="Arial"/>
              </a:defRPr>
            </a:lvl4pPr>
            <a:lvl5pPr algn="ctr">
              <a:defRPr sz="1200" b="0">
                <a:solidFill>
                  <a:srgbClr val="69766B"/>
                </a:solidFill>
                <a:latin typeface="Arial"/>
                <a:ea typeface="Arial"/>
                <a:cs typeface="Arial"/>
              </a:defRPr>
            </a:lvl5pPr>
            <a:lvl6pPr algn="ctr">
              <a:defRPr sz="1200" b="0">
                <a:solidFill>
                  <a:srgbClr val="69766B"/>
                </a:solidFill>
                <a:latin typeface="Arial"/>
                <a:ea typeface="Arial"/>
                <a:cs typeface="Arial"/>
              </a:defRPr>
            </a:lvl6pPr>
            <a:lvl7pPr algn="ctr">
              <a:defRPr sz="1200" b="0">
                <a:solidFill>
                  <a:srgbClr val="69766B"/>
                </a:solidFill>
                <a:latin typeface="Arial"/>
                <a:ea typeface="Arial"/>
                <a:cs typeface="Arial"/>
              </a:defRPr>
            </a:lvl7pPr>
            <a:lvl8pPr algn="ctr">
              <a:defRPr sz="1200" b="0">
                <a:solidFill>
                  <a:srgbClr val="69766B"/>
                </a:solidFill>
                <a:latin typeface="Arial"/>
                <a:ea typeface="Arial"/>
                <a:cs typeface="Arial"/>
              </a:defRPr>
            </a:lvl8pPr>
            <a:lvl9pPr algn="ctr">
              <a:defRPr sz="1200" b="0">
                <a:solidFill>
                  <a:srgbClr val="69766B"/>
                </a:solidFill>
                <a:latin typeface="Arial"/>
                <a:ea typeface="Arial"/>
                <a:cs typeface="Arial"/>
              </a:defRPr>
            </a:lvl9pPr>
          </a:lstStyle>
          <a:p xmlns:a="http://schemas.openxmlformats.org/drawingml/2006/main">
            <a:pPr algn="ctr">
              <a:defRPr sz="1200" b="0">
                <a:solidFill>
                  <a:srgbClr val="69766B"/>
                </a:solidFill>
                <a:latin typeface="Arial"/>
                <a:ea typeface="Arial"/>
                <a:cs typeface="Arial"/>
              </a:defRPr>
            </a:pPr>
            <a:r>
              <a:rPr sz="1200" b="0">
                <a:solidFill>
                  <a:srgbClr val="69766B"/>
                </a:solidFill>
                <a:latin typeface="Arial"/>
                <a:ea typeface="Arial"/>
                <a:cs typeface="Arial"/>
              </a:rPr>
              <a:t>The planner compares the options with a fixed-seed expected-value simulation and records the trace.</a:t>
            </a:r>
          </a:p>
        </p:txBody>
      </p:sp>
    </p:spTree>
    <p:extLst>
      <p:ext uri="{BB962C8B-B14F-4D97-AF65-F5344CB8AC3E}">
        <p14:creationId xmlns:p14="http://schemas.microsoft.com/office/powerpoint/2010/main" val="120686984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4-index">
            <a:extLst xmlns:a="http://schemas.openxmlformats.org/drawingml/2006/main">
              <a:ext uri="{FF2B5EF4-FFF2-40B4-BE49-F238E27FC236}">
                <a16:creationId xmlns:a16="http://schemas.microsoft.com/office/drawing/2014/main" id="{9573D407-1E1C-43D9-BF32-489E49DDBBA0}"/>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04</a:t>
            </a:r>
          </a:p>
        </p:txBody>
      </p:sp>
      <p:sp>
        <p:nvSpPr>
          <p:cNvPr id="2" name="slide-4-title">
            <a:extLst xmlns:a="http://schemas.openxmlformats.org/drawingml/2006/main">
              <a:ext uri="{FF2B5EF4-FFF2-40B4-BE49-F238E27FC236}">
                <a16:creationId xmlns:a16="http://schemas.microsoft.com/office/drawing/2014/main" id="{0615B1AB-062D-41B9-936C-EF809235AAD4}"/>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The system can say ‘not enough evidence’</a:t>
            </a:r>
          </a:p>
        </p:txBody>
      </p:sp>
      <p:sp>
        <p:nvSpPr>
          <p:cNvPr id="3" name="slide-4-subtitle">
            <a:extLst xmlns:a="http://schemas.openxmlformats.org/drawingml/2006/main">
              <a:ext uri="{FF2B5EF4-FFF2-40B4-BE49-F238E27FC236}">
                <a16:creationId xmlns:a16="http://schemas.microsoft.com/office/drawing/2014/main" id="{3AA739F4-94E9-488A-982F-ED54AD017E08}"/>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Freshness and coverage are part of the decision, not footnotes.</a:t>
            </a:r>
          </a:p>
        </p:txBody>
      </p:sp>
      <p:sp>
        <p:nvSpPr>
          <p:cNvPr id="4" name="slide-4-header-rule">
            <a:extLst xmlns:a="http://schemas.openxmlformats.org/drawingml/2006/main">
              <a:ext uri="{FF2B5EF4-FFF2-40B4-BE49-F238E27FC236}">
                <a16:creationId xmlns:a16="http://schemas.microsoft.com/office/drawing/2014/main" id="{45DEC6FD-85E5-4AB6-AF46-6BC79B1470DC}"/>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guardrail-1-index">
            <a:extLst xmlns:a="http://schemas.openxmlformats.org/drawingml/2006/main">
              <a:ext uri="{FF2B5EF4-FFF2-40B4-BE49-F238E27FC236}">
                <a16:creationId xmlns:a16="http://schemas.microsoft.com/office/drawing/2014/main" id="{1A14741E-F011-4B01-A3CD-B7F51BC569A5}"/>
              </a:ext>
            </a:extLst>
          </p:cNvPr>
          <p:cNvSpPr>
            <a:spLocks xmlns:a="http://schemas.openxmlformats.org/drawingml/2006/main" noGrp="1"/>
          </p:cNvSpPr>
          <p:nvPr/>
        </p:nvSpPr>
        <p:spPr>
          <a:xfrm xmlns:a="http://schemas.openxmlformats.org/drawingml/2006/main">
            <a:off x="781050" y="250507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A</a:t>
            </a:r>
          </a:p>
        </p:txBody>
      </p:sp>
      <p:sp>
        <p:nvSpPr>
          <p:cNvPr id="6" name="guardrail-1-title">
            <a:extLst xmlns:a="http://schemas.openxmlformats.org/drawingml/2006/main">
              <a:ext uri="{FF2B5EF4-FFF2-40B4-BE49-F238E27FC236}">
                <a16:creationId xmlns:a16="http://schemas.microsoft.com/office/drawing/2014/main" id="{209656B8-F473-4582-8FDF-01276FBD22D1}"/>
              </a:ext>
            </a:extLst>
          </p:cNvPr>
          <p:cNvSpPr>
            <a:spLocks xmlns:a="http://schemas.openxmlformats.org/drawingml/2006/main" noGrp="1"/>
          </p:cNvSpPr>
          <p:nvPr/>
        </p:nvSpPr>
        <p:spPr>
          <a:xfrm xmlns:a="http://schemas.openxmlformats.org/drawingml/2006/main">
            <a:off x="1228725" y="24860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Freshness gate</a:t>
            </a:r>
          </a:p>
        </p:txBody>
      </p:sp>
      <p:sp>
        <p:nvSpPr>
          <p:cNvPr id="7" name="guardrail-1-body">
            <a:extLst xmlns:a="http://schemas.openxmlformats.org/drawingml/2006/main">
              <a:ext uri="{FF2B5EF4-FFF2-40B4-BE49-F238E27FC236}">
                <a16:creationId xmlns:a16="http://schemas.microsoft.com/office/drawing/2014/main" id="{D0DB0DCE-7090-4050-964C-0BD1C6925987}"/>
              </a:ext>
            </a:extLst>
          </p:cNvPr>
          <p:cNvSpPr>
            <a:spLocks xmlns:a="http://schemas.openxmlformats.org/drawingml/2006/main" noGrp="1"/>
          </p:cNvSpPr>
          <p:nvPr/>
        </p:nvSpPr>
        <p:spPr>
          <a:xfrm xmlns:a="http://schemas.openxmlformats.org/drawingml/2006/main">
            <a:off x="1228725" y="28384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Price and forecast claims older than the configured 3-day limit are rejected and sent for refresh.</a:t>
            </a:r>
          </a:p>
        </p:txBody>
      </p:sp>
      <p:sp>
        <p:nvSpPr>
          <p:cNvPr id="8" name="guardrail-1-rule">
            <a:extLst xmlns:a="http://schemas.openxmlformats.org/drawingml/2006/main">
              <a:ext uri="{FF2B5EF4-FFF2-40B4-BE49-F238E27FC236}">
                <a16:creationId xmlns:a16="http://schemas.microsoft.com/office/drawing/2014/main" id="{70C343A7-6163-409F-80A7-E4AC0B874F1C}"/>
              </a:ext>
            </a:extLst>
          </p:cNvPr>
          <p:cNvSpPr>
            <a:spLocks xmlns:a="http://schemas.openxmlformats.org/drawingml/2006/main" noGrp="1"/>
          </p:cNvSpPr>
          <p:nvPr/>
        </p:nvSpPr>
        <p:spPr>
          <a:xfrm xmlns:a="http://schemas.openxmlformats.org/drawingml/2006/main">
            <a:off x="78105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guardrail-2-index">
            <a:extLst xmlns:a="http://schemas.openxmlformats.org/drawingml/2006/main">
              <a:ext uri="{FF2B5EF4-FFF2-40B4-BE49-F238E27FC236}">
                <a16:creationId xmlns:a16="http://schemas.microsoft.com/office/drawing/2014/main" id="{60C77751-B494-43DF-95EE-F7DFEBAFDA36}"/>
              </a:ext>
            </a:extLst>
          </p:cNvPr>
          <p:cNvSpPr>
            <a:spLocks xmlns:a="http://schemas.openxmlformats.org/drawingml/2006/main" noGrp="1"/>
          </p:cNvSpPr>
          <p:nvPr/>
        </p:nvSpPr>
        <p:spPr>
          <a:xfrm xmlns:a="http://schemas.openxmlformats.org/drawingml/2006/main">
            <a:off x="781050" y="35242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B</a:t>
            </a:r>
          </a:p>
        </p:txBody>
      </p:sp>
      <p:sp>
        <p:nvSpPr>
          <p:cNvPr id="10" name="guardrail-2-title">
            <a:extLst xmlns:a="http://schemas.openxmlformats.org/drawingml/2006/main">
              <a:ext uri="{FF2B5EF4-FFF2-40B4-BE49-F238E27FC236}">
                <a16:creationId xmlns:a16="http://schemas.microsoft.com/office/drawing/2014/main" id="{969DFF9D-1E21-476E-86AF-23D325D6BBF8}"/>
              </a:ext>
            </a:extLst>
          </p:cNvPr>
          <p:cNvSpPr>
            <a:spLocks xmlns:a="http://schemas.openxmlformats.org/drawingml/2006/main" noGrp="1"/>
          </p:cNvSpPr>
          <p:nvPr/>
        </p:nvSpPr>
        <p:spPr>
          <a:xfrm xmlns:a="http://schemas.openxmlformats.org/drawingml/2006/main">
            <a:off x="1228725" y="3505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County coverage gate</a:t>
            </a:r>
          </a:p>
        </p:txBody>
      </p:sp>
      <p:sp>
        <p:nvSpPr>
          <p:cNvPr id="11" name="guardrail-2-body">
            <a:extLst xmlns:a="http://schemas.openxmlformats.org/drawingml/2006/main">
              <a:ext uri="{FF2B5EF4-FFF2-40B4-BE49-F238E27FC236}">
                <a16:creationId xmlns:a16="http://schemas.microsoft.com/office/drawing/2014/main" id="{C54F5227-F83A-4863-A2AB-CD359898BF03}"/>
              </a:ext>
            </a:extLst>
          </p:cNvPr>
          <p:cNvSpPr>
            <a:spLocks xmlns:a="http://schemas.openxmlformats.org/drawingml/2006/main" noGrp="1"/>
          </p:cNvSpPr>
          <p:nvPr/>
        </p:nvSpPr>
        <p:spPr>
          <a:xfrm xmlns:a="http://schemas.openxmlformats.org/drawingml/2006/main">
            <a:off x="1228725" y="38576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Fewer than 3 fresh white-maize quotes blocks an action and asks which market or offer to use.</a:t>
            </a:r>
          </a:p>
        </p:txBody>
      </p:sp>
      <p:sp>
        <p:nvSpPr>
          <p:cNvPr id="12" name="guardrail-2-rule">
            <a:extLst xmlns:a="http://schemas.openxmlformats.org/drawingml/2006/main">
              <a:ext uri="{FF2B5EF4-FFF2-40B4-BE49-F238E27FC236}">
                <a16:creationId xmlns:a16="http://schemas.microsoft.com/office/drawing/2014/main" id="{E81A1398-1D48-4FE1-AB05-12122564FF50}"/>
              </a:ext>
            </a:extLst>
          </p:cNvPr>
          <p:cNvSpPr>
            <a:spLocks xmlns:a="http://schemas.openxmlformats.org/drawingml/2006/main" noGrp="1"/>
          </p:cNvSpPr>
          <p:nvPr/>
        </p:nvSpPr>
        <p:spPr>
          <a:xfrm xmlns:a="http://schemas.openxmlformats.org/drawingml/2006/main">
            <a:off x="781050" y="4438650"/>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guardrail-3-index">
            <a:extLst xmlns:a="http://schemas.openxmlformats.org/drawingml/2006/main">
              <a:ext uri="{FF2B5EF4-FFF2-40B4-BE49-F238E27FC236}">
                <a16:creationId xmlns:a16="http://schemas.microsoft.com/office/drawing/2014/main" id="{4781E854-610F-44AB-B076-2F46391FE390}"/>
              </a:ext>
            </a:extLst>
          </p:cNvPr>
          <p:cNvSpPr>
            <a:spLocks xmlns:a="http://schemas.openxmlformats.org/drawingml/2006/main" noGrp="1"/>
          </p:cNvSpPr>
          <p:nvPr/>
        </p:nvSpPr>
        <p:spPr>
          <a:xfrm xmlns:a="http://schemas.openxmlformats.org/drawingml/2006/main">
            <a:off x="781050" y="45434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C</a:t>
            </a:r>
          </a:p>
        </p:txBody>
      </p:sp>
      <p:sp>
        <p:nvSpPr>
          <p:cNvPr id="14" name="guardrail-3-title">
            <a:extLst xmlns:a="http://schemas.openxmlformats.org/drawingml/2006/main">
              <a:ext uri="{FF2B5EF4-FFF2-40B4-BE49-F238E27FC236}">
                <a16:creationId xmlns:a16="http://schemas.microsoft.com/office/drawing/2014/main" id="{B05947B7-799C-46A3-AF5A-323E6887591E}"/>
              </a:ext>
            </a:extLst>
          </p:cNvPr>
          <p:cNvSpPr>
            <a:spLocks xmlns:a="http://schemas.openxmlformats.org/drawingml/2006/main" noGrp="1"/>
          </p:cNvSpPr>
          <p:nvPr/>
        </p:nvSpPr>
        <p:spPr>
          <a:xfrm xmlns:a="http://schemas.openxmlformats.org/drawingml/2006/main">
            <a:off x="1228725" y="45243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Risk review</a:t>
            </a:r>
          </a:p>
        </p:txBody>
      </p:sp>
      <p:sp>
        <p:nvSpPr>
          <p:cNvPr id="15" name="guardrail-3-body">
            <a:extLst xmlns:a="http://schemas.openxmlformats.org/drawingml/2006/main">
              <a:ext uri="{FF2B5EF4-FFF2-40B4-BE49-F238E27FC236}">
                <a16:creationId xmlns:a16="http://schemas.microsoft.com/office/drawing/2014/main" id="{DE708BEB-84E7-40D3-9623-4535BD55F968}"/>
              </a:ext>
            </a:extLst>
          </p:cNvPr>
          <p:cNvSpPr>
            <a:spLocks xmlns:a="http://schemas.openxmlformats.org/drawingml/2006/main" noGrp="1"/>
          </p:cNvSpPr>
          <p:nvPr/>
        </p:nvSpPr>
        <p:spPr>
          <a:xfrm xmlns:a="http://schemas.openxmlformats.org/drawingml/2006/main">
            <a:off x="1228725" y="48768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The critic checks outliers, contradictions, maize type, missing evidence and farmer limits.</a:t>
            </a:r>
          </a:p>
        </p:txBody>
      </p:sp>
      <p:sp>
        <p:nvSpPr>
          <p:cNvPr id="16" name="abstain-panel">
            <a:extLst xmlns:a="http://schemas.openxmlformats.org/drawingml/2006/main">
              <a:ext uri="{FF2B5EF4-FFF2-40B4-BE49-F238E27FC236}">
                <a16:creationId xmlns:a16="http://schemas.microsoft.com/office/drawing/2014/main" id="{4052A147-15DB-4861-A4E6-B0D1D87CC7BD}"/>
              </a:ext>
            </a:extLst>
          </p:cNvPr>
          <p:cNvSpPr>
            <a:spLocks xmlns:a="http://schemas.openxmlformats.org/drawingml/2006/main" noGrp="1"/>
          </p:cNvSpPr>
          <p:nvPr/>
        </p:nvSpPr>
        <p:spPr>
          <a:xfrm xmlns:a="http://schemas.openxmlformats.org/drawingml/2006/main">
            <a:off x="6429375" y="2600325"/>
            <a:ext cx="4981575" cy="2724150"/>
          </a:xfrm>
          <a:prstGeom xmlns:a="http://schemas.openxmlformats.org/drawingml/2006/main" prst="rect">
            <a:avLst/>
          </a:prstGeom>
          <a:solidFill xmlns:a="http://schemas.openxmlformats.org/drawingml/2006/main">
            <a:srgbClr val="183525"/>
          </a:solidFill>
          <a:ln xmlns:a="http://schemas.openxmlformats.org/drawingml/2006/main" w="0">
            <a:noFill/>
            <a:prstDash val="solid"/>
          </a:ln>
        </p:spPr>
      </p:sp>
      <p:sp>
        <p:nvSpPr>
          <p:cNvPr id="17" name="abstain-label">
            <a:extLst xmlns:a="http://schemas.openxmlformats.org/drawingml/2006/main">
              <a:ext uri="{FF2B5EF4-FFF2-40B4-BE49-F238E27FC236}">
                <a16:creationId xmlns:a16="http://schemas.microsoft.com/office/drawing/2014/main" id="{F86B7E58-287C-4EE8-8581-5081BD56F451}"/>
              </a:ext>
            </a:extLst>
          </p:cNvPr>
          <p:cNvSpPr>
            <a:spLocks xmlns:a="http://schemas.openxmlformats.org/drawingml/2006/main" noGrp="1"/>
          </p:cNvSpPr>
          <p:nvPr/>
        </p:nvSpPr>
        <p:spPr>
          <a:xfrm xmlns:a="http://schemas.openxmlformats.org/drawingml/2006/main">
            <a:off x="6762750" y="29146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WHEN REVIEW CANNOT APPROVE</a:t>
            </a:r>
          </a:p>
        </p:txBody>
      </p:sp>
      <p:sp>
        <p:nvSpPr>
          <p:cNvPr id="18" name="abstain-title">
            <a:extLst xmlns:a="http://schemas.openxmlformats.org/drawingml/2006/main">
              <a:ext uri="{FF2B5EF4-FFF2-40B4-BE49-F238E27FC236}">
                <a16:creationId xmlns:a16="http://schemas.microsoft.com/office/drawing/2014/main" id="{1C8CCD8D-EC5D-427E-9246-0DEABA88BBA3}"/>
              </a:ext>
            </a:extLst>
          </p:cNvPr>
          <p:cNvSpPr>
            <a:spLocks xmlns:a="http://schemas.openxmlformats.org/drawingml/2006/main" noGrp="1"/>
          </p:cNvSpPr>
          <p:nvPr/>
        </p:nvSpPr>
        <p:spPr>
          <a:xfrm xmlns:a="http://schemas.openxmlformats.org/drawingml/2006/main">
            <a:off x="6762750" y="33337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0">
                <a:solidFill>
                  <a:srgbClr val="FFFEFA"/>
                </a:solidFill>
                <a:latin typeface="Georgia"/>
                <a:ea typeface="Georgia"/>
                <a:cs typeface="Georgia"/>
              </a:defRPr>
            </a:defPPr>
            <a:lvl1pPr algn="l">
              <a:defRPr sz="2625" b="0">
                <a:solidFill>
                  <a:srgbClr val="FFFEFA"/>
                </a:solidFill>
                <a:latin typeface="Georgia"/>
                <a:ea typeface="Georgia"/>
                <a:cs typeface="Georgia"/>
              </a:defRPr>
            </a:lvl1pPr>
            <a:lvl2pPr algn="l">
              <a:defRPr sz="2625" b="0">
                <a:solidFill>
                  <a:srgbClr val="FFFEFA"/>
                </a:solidFill>
                <a:latin typeface="Georgia"/>
                <a:ea typeface="Georgia"/>
                <a:cs typeface="Georgia"/>
              </a:defRPr>
            </a:lvl2pPr>
            <a:lvl3pPr algn="l">
              <a:defRPr sz="2625" b="0">
                <a:solidFill>
                  <a:srgbClr val="FFFEFA"/>
                </a:solidFill>
                <a:latin typeface="Georgia"/>
                <a:ea typeface="Georgia"/>
                <a:cs typeface="Georgia"/>
              </a:defRPr>
            </a:lvl3pPr>
            <a:lvl4pPr algn="l">
              <a:defRPr sz="2625" b="0">
                <a:solidFill>
                  <a:srgbClr val="FFFEFA"/>
                </a:solidFill>
                <a:latin typeface="Georgia"/>
                <a:ea typeface="Georgia"/>
                <a:cs typeface="Georgia"/>
              </a:defRPr>
            </a:lvl4pPr>
            <a:lvl5pPr algn="l">
              <a:defRPr sz="2625" b="0">
                <a:solidFill>
                  <a:srgbClr val="FFFEFA"/>
                </a:solidFill>
                <a:latin typeface="Georgia"/>
                <a:ea typeface="Georgia"/>
                <a:cs typeface="Georgia"/>
              </a:defRPr>
            </a:lvl5pPr>
            <a:lvl6pPr algn="l">
              <a:defRPr sz="2625" b="0">
                <a:solidFill>
                  <a:srgbClr val="FFFEFA"/>
                </a:solidFill>
                <a:latin typeface="Georgia"/>
                <a:ea typeface="Georgia"/>
                <a:cs typeface="Georgia"/>
              </a:defRPr>
            </a:lvl6pPr>
            <a:lvl7pPr algn="l">
              <a:defRPr sz="2625" b="0">
                <a:solidFill>
                  <a:srgbClr val="FFFEFA"/>
                </a:solidFill>
                <a:latin typeface="Georgia"/>
                <a:ea typeface="Georgia"/>
                <a:cs typeface="Georgia"/>
              </a:defRPr>
            </a:lvl7pPr>
            <a:lvl8pPr algn="l">
              <a:defRPr sz="2625" b="0">
                <a:solidFill>
                  <a:srgbClr val="FFFEFA"/>
                </a:solidFill>
                <a:latin typeface="Georgia"/>
                <a:ea typeface="Georgia"/>
                <a:cs typeface="Georgia"/>
              </a:defRPr>
            </a:lvl8pPr>
            <a:lvl9pPr algn="l">
              <a:defRPr sz="2625" b="0">
                <a:solidFill>
                  <a:srgbClr val="FFFEFA"/>
                </a:solidFill>
                <a:latin typeface="Georgia"/>
                <a:ea typeface="Georgia"/>
                <a:cs typeface="Georgia"/>
              </a:defRPr>
            </a:lvl9pPr>
          </a:lstStyle>
          <a:p xmlns:a="http://schemas.openxmlformats.org/drawingml/2006/main">
            <a:pPr algn="l">
              <a:defRPr sz="2625" b="0">
                <a:solidFill>
                  <a:srgbClr val="FFFEFA"/>
                </a:solidFill>
                <a:latin typeface="Georgia"/>
                <a:ea typeface="Georgia"/>
                <a:cs typeface="Georgia"/>
              </a:defRPr>
            </a:pPr>
            <a:r>
              <a:rPr sz="2625" b="0">
                <a:solidFill>
                  <a:srgbClr val="FFFEFA"/>
                </a:solidFill>
                <a:latin typeface="Georgia"/>
                <a:ea typeface="Georgia"/>
                <a:cs typeface="Georgia"/>
              </a:rPr>
              <a:t>Ask before advising</a:t>
            </a:r>
          </a:p>
        </p:txBody>
      </p:sp>
      <p:sp>
        <p:nvSpPr>
          <p:cNvPr id="19" name="abstain-copy">
            <a:extLst xmlns:a="http://schemas.openxmlformats.org/drawingml/2006/main">
              <a:ext uri="{FF2B5EF4-FFF2-40B4-BE49-F238E27FC236}">
                <a16:creationId xmlns:a16="http://schemas.microsoft.com/office/drawing/2014/main" id="{A8D002B5-87F4-49F1-8003-B1EBEF202341}"/>
              </a:ext>
            </a:extLst>
          </p:cNvPr>
          <p:cNvSpPr>
            <a:spLocks xmlns:a="http://schemas.openxmlformats.org/drawingml/2006/main" noGrp="1"/>
          </p:cNvSpPr>
          <p:nvPr/>
        </p:nvSpPr>
        <p:spPr>
          <a:xfrm xmlns:a="http://schemas.openxmlformats.org/drawingml/2006/main">
            <a:off x="6762750" y="40576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7E0D5"/>
                </a:solidFill>
                <a:latin typeface="Arial"/>
                <a:ea typeface="Arial"/>
                <a:cs typeface="Arial"/>
              </a:defRPr>
            </a:defPPr>
            <a:lvl1pPr algn="l">
              <a:defRPr sz="1425" b="0">
                <a:solidFill>
                  <a:srgbClr val="D7E0D5"/>
                </a:solidFill>
                <a:latin typeface="Arial"/>
                <a:ea typeface="Arial"/>
                <a:cs typeface="Arial"/>
              </a:defRPr>
            </a:lvl1pPr>
            <a:lvl2pPr algn="l">
              <a:defRPr sz="1425" b="0">
                <a:solidFill>
                  <a:srgbClr val="D7E0D5"/>
                </a:solidFill>
                <a:latin typeface="Arial"/>
                <a:ea typeface="Arial"/>
                <a:cs typeface="Arial"/>
              </a:defRPr>
            </a:lvl2pPr>
            <a:lvl3pPr algn="l">
              <a:defRPr sz="1425" b="0">
                <a:solidFill>
                  <a:srgbClr val="D7E0D5"/>
                </a:solidFill>
                <a:latin typeface="Arial"/>
                <a:ea typeface="Arial"/>
                <a:cs typeface="Arial"/>
              </a:defRPr>
            </a:lvl3pPr>
            <a:lvl4pPr algn="l">
              <a:defRPr sz="1425" b="0">
                <a:solidFill>
                  <a:srgbClr val="D7E0D5"/>
                </a:solidFill>
                <a:latin typeface="Arial"/>
                <a:ea typeface="Arial"/>
                <a:cs typeface="Arial"/>
              </a:defRPr>
            </a:lvl4pPr>
            <a:lvl5pPr algn="l">
              <a:defRPr sz="1425" b="0">
                <a:solidFill>
                  <a:srgbClr val="D7E0D5"/>
                </a:solidFill>
                <a:latin typeface="Arial"/>
                <a:ea typeface="Arial"/>
                <a:cs typeface="Arial"/>
              </a:defRPr>
            </a:lvl5pPr>
            <a:lvl6pPr algn="l">
              <a:defRPr sz="1425" b="0">
                <a:solidFill>
                  <a:srgbClr val="D7E0D5"/>
                </a:solidFill>
                <a:latin typeface="Arial"/>
                <a:ea typeface="Arial"/>
                <a:cs typeface="Arial"/>
              </a:defRPr>
            </a:lvl6pPr>
            <a:lvl7pPr algn="l">
              <a:defRPr sz="1425" b="0">
                <a:solidFill>
                  <a:srgbClr val="D7E0D5"/>
                </a:solidFill>
                <a:latin typeface="Arial"/>
                <a:ea typeface="Arial"/>
                <a:cs typeface="Arial"/>
              </a:defRPr>
            </a:lvl7pPr>
            <a:lvl8pPr algn="l">
              <a:defRPr sz="1425" b="0">
                <a:solidFill>
                  <a:srgbClr val="D7E0D5"/>
                </a:solidFill>
                <a:latin typeface="Arial"/>
                <a:ea typeface="Arial"/>
                <a:cs typeface="Arial"/>
              </a:defRPr>
            </a:lvl8pPr>
            <a:lvl9pPr algn="l">
              <a:defRPr sz="1425" b="0">
                <a:solidFill>
                  <a:srgbClr val="D7E0D5"/>
                </a:solidFill>
                <a:latin typeface="Arial"/>
                <a:ea typeface="Arial"/>
                <a:cs typeface="Arial"/>
              </a:defRPr>
            </a:lvl9pPr>
          </a:lstStyle>
          <a:p xmlns:a="http://schemas.openxmlformats.org/drawingml/2006/main">
            <a:pPr algn="l">
              <a:defRPr sz="1425" b="0">
                <a:solidFill>
                  <a:srgbClr val="D7E0D5"/>
                </a:solidFill>
                <a:latin typeface="Arial"/>
                <a:ea typeface="Arial"/>
                <a:cs typeface="Arial"/>
              </a:defRPr>
            </a:pPr>
            <a:r>
              <a:rPr sz="1425" b="0">
                <a:solidFill>
                  <a:srgbClr val="D7E0D5"/>
                </a:solidFill>
                <a:latin typeface="Arial"/>
                <a:ea typeface="Arial"/>
                <a:cs typeface="Arial"/>
              </a:rPr>
              <a:t>Return no recommendation, name the evidence gap and ask the farmer which input should be corrected.</a:t>
            </a:r>
          </a:p>
        </p:txBody>
      </p:sp>
      <p:sp>
        <p:nvSpPr>
          <p:cNvPr id="20" name="abstain-rule">
            <a:extLst xmlns:a="http://schemas.openxmlformats.org/drawingml/2006/main">
              <a:ext uri="{FF2B5EF4-FFF2-40B4-BE49-F238E27FC236}">
                <a16:creationId xmlns:a16="http://schemas.microsoft.com/office/drawing/2014/main" id="{1030C1A0-57BA-4301-A1E8-D71F9C61B1C9}"/>
              </a:ext>
            </a:extLst>
          </p:cNvPr>
          <p:cNvSpPr>
            <a:spLocks xmlns:a="http://schemas.openxmlformats.org/drawingml/2006/main" noGrp="1"/>
          </p:cNvSpPr>
          <p:nvPr/>
        </p:nvSpPr>
        <p:spPr>
          <a:xfrm xmlns:a="http://schemas.openxmlformats.org/drawingml/2006/main">
            <a:off x="6762750" y="5010150"/>
            <a:ext cx="4238625"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21" name="abstain-computed">
            <a:extLst xmlns:a="http://schemas.openxmlformats.org/drawingml/2006/main">
              <a:ext uri="{FF2B5EF4-FFF2-40B4-BE49-F238E27FC236}">
                <a16:creationId xmlns:a16="http://schemas.microsoft.com/office/drawing/2014/main" id="{E1E44001-4CF6-4327-A222-1BD73E78ED7D}"/>
              </a:ext>
            </a:extLst>
          </p:cNvPr>
          <p:cNvSpPr>
            <a:spLocks xmlns:a="http://schemas.openxmlformats.org/drawingml/2006/main" noGrp="1"/>
          </p:cNvSpPr>
          <p:nvPr/>
        </p:nvSpPr>
        <p:spPr>
          <a:xfrm xmlns:a="http://schemas.openxmlformats.org/drawingml/2006/main">
            <a:off x="6762750" y="5133975"/>
            <a:ext cx="423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D9C99F"/>
                </a:solidFill>
                <a:latin typeface="Arial"/>
                <a:ea typeface="Arial"/>
                <a:cs typeface="Arial"/>
              </a:defRPr>
            </a:defPPr>
            <a:lvl1pPr algn="l">
              <a:defRPr sz="975" b="0">
                <a:solidFill>
                  <a:srgbClr val="D9C99F"/>
                </a:solidFill>
                <a:latin typeface="Arial"/>
                <a:ea typeface="Arial"/>
                <a:cs typeface="Arial"/>
              </a:defRPr>
            </a:lvl1pPr>
            <a:lvl2pPr algn="l">
              <a:defRPr sz="975" b="0">
                <a:solidFill>
                  <a:srgbClr val="D9C99F"/>
                </a:solidFill>
                <a:latin typeface="Arial"/>
                <a:ea typeface="Arial"/>
                <a:cs typeface="Arial"/>
              </a:defRPr>
            </a:lvl2pPr>
            <a:lvl3pPr algn="l">
              <a:defRPr sz="975" b="0">
                <a:solidFill>
                  <a:srgbClr val="D9C99F"/>
                </a:solidFill>
                <a:latin typeface="Arial"/>
                <a:ea typeface="Arial"/>
                <a:cs typeface="Arial"/>
              </a:defRPr>
            </a:lvl3pPr>
            <a:lvl4pPr algn="l">
              <a:defRPr sz="975" b="0">
                <a:solidFill>
                  <a:srgbClr val="D9C99F"/>
                </a:solidFill>
                <a:latin typeface="Arial"/>
                <a:ea typeface="Arial"/>
                <a:cs typeface="Arial"/>
              </a:defRPr>
            </a:lvl4pPr>
            <a:lvl5pPr algn="l">
              <a:defRPr sz="975" b="0">
                <a:solidFill>
                  <a:srgbClr val="D9C99F"/>
                </a:solidFill>
                <a:latin typeface="Arial"/>
                <a:ea typeface="Arial"/>
                <a:cs typeface="Arial"/>
              </a:defRPr>
            </a:lvl5pPr>
            <a:lvl6pPr algn="l">
              <a:defRPr sz="975" b="0">
                <a:solidFill>
                  <a:srgbClr val="D9C99F"/>
                </a:solidFill>
                <a:latin typeface="Arial"/>
                <a:ea typeface="Arial"/>
                <a:cs typeface="Arial"/>
              </a:defRPr>
            </a:lvl6pPr>
            <a:lvl7pPr algn="l">
              <a:defRPr sz="975" b="0">
                <a:solidFill>
                  <a:srgbClr val="D9C99F"/>
                </a:solidFill>
                <a:latin typeface="Arial"/>
                <a:ea typeface="Arial"/>
                <a:cs typeface="Arial"/>
              </a:defRPr>
            </a:lvl7pPr>
            <a:lvl8pPr algn="l">
              <a:defRPr sz="975" b="0">
                <a:solidFill>
                  <a:srgbClr val="D9C99F"/>
                </a:solidFill>
                <a:latin typeface="Arial"/>
                <a:ea typeface="Arial"/>
                <a:cs typeface="Arial"/>
              </a:defRPr>
            </a:lvl8pPr>
            <a:lvl9pPr algn="l">
              <a:defRPr sz="975" b="0">
                <a:solidFill>
                  <a:srgbClr val="D9C99F"/>
                </a:solidFill>
                <a:latin typeface="Arial"/>
                <a:ea typeface="Arial"/>
                <a:cs typeface="Arial"/>
              </a:defRPr>
            </a:lvl9pPr>
          </a:lstStyle>
          <a:p xmlns:a="http://schemas.openxmlformats.org/drawingml/2006/main">
            <a:pPr algn="l">
              <a:defRPr sz="975" b="0">
                <a:solidFill>
                  <a:srgbClr val="D9C99F"/>
                </a:solidFill>
                <a:latin typeface="Arial"/>
                <a:ea typeface="Arial"/>
                <a:cs typeface="Arial"/>
              </a:defRPr>
            </a:pPr>
            <a:r>
              <a:rPr sz="975" b="0">
                <a:solidFill>
                  <a:srgbClr val="D9C99F"/>
                </a:solidFill>
                <a:latin typeface="Arial"/>
                <a:ea typeface="Arial"/>
                <a:cs typeface="Arial"/>
              </a:rPr>
              <a:t>Model wording cannot change the computed action.</a:t>
            </a:r>
          </a:p>
        </p:txBody>
      </p:sp>
      <p:sp>
        <p:nvSpPr>
          <p:cNvPr id="22" name="guardrail-caption">
            <a:extLst xmlns:a="http://schemas.openxmlformats.org/drawingml/2006/main">
              <a:ext uri="{FF2B5EF4-FFF2-40B4-BE49-F238E27FC236}">
                <a16:creationId xmlns:a16="http://schemas.microsoft.com/office/drawing/2014/main" id="{5F20084E-3D7A-4B20-846B-2D268FF60C63}"/>
              </a:ext>
            </a:extLst>
          </p:cNvPr>
          <p:cNvSpPr>
            <a:spLocks xmlns:a="http://schemas.openxmlformats.org/drawingml/2006/main" noGrp="1"/>
          </p:cNvSpPr>
          <p:nvPr/>
        </p:nvSpPr>
        <p:spPr>
          <a:xfrm xmlns:a="http://schemas.openxmlformats.org/drawingml/2006/main">
            <a:off x="6429375" y="5553075"/>
            <a:ext cx="49815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82"/>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Expected value uses a fixed-seed simulation over the cleaned price band and storage-loss distribution. Cash needs reduce the value of options that do not raise cash today.</a:t>
            </a:r>
          </a:p>
        </p:txBody>
      </p:sp>
    </p:spTree>
    <p:extLst>
      <p:ext uri="{BB962C8B-B14F-4D97-AF65-F5344CB8AC3E}">
        <p14:creationId xmlns:p14="http://schemas.microsoft.com/office/powerpoint/2010/main" val="1353708258"/>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8" name="slide-5-index">
            <a:extLst xmlns:a="http://schemas.openxmlformats.org/drawingml/2006/main">
              <a:ext uri="{FF2B5EF4-FFF2-40B4-BE49-F238E27FC236}">
                <a16:creationId xmlns:a16="http://schemas.microsoft.com/office/drawing/2014/main" id="{398BA052-5279-46F1-B82A-77B919069A78}"/>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05</a:t>
            </a:r>
          </a:p>
        </p:txBody>
      </p:sp>
      <p:sp>
        <p:nvSpPr>
          <p:cNvPr id="2" name="slide-5-title">
            <a:extLst xmlns:a="http://schemas.openxmlformats.org/drawingml/2006/main">
              <a:ext uri="{FF2B5EF4-FFF2-40B4-BE49-F238E27FC236}">
                <a16:creationId xmlns:a16="http://schemas.microsoft.com/office/drawing/2014/main" id="{F46E049F-28CD-4194-AE9C-A416A4794E70}"/>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request, a decision record</a:t>
            </a:r>
          </a:p>
        </p:txBody>
      </p:sp>
      <p:sp>
        <p:nvSpPr>
          <p:cNvPr id="3" name="slide-5-subtitle">
            <a:extLst xmlns:a="http://schemas.openxmlformats.org/drawingml/2006/main">
              <a:ext uri="{FF2B5EF4-FFF2-40B4-BE49-F238E27FC236}">
                <a16:creationId xmlns:a16="http://schemas.microsoft.com/office/drawing/2014/main" id="{8BFA9681-8338-44B3-84B1-A2631DE5D169}"/>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UI sends the same fields the service validates and shows the returned evidence.</a:t>
            </a:r>
          </a:p>
        </p:txBody>
      </p:sp>
      <p:sp>
        <p:nvSpPr>
          <p:cNvPr id="4" name="slide-5-header-rule">
            <a:extLst xmlns:a="http://schemas.openxmlformats.org/drawingml/2006/main">
              <a:ext uri="{FF2B5EF4-FFF2-40B4-BE49-F238E27FC236}">
                <a16:creationId xmlns:a16="http://schemas.microsoft.com/office/drawing/2014/main" id="{5711273A-0CF0-414D-9DF6-9BC3DF1CD4C8}"/>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duct-input-eyebrow">
            <a:extLst xmlns:a="http://schemas.openxmlformats.org/drawingml/2006/main">
              <a:ext uri="{FF2B5EF4-FFF2-40B4-BE49-F238E27FC236}">
                <a16:creationId xmlns:a16="http://schemas.microsoft.com/office/drawing/2014/main" id="{92D0612F-A75B-4FA7-A7B8-02299F2C19B5}"/>
              </a:ext>
            </a:extLst>
          </p:cNvPr>
          <p:cNvSpPr>
            <a:spLocks xmlns:a="http://schemas.openxmlformats.org/drawingml/2006/main" noGrp="1"/>
          </p:cNvSpPr>
          <p:nvPr/>
        </p:nvSpPr>
        <p:spPr>
          <a:xfrm xmlns:a="http://schemas.openxmlformats.org/drawingml/2006/main">
            <a:off x="781050" y="24765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FARMER INPUT</a:t>
            </a:r>
          </a:p>
        </p:txBody>
      </p:sp>
      <p:sp>
        <p:nvSpPr>
          <p:cNvPr id="6" name="product-input-title">
            <a:extLst xmlns:a="http://schemas.openxmlformats.org/drawingml/2006/main">
              <a:ext uri="{FF2B5EF4-FFF2-40B4-BE49-F238E27FC236}">
                <a16:creationId xmlns:a16="http://schemas.microsoft.com/office/drawing/2014/main" id="{C79BA0A2-7A8D-402F-A73E-B8CCAC7335FF}"/>
              </a:ext>
            </a:extLst>
          </p:cNvPr>
          <p:cNvSpPr>
            <a:spLocks xmlns:a="http://schemas.openxmlformats.org/drawingml/2006/main" noGrp="1"/>
          </p:cNvSpPr>
          <p:nvPr/>
        </p:nvSpPr>
        <p:spPr>
          <a:xfrm xmlns:a="http://schemas.openxmlformats.org/drawingml/2006/main">
            <a:off x="781050" y="2819400"/>
            <a:ext cx="4143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Describe the lot</a:t>
            </a:r>
          </a:p>
        </p:txBody>
      </p:sp>
      <p:sp>
        <p:nvSpPr>
          <p:cNvPr id="7" name="product-input-copy">
            <a:extLst xmlns:a="http://schemas.openxmlformats.org/drawingml/2006/main">
              <a:ext uri="{FF2B5EF4-FFF2-40B4-BE49-F238E27FC236}">
                <a16:creationId xmlns:a16="http://schemas.microsoft.com/office/drawing/2014/main" id="{B5E7FA47-03B4-4455-9296-084EE1BD5124}"/>
              </a:ext>
            </a:extLst>
          </p:cNvPr>
          <p:cNvSpPr>
            <a:spLocks xmlns:a="http://schemas.openxmlformats.org/drawingml/2006/main" noGrp="1"/>
          </p:cNvSpPr>
          <p:nvPr/>
        </p:nvSpPr>
        <p:spPr>
          <a:xfrm xmlns:a="http://schemas.openxmlformats.org/drawingml/2006/main">
            <a:off x="781050" y="3448050"/>
            <a:ext cx="3857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Farmer record ID</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and number of 90 kg bags</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Storage type</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Optional buyer offer and cash need</a:t>
            </a:r>
          </a:p>
        </p:txBody>
      </p:sp>
      <p:sp>
        <p:nvSpPr>
          <p:cNvPr id="8" name="product-mid-rule">
            <a:extLst xmlns:a="http://schemas.openxmlformats.org/drawingml/2006/main">
              <a:ext uri="{FF2B5EF4-FFF2-40B4-BE49-F238E27FC236}">
                <a16:creationId xmlns:a16="http://schemas.microsoft.com/office/drawing/2014/main" id="{0ABD0666-B7B1-4958-A450-28B912E15A59}"/>
              </a:ext>
            </a:extLst>
          </p:cNvPr>
          <p:cNvSpPr>
            <a:spLocks xmlns:a="http://schemas.openxmlformats.org/drawingml/2006/main" noGrp="1"/>
          </p:cNvSpPr>
          <p:nvPr/>
        </p:nvSpPr>
        <p:spPr>
          <a:xfrm xmlns:a="http://schemas.openxmlformats.org/drawingml/2006/main">
            <a:off x="5372100" y="244792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product-output-eyebrow">
            <a:extLst xmlns:a="http://schemas.openxmlformats.org/drawingml/2006/main">
              <a:ext uri="{FF2B5EF4-FFF2-40B4-BE49-F238E27FC236}">
                <a16:creationId xmlns:a16="http://schemas.microsoft.com/office/drawing/2014/main" id="{257A3624-661F-4699-B5F6-F41693274013}"/>
              </a:ext>
            </a:extLst>
          </p:cNvPr>
          <p:cNvSpPr>
            <a:spLocks xmlns:a="http://schemas.openxmlformats.org/drawingml/2006/main" noGrp="1"/>
          </p:cNvSpPr>
          <p:nvPr/>
        </p:nvSpPr>
        <p:spPr>
          <a:xfrm xmlns:a="http://schemas.openxmlformats.org/drawingml/2006/main">
            <a:off x="5876925" y="24765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RETURNED BY THE SERVICE</a:t>
            </a:r>
          </a:p>
        </p:txBody>
      </p:sp>
      <p:sp>
        <p:nvSpPr>
          <p:cNvPr id="10" name="product-output-title">
            <a:extLst xmlns:a="http://schemas.openxmlformats.org/drawingml/2006/main">
              <a:ext uri="{FF2B5EF4-FFF2-40B4-BE49-F238E27FC236}">
                <a16:creationId xmlns:a16="http://schemas.microsoft.com/office/drawing/2014/main" id="{FFE08231-B037-4E1A-87A0-9AFE632F29EC}"/>
              </a:ext>
            </a:extLst>
          </p:cNvPr>
          <p:cNvSpPr>
            <a:spLocks xmlns:a="http://schemas.openxmlformats.org/drawingml/2006/main" noGrp="1"/>
          </p:cNvSpPr>
          <p:nvPr/>
        </p:nvSpPr>
        <p:spPr>
          <a:xfrm xmlns:a="http://schemas.openxmlformats.org/drawingml/2006/main">
            <a:off x="5876925" y="2819400"/>
            <a:ext cx="50958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See how it reached the answer</a:t>
            </a:r>
          </a:p>
        </p:txBody>
      </p:sp>
      <p:sp>
        <p:nvSpPr>
          <p:cNvPr id="11" name="product-output-01-number">
            <a:extLst xmlns:a="http://schemas.openxmlformats.org/drawingml/2006/main">
              <a:ext uri="{FF2B5EF4-FFF2-40B4-BE49-F238E27FC236}">
                <a16:creationId xmlns:a16="http://schemas.microsoft.com/office/drawing/2014/main" id="{1156B9FC-751B-4A17-9510-A7EE85E1A9DF}"/>
              </a:ext>
            </a:extLst>
          </p:cNvPr>
          <p:cNvSpPr>
            <a:spLocks xmlns:a="http://schemas.openxmlformats.org/drawingml/2006/main" noGrp="1"/>
          </p:cNvSpPr>
          <p:nvPr/>
        </p:nvSpPr>
        <p:spPr>
          <a:xfrm xmlns:a="http://schemas.openxmlformats.org/drawingml/2006/main">
            <a:off x="5886450" y="348615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01</a:t>
            </a:r>
          </a:p>
        </p:txBody>
      </p:sp>
      <p:sp>
        <p:nvSpPr>
          <p:cNvPr id="12" name="product-output-01-title">
            <a:extLst xmlns:a="http://schemas.openxmlformats.org/drawingml/2006/main">
              <a:ext uri="{FF2B5EF4-FFF2-40B4-BE49-F238E27FC236}">
                <a16:creationId xmlns:a16="http://schemas.microsoft.com/office/drawing/2014/main" id="{9F1E251B-DD7F-4668-86FB-A91706B2E340}"/>
              </a:ext>
            </a:extLst>
          </p:cNvPr>
          <p:cNvSpPr>
            <a:spLocks xmlns:a="http://schemas.openxmlformats.org/drawingml/2006/main" noGrp="1"/>
          </p:cNvSpPr>
          <p:nvPr/>
        </p:nvSpPr>
        <p:spPr>
          <a:xfrm xmlns:a="http://schemas.openxmlformats.org/drawingml/2006/main">
            <a:off x="6315075" y="348615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Decision values</a:t>
            </a:r>
          </a:p>
        </p:txBody>
      </p:sp>
      <p:sp>
        <p:nvSpPr>
          <p:cNvPr id="13" name="product-output-01-body">
            <a:extLst xmlns:a="http://schemas.openxmlformats.org/drawingml/2006/main">
              <a:ext uri="{FF2B5EF4-FFF2-40B4-BE49-F238E27FC236}">
                <a16:creationId xmlns:a16="http://schemas.microsoft.com/office/drawing/2014/main" id="{405D635F-DA6B-4E83-BFE7-7A6DFF26D3C6}"/>
              </a:ext>
            </a:extLst>
          </p:cNvPr>
          <p:cNvSpPr>
            <a:spLocks xmlns:a="http://schemas.openxmlformats.org/drawingml/2006/main" noGrp="1"/>
          </p:cNvSpPr>
          <p:nvPr/>
        </p:nvSpPr>
        <p:spPr>
          <a:xfrm xmlns:a="http://schemas.openxmlformats.org/drawingml/2006/main">
            <a:off x="8105775" y="34861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Modeled sell, hold and split values</a:t>
            </a:r>
          </a:p>
        </p:txBody>
      </p:sp>
      <p:sp>
        <p:nvSpPr>
          <p:cNvPr id="14" name="product-output-01-rule">
            <a:extLst xmlns:a="http://schemas.openxmlformats.org/drawingml/2006/main">
              <a:ext uri="{FF2B5EF4-FFF2-40B4-BE49-F238E27FC236}">
                <a16:creationId xmlns:a16="http://schemas.microsoft.com/office/drawing/2014/main" id="{F85A5BC9-0DBC-4323-A576-FA1656936F67}"/>
              </a:ext>
            </a:extLst>
          </p:cNvPr>
          <p:cNvSpPr>
            <a:spLocks xmlns:a="http://schemas.openxmlformats.org/drawingml/2006/main" noGrp="1"/>
          </p:cNvSpPr>
          <p:nvPr/>
        </p:nvSpPr>
        <p:spPr>
          <a:xfrm xmlns:a="http://schemas.openxmlformats.org/drawingml/2006/main">
            <a:off x="5886450" y="390525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5" name="product-output-02-number">
            <a:extLst xmlns:a="http://schemas.openxmlformats.org/drawingml/2006/main">
              <a:ext uri="{FF2B5EF4-FFF2-40B4-BE49-F238E27FC236}">
                <a16:creationId xmlns:a16="http://schemas.microsoft.com/office/drawing/2014/main" id="{AB466C7E-43BE-4C41-8C4D-9A08C7987606}"/>
              </a:ext>
            </a:extLst>
          </p:cNvPr>
          <p:cNvSpPr>
            <a:spLocks xmlns:a="http://schemas.openxmlformats.org/drawingml/2006/main" noGrp="1"/>
          </p:cNvSpPr>
          <p:nvPr/>
        </p:nvSpPr>
        <p:spPr>
          <a:xfrm xmlns:a="http://schemas.openxmlformats.org/drawingml/2006/main">
            <a:off x="5886450" y="408622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02</a:t>
            </a:r>
          </a:p>
        </p:txBody>
      </p:sp>
      <p:sp>
        <p:nvSpPr>
          <p:cNvPr id="16" name="product-output-02-title">
            <a:extLst xmlns:a="http://schemas.openxmlformats.org/drawingml/2006/main">
              <a:ext uri="{FF2B5EF4-FFF2-40B4-BE49-F238E27FC236}">
                <a16:creationId xmlns:a16="http://schemas.microsoft.com/office/drawing/2014/main" id="{24928699-038B-4768-A142-F6D5AD62E724}"/>
              </a:ext>
            </a:extLst>
          </p:cNvPr>
          <p:cNvSpPr>
            <a:spLocks xmlns:a="http://schemas.openxmlformats.org/drawingml/2006/main" noGrp="1"/>
          </p:cNvSpPr>
          <p:nvPr/>
        </p:nvSpPr>
        <p:spPr>
          <a:xfrm xmlns:a="http://schemas.openxmlformats.org/drawingml/2006/main">
            <a:off x="6315075" y="408622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Price band</a:t>
            </a:r>
          </a:p>
        </p:txBody>
      </p:sp>
      <p:sp>
        <p:nvSpPr>
          <p:cNvPr id="17" name="product-output-02-body">
            <a:extLst xmlns:a="http://schemas.openxmlformats.org/drawingml/2006/main">
              <a:ext uri="{FF2B5EF4-FFF2-40B4-BE49-F238E27FC236}">
                <a16:creationId xmlns:a16="http://schemas.microsoft.com/office/drawing/2014/main" id="{FCDB771A-E6BE-4E8C-A588-E35DEAC1E1DE}"/>
              </a:ext>
            </a:extLst>
          </p:cNvPr>
          <p:cNvSpPr>
            <a:spLocks xmlns:a="http://schemas.openxmlformats.org/drawingml/2006/main" noGrp="1"/>
          </p:cNvSpPr>
          <p:nvPr/>
        </p:nvSpPr>
        <p:spPr>
          <a:xfrm xmlns:a="http://schemas.openxmlformats.org/drawingml/2006/main">
            <a:off x="8105775" y="4086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P10, P50 and P90 per 90 kg bag</a:t>
            </a:r>
          </a:p>
        </p:txBody>
      </p:sp>
      <p:sp>
        <p:nvSpPr>
          <p:cNvPr id="18" name="product-output-02-rule">
            <a:extLst xmlns:a="http://schemas.openxmlformats.org/drawingml/2006/main">
              <a:ext uri="{FF2B5EF4-FFF2-40B4-BE49-F238E27FC236}">
                <a16:creationId xmlns:a16="http://schemas.microsoft.com/office/drawing/2014/main" id="{50517C3E-3008-4F19-B907-66A49FAD54BE}"/>
              </a:ext>
            </a:extLst>
          </p:cNvPr>
          <p:cNvSpPr>
            <a:spLocks xmlns:a="http://schemas.openxmlformats.org/drawingml/2006/main" noGrp="1"/>
          </p:cNvSpPr>
          <p:nvPr/>
        </p:nvSpPr>
        <p:spPr>
          <a:xfrm xmlns:a="http://schemas.openxmlformats.org/drawingml/2006/main">
            <a:off x="5886450" y="4505325"/>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9" name="product-output-03-number">
            <a:extLst xmlns:a="http://schemas.openxmlformats.org/drawingml/2006/main">
              <a:ext uri="{FF2B5EF4-FFF2-40B4-BE49-F238E27FC236}">
                <a16:creationId xmlns:a16="http://schemas.microsoft.com/office/drawing/2014/main" id="{48E61266-CCBC-4CF8-B8CE-FB8935EE1229}"/>
              </a:ext>
            </a:extLst>
          </p:cNvPr>
          <p:cNvSpPr>
            <a:spLocks xmlns:a="http://schemas.openxmlformats.org/drawingml/2006/main" noGrp="1"/>
          </p:cNvSpPr>
          <p:nvPr/>
        </p:nvSpPr>
        <p:spPr>
          <a:xfrm xmlns:a="http://schemas.openxmlformats.org/drawingml/2006/main">
            <a:off x="5886450" y="46863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03</a:t>
            </a:r>
          </a:p>
        </p:txBody>
      </p:sp>
      <p:sp>
        <p:nvSpPr>
          <p:cNvPr id="20" name="product-output-03-title">
            <a:extLst xmlns:a="http://schemas.openxmlformats.org/drawingml/2006/main">
              <a:ext uri="{FF2B5EF4-FFF2-40B4-BE49-F238E27FC236}">
                <a16:creationId xmlns:a16="http://schemas.microsoft.com/office/drawing/2014/main" id="{528A5DF1-84CB-4034-870B-FC47B5E0EA24}"/>
              </a:ext>
            </a:extLst>
          </p:cNvPr>
          <p:cNvSpPr>
            <a:spLocks xmlns:a="http://schemas.openxmlformats.org/drawingml/2006/main" noGrp="1"/>
          </p:cNvSpPr>
          <p:nvPr/>
        </p:nvSpPr>
        <p:spPr>
          <a:xfrm xmlns:a="http://schemas.openxmlformats.org/drawingml/2006/main">
            <a:off x="6315075" y="468630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Evidence</a:t>
            </a:r>
          </a:p>
        </p:txBody>
      </p:sp>
      <p:sp>
        <p:nvSpPr>
          <p:cNvPr id="21" name="product-output-03-body">
            <a:extLst xmlns:a="http://schemas.openxmlformats.org/drawingml/2006/main">
              <a:ext uri="{FF2B5EF4-FFF2-40B4-BE49-F238E27FC236}">
                <a16:creationId xmlns:a16="http://schemas.microsoft.com/office/drawing/2014/main" id="{B94A4E8F-95E5-455A-8078-440B99D21007}"/>
              </a:ext>
            </a:extLst>
          </p:cNvPr>
          <p:cNvSpPr>
            <a:spLocks xmlns:a="http://schemas.openxmlformats.org/drawingml/2006/main" noGrp="1"/>
          </p:cNvSpPr>
          <p:nvPr/>
        </p:nvSpPr>
        <p:spPr>
          <a:xfrm xmlns:a="http://schemas.openxmlformats.org/drawingml/2006/main">
            <a:off x="8105775" y="4686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Source, date and freshness</a:t>
            </a:r>
          </a:p>
        </p:txBody>
      </p:sp>
      <p:sp>
        <p:nvSpPr>
          <p:cNvPr id="22" name="product-output-03-rule">
            <a:extLst xmlns:a="http://schemas.openxmlformats.org/drawingml/2006/main">
              <a:ext uri="{FF2B5EF4-FFF2-40B4-BE49-F238E27FC236}">
                <a16:creationId xmlns:a16="http://schemas.microsoft.com/office/drawing/2014/main" id="{855F0D01-8EDF-472F-88FE-AE7035E14FA9}"/>
              </a:ext>
            </a:extLst>
          </p:cNvPr>
          <p:cNvSpPr>
            <a:spLocks xmlns:a="http://schemas.openxmlformats.org/drawingml/2006/main" noGrp="1"/>
          </p:cNvSpPr>
          <p:nvPr/>
        </p:nvSpPr>
        <p:spPr>
          <a:xfrm xmlns:a="http://schemas.openxmlformats.org/drawingml/2006/main">
            <a:off x="5886450" y="510540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3" name="product-output-04-number">
            <a:extLst xmlns:a="http://schemas.openxmlformats.org/drawingml/2006/main">
              <a:ext uri="{FF2B5EF4-FFF2-40B4-BE49-F238E27FC236}">
                <a16:creationId xmlns:a16="http://schemas.microsoft.com/office/drawing/2014/main" id="{6302F6D2-F44D-40ED-BDF2-FB43A814D8C8}"/>
              </a:ext>
            </a:extLst>
          </p:cNvPr>
          <p:cNvSpPr>
            <a:spLocks xmlns:a="http://schemas.openxmlformats.org/drawingml/2006/main" noGrp="1"/>
          </p:cNvSpPr>
          <p:nvPr/>
        </p:nvSpPr>
        <p:spPr>
          <a:xfrm xmlns:a="http://schemas.openxmlformats.org/drawingml/2006/main">
            <a:off x="5886450" y="528637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04</a:t>
            </a:r>
          </a:p>
        </p:txBody>
      </p:sp>
      <p:sp>
        <p:nvSpPr>
          <p:cNvPr id="24" name="product-output-04-title">
            <a:extLst xmlns:a="http://schemas.openxmlformats.org/drawingml/2006/main">
              <a:ext uri="{FF2B5EF4-FFF2-40B4-BE49-F238E27FC236}">
                <a16:creationId xmlns:a16="http://schemas.microsoft.com/office/drawing/2014/main" id="{ED2FE2B1-0002-4078-9ED9-3EC2127E1C97}"/>
              </a:ext>
            </a:extLst>
          </p:cNvPr>
          <p:cNvSpPr>
            <a:spLocks xmlns:a="http://schemas.openxmlformats.org/drawingml/2006/main" noGrp="1"/>
          </p:cNvSpPr>
          <p:nvPr/>
        </p:nvSpPr>
        <p:spPr>
          <a:xfrm xmlns:a="http://schemas.openxmlformats.org/drawingml/2006/main">
            <a:off x="6315075" y="528637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Review record</a:t>
            </a:r>
          </a:p>
        </p:txBody>
      </p:sp>
      <p:sp>
        <p:nvSpPr>
          <p:cNvPr id="25" name="product-output-04-body">
            <a:extLst xmlns:a="http://schemas.openxmlformats.org/drawingml/2006/main">
              <a:ext uri="{FF2B5EF4-FFF2-40B4-BE49-F238E27FC236}">
                <a16:creationId xmlns:a16="http://schemas.microsoft.com/office/drawing/2014/main" id="{FAE5C071-D08B-4C5A-9228-38EDCDF33874}"/>
              </a:ext>
            </a:extLst>
          </p:cNvPr>
          <p:cNvSpPr>
            <a:spLocks xmlns:a="http://schemas.openxmlformats.org/drawingml/2006/main" noGrp="1"/>
          </p:cNvSpPr>
          <p:nvPr/>
        </p:nvSpPr>
        <p:spPr>
          <a:xfrm xmlns:a="http://schemas.openxmlformats.org/drawingml/2006/main">
            <a:off x="8105775" y="5286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Agent trace, limitations and recheck timing</a:t>
            </a:r>
          </a:p>
        </p:txBody>
      </p:sp>
      <p:sp>
        <p:nvSpPr>
          <p:cNvPr id="26" name="product-disclaimer-mark">
            <a:extLst xmlns:a="http://schemas.openxmlformats.org/drawingml/2006/main">
              <a:ext uri="{FF2B5EF4-FFF2-40B4-BE49-F238E27FC236}">
                <a16:creationId xmlns:a16="http://schemas.microsoft.com/office/drawing/2014/main" id="{D0B0CF32-01E9-4236-A138-E72D32BB0552}"/>
              </a:ext>
            </a:extLst>
          </p:cNvPr>
          <p:cNvSpPr>
            <a:spLocks xmlns:a="http://schemas.openxmlformats.org/drawingml/2006/main" noGrp="1"/>
          </p:cNvSpPr>
          <p:nvPr/>
        </p:nvSpPr>
        <p:spPr>
          <a:xfrm xmlns:a="http://schemas.openxmlformats.org/drawingml/2006/main">
            <a:off x="781050" y="5629275"/>
            <a:ext cx="38100" cy="400050"/>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7" name="product-disclaimer">
            <a:extLst xmlns:a="http://schemas.openxmlformats.org/drawingml/2006/main">
              <a:ext uri="{FF2B5EF4-FFF2-40B4-BE49-F238E27FC236}">
                <a16:creationId xmlns:a16="http://schemas.microsoft.com/office/drawing/2014/main" id="{546731B0-B5D5-420C-B976-A1F0DD2C2BB7}"/>
              </a:ext>
            </a:extLst>
          </p:cNvPr>
          <p:cNvSpPr>
            <a:spLocks xmlns:a="http://schemas.openxmlformats.org/drawingml/2006/main" noGrp="1"/>
          </p:cNvSpPr>
          <p:nvPr/>
        </p:nvSpPr>
        <p:spPr>
          <a:xfrm xmlns:a="http://schemas.openxmlformats.org/drawingml/2006/main">
            <a:off x="962025" y="5610225"/>
            <a:ext cx="1009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Decision support only. Modeled values are scenarios, not realized earnings. No trade is placed; sample records are labeled.</a:t>
            </a:r>
          </a:p>
        </p:txBody>
      </p:sp>
    </p:spTree>
    <p:extLst>
      <p:ext uri="{BB962C8B-B14F-4D97-AF65-F5344CB8AC3E}">
        <p14:creationId xmlns:p14="http://schemas.microsoft.com/office/powerpoint/2010/main" val="1189369506"/>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6-index">
            <a:extLst xmlns:a="http://schemas.openxmlformats.org/drawingml/2006/main">
              <a:ext uri="{FF2B5EF4-FFF2-40B4-BE49-F238E27FC236}">
                <a16:creationId xmlns:a16="http://schemas.microsoft.com/office/drawing/2014/main" id="{2D7FEE89-46BF-4042-98B3-76946BE42970}"/>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06</a:t>
            </a:r>
          </a:p>
        </p:txBody>
      </p:sp>
      <p:sp>
        <p:nvSpPr>
          <p:cNvPr id="2" name="slide-6-title">
            <a:extLst xmlns:a="http://schemas.openxmlformats.org/drawingml/2006/main">
              <a:ext uri="{FF2B5EF4-FFF2-40B4-BE49-F238E27FC236}">
                <a16:creationId xmlns:a16="http://schemas.microsoft.com/office/drawing/2014/main" id="{20033AAE-DF03-460E-A1F4-AA28D89243B9}"/>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Sponsor tools support the working loop</a:t>
            </a:r>
          </a:p>
        </p:txBody>
      </p:sp>
      <p:sp>
        <p:nvSpPr>
          <p:cNvPr id="3" name="slide-6-subtitle">
            <a:extLst xmlns:a="http://schemas.openxmlformats.org/drawingml/2006/main">
              <a:ext uri="{FF2B5EF4-FFF2-40B4-BE49-F238E27FC236}">
                <a16:creationId xmlns:a16="http://schemas.microsoft.com/office/drawing/2014/main" id="{B65E3232-DB48-4951-84AE-D5475A2F60A2}"/>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distinctive part is how evidence, memory and review govern the recommendation.</a:t>
            </a:r>
          </a:p>
        </p:txBody>
      </p:sp>
      <p:sp>
        <p:nvSpPr>
          <p:cNvPr id="4" name="slide-6-header-rule">
            <a:extLst xmlns:a="http://schemas.openxmlformats.org/drawingml/2006/main">
              <a:ext uri="{FF2B5EF4-FFF2-40B4-BE49-F238E27FC236}">
                <a16:creationId xmlns:a16="http://schemas.microsoft.com/office/drawing/2014/main" id="{7AFC7128-7857-4352-B8D2-F5D7DB152A8C}"/>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tech-1-mark">
            <a:extLst xmlns:a="http://schemas.openxmlformats.org/drawingml/2006/main">
              <a:ext uri="{FF2B5EF4-FFF2-40B4-BE49-F238E27FC236}">
                <a16:creationId xmlns:a16="http://schemas.microsoft.com/office/drawing/2014/main" id="{64C8A669-E9E7-4E06-B550-0254F2A24F6A}"/>
              </a:ext>
            </a:extLst>
          </p:cNvPr>
          <p:cNvSpPr>
            <a:spLocks xmlns:a="http://schemas.openxmlformats.org/drawingml/2006/main" noGrp="1"/>
          </p:cNvSpPr>
          <p:nvPr/>
        </p:nvSpPr>
        <p:spPr>
          <a:xfrm xmlns:a="http://schemas.openxmlformats.org/drawingml/2006/main">
            <a:off x="790575" y="240030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4724E"/>
                </a:solidFill>
                <a:latin typeface="Arial"/>
                <a:ea typeface="Arial"/>
                <a:cs typeface="Arial"/>
              </a:defRPr>
            </a:defPPr>
            <a:lvl1pPr algn="l">
              <a:defRPr sz="825" b="1">
                <a:solidFill>
                  <a:srgbClr val="44724E"/>
                </a:solidFill>
                <a:latin typeface="Arial"/>
                <a:ea typeface="Arial"/>
                <a:cs typeface="Arial"/>
              </a:defRPr>
            </a:lvl1pPr>
            <a:lvl2pPr algn="l">
              <a:defRPr sz="825" b="1">
                <a:solidFill>
                  <a:srgbClr val="44724E"/>
                </a:solidFill>
                <a:latin typeface="Arial"/>
                <a:ea typeface="Arial"/>
                <a:cs typeface="Arial"/>
              </a:defRPr>
            </a:lvl2pPr>
            <a:lvl3pPr algn="l">
              <a:defRPr sz="825" b="1">
                <a:solidFill>
                  <a:srgbClr val="44724E"/>
                </a:solidFill>
                <a:latin typeface="Arial"/>
                <a:ea typeface="Arial"/>
                <a:cs typeface="Arial"/>
              </a:defRPr>
            </a:lvl3pPr>
            <a:lvl4pPr algn="l">
              <a:defRPr sz="825" b="1">
                <a:solidFill>
                  <a:srgbClr val="44724E"/>
                </a:solidFill>
                <a:latin typeface="Arial"/>
                <a:ea typeface="Arial"/>
                <a:cs typeface="Arial"/>
              </a:defRPr>
            </a:lvl4pPr>
            <a:lvl5pPr algn="l">
              <a:defRPr sz="825" b="1">
                <a:solidFill>
                  <a:srgbClr val="44724E"/>
                </a:solidFill>
                <a:latin typeface="Arial"/>
                <a:ea typeface="Arial"/>
                <a:cs typeface="Arial"/>
              </a:defRPr>
            </a:lvl5pPr>
            <a:lvl6pPr algn="l">
              <a:defRPr sz="825" b="1">
                <a:solidFill>
                  <a:srgbClr val="44724E"/>
                </a:solidFill>
                <a:latin typeface="Arial"/>
                <a:ea typeface="Arial"/>
                <a:cs typeface="Arial"/>
              </a:defRPr>
            </a:lvl6pPr>
            <a:lvl7pPr algn="l">
              <a:defRPr sz="825" b="1">
                <a:solidFill>
                  <a:srgbClr val="44724E"/>
                </a:solidFill>
                <a:latin typeface="Arial"/>
                <a:ea typeface="Arial"/>
                <a:cs typeface="Arial"/>
              </a:defRPr>
            </a:lvl7pPr>
            <a:lvl8pPr algn="l">
              <a:defRPr sz="825" b="1">
                <a:solidFill>
                  <a:srgbClr val="44724E"/>
                </a:solidFill>
                <a:latin typeface="Arial"/>
                <a:ea typeface="Arial"/>
                <a:cs typeface="Arial"/>
              </a:defRPr>
            </a:lvl8pPr>
            <a:lvl9pPr algn="l">
              <a:defRPr sz="825" b="1">
                <a:solidFill>
                  <a:srgbClr val="44724E"/>
                </a:solidFill>
                <a:latin typeface="Arial"/>
                <a:ea typeface="Arial"/>
                <a:cs typeface="Arial"/>
              </a:defRPr>
            </a:lvl9pPr>
          </a:lstStyle>
          <a:p xmlns:a="http://schemas.openxmlformats.org/drawingml/2006/main">
            <a:pPr algn="l">
              <a:defRPr sz="825" b="1">
                <a:solidFill>
                  <a:srgbClr val="44724E"/>
                </a:solidFill>
                <a:latin typeface="Arial"/>
                <a:ea typeface="Arial"/>
                <a:cs typeface="Arial"/>
              </a:defRPr>
            </a:pPr>
            <a:r>
              <a:rPr sz="825" b="1">
                <a:solidFill>
                  <a:srgbClr val="44724E"/>
                </a:solidFill>
                <a:latin typeface="Arial"/>
                <a:ea typeface="Arial"/>
                <a:cs typeface="Arial"/>
              </a:rPr>
              <a:t>LIVE SQL</a:t>
            </a:r>
          </a:p>
        </p:txBody>
      </p:sp>
      <p:sp>
        <p:nvSpPr>
          <p:cNvPr id="6" name="tech-1-title">
            <a:extLst xmlns:a="http://schemas.openxmlformats.org/drawingml/2006/main">
              <a:ext uri="{FF2B5EF4-FFF2-40B4-BE49-F238E27FC236}">
                <a16:creationId xmlns:a16="http://schemas.microsoft.com/office/drawing/2014/main" id="{A83DD192-A7A3-47DC-B93F-8C7A2F3A074C}"/>
              </a:ext>
            </a:extLst>
          </p:cNvPr>
          <p:cNvSpPr>
            <a:spLocks xmlns:a="http://schemas.openxmlformats.org/drawingml/2006/main" noGrp="1"/>
          </p:cNvSpPr>
          <p:nvPr/>
        </p:nvSpPr>
        <p:spPr>
          <a:xfrm xmlns:a="http://schemas.openxmlformats.org/drawingml/2006/main">
            <a:off x="790575" y="26574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Zetaris</a:t>
            </a:r>
          </a:p>
        </p:txBody>
      </p:sp>
      <p:sp>
        <p:nvSpPr>
          <p:cNvPr id="7" name="tech-1-body">
            <a:extLst xmlns:a="http://schemas.openxmlformats.org/drawingml/2006/main">
              <a:ext uri="{FF2B5EF4-FFF2-40B4-BE49-F238E27FC236}">
                <a16:creationId xmlns:a16="http://schemas.microsoft.com/office/drawing/2014/main" id="{F97073A8-531B-4A19-BC59-604C5F3BE1F0}"/>
              </a:ext>
            </a:extLst>
          </p:cNvPr>
          <p:cNvSpPr>
            <a:spLocks xmlns:a="http://schemas.openxmlformats.org/drawingml/2006/main" noGrp="1"/>
          </p:cNvSpPr>
          <p:nvPr/>
        </p:nvSpPr>
        <p:spPr>
          <a:xfrm xmlns:a="http://schemas.openxmlformats.org/drawingml/2006/main">
            <a:off x="3352800" y="243840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Typed SQL reads prices, weather, news, storage rules and farmer history from the five maize views.</a:t>
            </a:r>
          </a:p>
        </p:txBody>
      </p:sp>
      <p:sp>
        <p:nvSpPr>
          <p:cNvPr id="8" name="tech-1-rule">
            <a:extLst xmlns:a="http://schemas.openxmlformats.org/drawingml/2006/main">
              <a:ext uri="{FF2B5EF4-FFF2-40B4-BE49-F238E27FC236}">
                <a16:creationId xmlns:a16="http://schemas.microsoft.com/office/drawing/2014/main" id="{3CD9409D-BFDA-4F0B-9BC0-554BFC54274B}"/>
              </a:ext>
            </a:extLst>
          </p:cNvPr>
          <p:cNvSpPr>
            <a:spLocks xmlns:a="http://schemas.openxmlformats.org/drawingml/2006/main" noGrp="1"/>
          </p:cNvSpPr>
          <p:nvPr/>
        </p:nvSpPr>
        <p:spPr>
          <a:xfrm xmlns:a="http://schemas.openxmlformats.org/drawingml/2006/main">
            <a:off x="790575" y="318135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tech-2-mark">
            <a:extLst xmlns:a="http://schemas.openxmlformats.org/drawingml/2006/main">
              <a:ext uri="{FF2B5EF4-FFF2-40B4-BE49-F238E27FC236}">
                <a16:creationId xmlns:a16="http://schemas.microsoft.com/office/drawing/2014/main" id="{84E17A24-81BF-4AC4-80B2-8152AAF43C81}"/>
              </a:ext>
            </a:extLst>
          </p:cNvPr>
          <p:cNvSpPr>
            <a:spLocks xmlns:a="http://schemas.openxmlformats.org/drawingml/2006/main" noGrp="1"/>
          </p:cNvSpPr>
          <p:nvPr/>
        </p:nvSpPr>
        <p:spPr>
          <a:xfrm xmlns:a="http://schemas.openxmlformats.org/drawingml/2006/main">
            <a:off x="790575" y="3324225"/>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C78A38"/>
                </a:solidFill>
                <a:latin typeface="Arial"/>
                <a:ea typeface="Arial"/>
                <a:cs typeface="Arial"/>
              </a:defRPr>
            </a:defPPr>
            <a:lvl1pPr algn="l">
              <a:defRPr sz="825" b="1">
                <a:solidFill>
                  <a:srgbClr val="C78A38"/>
                </a:solidFill>
                <a:latin typeface="Arial"/>
                <a:ea typeface="Arial"/>
                <a:cs typeface="Arial"/>
              </a:defRPr>
            </a:lvl1pPr>
            <a:lvl2pPr algn="l">
              <a:defRPr sz="825" b="1">
                <a:solidFill>
                  <a:srgbClr val="C78A38"/>
                </a:solidFill>
                <a:latin typeface="Arial"/>
                <a:ea typeface="Arial"/>
                <a:cs typeface="Arial"/>
              </a:defRPr>
            </a:lvl2pPr>
            <a:lvl3pPr algn="l">
              <a:defRPr sz="825" b="1">
                <a:solidFill>
                  <a:srgbClr val="C78A38"/>
                </a:solidFill>
                <a:latin typeface="Arial"/>
                <a:ea typeface="Arial"/>
                <a:cs typeface="Arial"/>
              </a:defRPr>
            </a:lvl3pPr>
            <a:lvl4pPr algn="l">
              <a:defRPr sz="825" b="1">
                <a:solidFill>
                  <a:srgbClr val="C78A38"/>
                </a:solidFill>
                <a:latin typeface="Arial"/>
                <a:ea typeface="Arial"/>
                <a:cs typeface="Arial"/>
              </a:defRPr>
            </a:lvl4pPr>
            <a:lvl5pPr algn="l">
              <a:defRPr sz="825" b="1">
                <a:solidFill>
                  <a:srgbClr val="C78A38"/>
                </a:solidFill>
                <a:latin typeface="Arial"/>
                <a:ea typeface="Arial"/>
                <a:cs typeface="Arial"/>
              </a:defRPr>
            </a:lvl5pPr>
            <a:lvl6pPr algn="l">
              <a:defRPr sz="825" b="1">
                <a:solidFill>
                  <a:srgbClr val="C78A38"/>
                </a:solidFill>
                <a:latin typeface="Arial"/>
                <a:ea typeface="Arial"/>
                <a:cs typeface="Arial"/>
              </a:defRPr>
            </a:lvl6pPr>
            <a:lvl7pPr algn="l">
              <a:defRPr sz="825" b="1">
                <a:solidFill>
                  <a:srgbClr val="C78A38"/>
                </a:solidFill>
                <a:latin typeface="Arial"/>
                <a:ea typeface="Arial"/>
                <a:cs typeface="Arial"/>
              </a:defRPr>
            </a:lvl7pPr>
            <a:lvl8pPr algn="l">
              <a:defRPr sz="825" b="1">
                <a:solidFill>
                  <a:srgbClr val="C78A38"/>
                </a:solidFill>
                <a:latin typeface="Arial"/>
                <a:ea typeface="Arial"/>
                <a:cs typeface="Arial"/>
              </a:defRPr>
            </a:lvl8pPr>
            <a:lvl9pPr algn="l">
              <a:defRPr sz="825" b="1">
                <a:solidFill>
                  <a:srgbClr val="C78A38"/>
                </a:solidFill>
                <a:latin typeface="Arial"/>
                <a:ea typeface="Arial"/>
                <a:cs typeface="Arial"/>
              </a:defRPr>
            </a:lvl9pPr>
          </a:lstStyle>
          <a:p xmlns:a="http://schemas.openxmlformats.org/drawingml/2006/main">
            <a:pPr algn="l">
              <a:defRPr sz="825" b="1">
                <a:solidFill>
                  <a:srgbClr val="C78A38"/>
                </a:solidFill>
                <a:latin typeface="Arial"/>
                <a:ea typeface="Arial"/>
                <a:cs typeface="Arial"/>
              </a:defRPr>
            </a:pPr>
            <a:r>
              <a:rPr sz="825" b="1">
                <a:solidFill>
                  <a:srgbClr val="C78A38"/>
                </a:solidFill>
                <a:latin typeface="Arial"/>
                <a:ea typeface="Arial"/>
                <a:cs typeface="Arial"/>
              </a:rPr>
              <a:t>TEAM RUNTIME</a:t>
            </a:r>
          </a:p>
        </p:txBody>
      </p:sp>
      <p:sp>
        <p:nvSpPr>
          <p:cNvPr id="10" name="tech-2-title">
            <a:extLst xmlns:a="http://schemas.openxmlformats.org/drawingml/2006/main">
              <a:ext uri="{FF2B5EF4-FFF2-40B4-BE49-F238E27FC236}">
                <a16:creationId xmlns:a16="http://schemas.microsoft.com/office/drawing/2014/main" id="{8BC19968-D243-4A58-9355-A177B7B0284F}"/>
              </a:ext>
            </a:extLst>
          </p:cNvPr>
          <p:cNvSpPr>
            <a:spLocks xmlns:a="http://schemas.openxmlformats.org/drawingml/2006/main" noGrp="1"/>
          </p:cNvSpPr>
          <p:nvPr/>
        </p:nvSpPr>
        <p:spPr>
          <a:xfrm xmlns:a="http://schemas.openxmlformats.org/drawingml/2006/main">
            <a:off x="790575" y="35814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Meterless</a:t>
            </a:r>
          </a:p>
        </p:txBody>
      </p:sp>
      <p:sp>
        <p:nvSpPr>
          <p:cNvPr id="11" name="tech-2-body">
            <a:extLst xmlns:a="http://schemas.openxmlformats.org/drawingml/2006/main">
              <a:ext uri="{FF2B5EF4-FFF2-40B4-BE49-F238E27FC236}">
                <a16:creationId xmlns:a16="http://schemas.microsoft.com/office/drawing/2014/main" id="{18DB73AC-934C-4A43-8B1B-6962B0F2853C}"/>
              </a:ext>
            </a:extLst>
          </p:cNvPr>
          <p:cNvSpPr>
            <a:spLocks xmlns:a="http://schemas.openxmlformats.org/drawingml/2006/main" noGrp="1"/>
          </p:cNvSpPr>
          <p:nvPr/>
        </p:nvSpPr>
        <p:spPr>
          <a:xfrm xmlns:a="http://schemas.openxmlformats.org/drawingml/2006/main">
            <a:off x="3352800" y="3362325"/>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Agent wording uses the OpenAI-compatible runtime and traces model and status. Teammate reports it live on his host.</a:t>
            </a:r>
          </a:p>
        </p:txBody>
      </p:sp>
      <p:sp>
        <p:nvSpPr>
          <p:cNvPr id="12" name="tech-2-rule">
            <a:extLst xmlns:a="http://schemas.openxmlformats.org/drawingml/2006/main">
              <a:ext uri="{FF2B5EF4-FFF2-40B4-BE49-F238E27FC236}">
                <a16:creationId xmlns:a16="http://schemas.microsoft.com/office/drawing/2014/main" id="{C84B5BCF-F5A4-41AA-8B69-DA470E6F1E8A}"/>
              </a:ext>
            </a:extLst>
          </p:cNvPr>
          <p:cNvSpPr>
            <a:spLocks xmlns:a="http://schemas.openxmlformats.org/drawingml/2006/main" noGrp="1"/>
          </p:cNvSpPr>
          <p:nvPr/>
        </p:nvSpPr>
        <p:spPr>
          <a:xfrm xmlns:a="http://schemas.openxmlformats.org/drawingml/2006/main">
            <a:off x="790575" y="4105275"/>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tech-3-mark">
            <a:extLst xmlns:a="http://schemas.openxmlformats.org/drawingml/2006/main">
              <a:ext uri="{FF2B5EF4-FFF2-40B4-BE49-F238E27FC236}">
                <a16:creationId xmlns:a16="http://schemas.microsoft.com/office/drawing/2014/main" id="{B52AA818-8907-4379-9D2C-9F8E9FE18116}"/>
              </a:ext>
            </a:extLst>
          </p:cNvPr>
          <p:cNvSpPr>
            <a:spLocks xmlns:a="http://schemas.openxmlformats.org/drawingml/2006/main" noGrp="1"/>
          </p:cNvSpPr>
          <p:nvPr/>
        </p:nvSpPr>
        <p:spPr>
          <a:xfrm xmlns:a="http://schemas.openxmlformats.org/drawingml/2006/main">
            <a:off x="790575" y="42481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86C75"/>
                </a:solidFill>
                <a:latin typeface="Arial"/>
                <a:ea typeface="Arial"/>
                <a:cs typeface="Arial"/>
              </a:defRPr>
            </a:defPPr>
            <a:lvl1pPr algn="l">
              <a:defRPr sz="825" b="1">
                <a:solidFill>
                  <a:srgbClr val="486C75"/>
                </a:solidFill>
                <a:latin typeface="Arial"/>
                <a:ea typeface="Arial"/>
                <a:cs typeface="Arial"/>
              </a:defRPr>
            </a:lvl1pPr>
            <a:lvl2pPr algn="l">
              <a:defRPr sz="825" b="1">
                <a:solidFill>
                  <a:srgbClr val="486C75"/>
                </a:solidFill>
                <a:latin typeface="Arial"/>
                <a:ea typeface="Arial"/>
                <a:cs typeface="Arial"/>
              </a:defRPr>
            </a:lvl2pPr>
            <a:lvl3pPr algn="l">
              <a:defRPr sz="825" b="1">
                <a:solidFill>
                  <a:srgbClr val="486C75"/>
                </a:solidFill>
                <a:latin typeface="Arial"/>
                <a:ea typeface="Arial"/>
                <a:cs typeface="Arial"/>
              </a:defRPr>
            </a:lvl3pPr>
            <a:lvl4pPr algn="l">
              <a:defRPr sz="825" b="1">
                <a:solidFill>
                  <a:srgbClr val="486C75"/>
                </a:solidFill>
                <a:latin typeface="Arial"/>
                <a:ea typeface="Arial"/>
                <a:cs typeface="Arial"/>
              </a:defRPr>
            </a:lvl4pPr>
            <a:lvl5pPr algn="l">
              <a:defRPr sz="825" b="1">
                <a:solidFill>
                  <a:srgbClr val="486C75"/>
                </a:solidFill>
                <a:latin typeface="Arial"/>
                <a:ea typeface="Arial"/>
                <a:cs typeface="Arial"/>
              </a:defRPr>
            </a:lvl5pPr>
            <a:lvl6pPr algn="l">
              <a:defRPr sz="825" b="1">
                <a:solidFill>
                  <a:srgbClr val="486C75"/>
                </a:solidFill>
                <a:latin typeface="Arial"/>
                <a:ea typeface="Arial"/>
                <a:cs typeface="Arial"/>
              </a:defRPr>
            </a:lvl6pPr>
            <a:lvl7pPr algn="l">
              <a:defRPr sz="825" b="1">
                <a:solidFill>
                  <a:srgbClr val="486C75"/>
                </a:solidFill>
                <a:latin typeface="Arial"/>
                <a:ea typeface="Arial"/>
                <a:cs typeface="Arial"/>
              </a:defRPr>
            </a:lvl7pPr>
            <a:lvl8pPr algn="l">
              <a:defRPr sz="825" b="1">
                <a:solidFill>
                  <a:srgbClr val="486C75"/>
                </a:solidFill>
                <a:latin typeface="Arial"/>
                <a:ea typeface="Arial"/>
                <a:cs typeface="Arial"/>
              </a:defRPr>
            </a:lvl8pPr>
            <a:lvl9pPr algn="l">
              <a:defRPr sz="825" b="1">
                <a:solidFill>
                  <a:srgbClr val="486C75"/>
                </a:solidFill>
                <a:latin typeface="Arial"/>
                <a:ea typeface="Arial"/>
                <a:cs typeface="Arial"/>
              </a:defRPr>
            </a:lvl9pPr>
          </a:lstStyle>
          <a:p xmlns:a="http://schemas.openxmlformats.org/drawingml/2006/main">
            <a:pPr algn="l">
              <a:defRPr sz="825" b="1">
                <a:solidFill>
                  <a:srgbClr val="486C75"/>
                </a:solidFill>
                <a:latin typeface="Arial"/>
                <a:ea typeface="Arial"/>
                <a:cs typeface="Arial"/>
              </a:defRPr>
            </a:pPr>
            <a:r>
              <a:rPr sz="825" b="1">
                <a:solidFill>
                  <a:srgbClr val="486C75"/>
                </a:solidFill>
                <a:latin typeface="Arial"/>
                <a:ea typeface="Arial"/>
                <a:cs typeface="Arial"/>
              </a:rPr>
              <a:t>MODEL PATH</a:t>
            </a:r>
          </a:p>
        </p:txBody>
      </p:sp>
      <p:sp>
        <p:nvSpPr>
          <p:cNvPr id="14" name="tech-3-title">
            <a:extLst xmlns:a="http://schemas.openxmlformats.org/drawingml/2006/main">
              <a:ext uri="{FF2B5EF4-FFF2-40B4-BE49-F238E27FC236}">
                <a16:creationId xmlns:a16="http://schemas.microsoft.com/office/drawing/2014/main" id="{6FF6CB59-D5A4-41B9-AA2E-0FCADDA51AC3}"/>
              </a:ext>
            </a:extLst>
          </p:cNvPr>
          <p:cNvSpPr>
            <a:spLocks xmlns:a="http://schemas.openxmlformats.org/drawingml/2006/main" noGrp="1"/>
          </p:cNvSpPr>
          <p:nvPr/>
        </p:nvSpPr>
        <p:spPr>
          <a:xfrm xmlns:a="http://schemas.openxmlformats.org/drawingml/2006/main">
            <a:off x="790575" y="4505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NVIDIA Nemotron</a:t>
            </a:r>
          </a:p>
        </p:txBody>
      </p:sp>
      <p:sp>
        <p:nvSpPr>
          <p:cNvPr id="15" name="tech-3-body">
            <a:extLst xmlns:a="http://schemas.openxmlformats.org/drawingml/2006/main">
              <a:ext uri="{FF2B5EF4-FFF2-40B4-BE49-F238E27FC236}">
                <a16:creationId xmlns:a16="http://schemas.microsoft.com/office/drawing/2014/main" id="{C490C904-2BDF-4F19-9483-3602A45AAEC2}"/>
              </a:ext>
            </a:extLst>
          </p:cNvPr>
          <p:cNvSpPr>
            <a:spLocks xmlns:a="http://schemas.openxmlformats.org/drawingml/2006/main" noGrp="1"/>
          </p:cNvSpPr>
          <p:nvPr/>
        </p:nvSpPr>
        <p:spPr>
          <a:xfrm xmlns:a="http://schemas.openxmlformats.org/drawingml/2006/main">
            <a:off x="3352800" y="428625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 selectable NVIDIA provider path exists. Confirm the actual model and lane in a successful run before claiming it in the demo.</a:t>
            </a:r>
          </a:p>
        </p:txBody>
      </p:sp>
      <p:sp>
        <p:nvSpPr>
          <p:cNvPr id="16" name="tech-3-rule">
            <a:extLst xmlns:a="http://schemas.openxmlformats.org/drawingml/2006/main">
              <a:ext uri="{FF2B5EF4-FFF2-40B4-BE49-F238E27FC236}">
                <a16:creationId xmlns:a16="http://schemas.microsoft.com/office/drawing/2014/main" id="{6F141F82-0AB3-4536-9E3D-A9A669007329}"/>
              </a:ext>
            </a:extLst>
          </p:cNvPr>
          <p:cNvSpPr>
            <a:spLocks xmlns:a="http://schemas.openxmlformats.org/drawingml/2006/main" noGrp="1"/>
          </p:cNvSpPr>
          <p:nvPr/>
        </p:nvSpPr>
        <p:spPr>
          <a:xfrm xmlns:a="http://schemas.openxmlformats.org/drawingml/2006/main">
            <a:off x="790575" y="502920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7" name="tech-column-rule">
            <a:extLst xmlns:a="http://schemas.openxmlformats.org/drawingml/2006/main">
              <a:ext uri="{FF2B5EF4-FFF2-40B4-BE49-F238E27FC236}">
                <a16:creationId xmlns:a16="http://schemas.microsoft.com/office/drawing/2014/main" id="{44D91E94-7F9D-423C-82F9-DA16CA70B99A}"/>
              </a:ext>
            </a:extLst>
          </p:cNvPr>
          <p:cNvSpPr>
            <a:spLocks xmlns:a="http://schemas.openxmlformats.org/drawingml/2006/main" noGrp="1"/>
          </p:cNvSpPr>
          <p:nvPr/>
        </p:nvSpPr>
        <p:spPr>
          <a:xfrm xmlns:a="http://schemas.openxmlformats.org/drawingml/2006/main">
            <a:off x="7381875" y="242887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8" name="unique-label">
            <a:extLst xmlns:a="http://schemas.openxmlformats.org/drawingml/2006/main">
              <a:ext uri="{FF2B5EF4-FFF2-40B4-BE49-F238E27FC236}">
                <a16:creationId xmlns:a16="http://schemas.microsoft.com/office/drawing/2014/main" id="{0736E78B-79E5-431D-9C09-32CFF374D914}"/>
              </a:ext>
            </a:extLst>
          </p:cNvPr>
          <p:cNvSpPr>
            <a:spLocks xmlns:a="http://schemas.openxmlformats.org/drawingml/2006/main" noGrp="1"/>
          </p:cNvSpPr>
          <p:nvPr/>
        </p:nvSpPr>
        <p:spPr>
          <a:xfrm xmlns:a="http://schemas.openxmlformats.org/drawingml/2006/main">
            <a:off x="7800975" y="2505075"/>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WHAT IS DISTINCTIVE</a:t>
            </a:r>
          </a:p>
        </p:txBody>
      </p:sp>
      <p:sp>
        <p:nvSpPr>
          <p:cNvPr id="19" name="unique-title">
            <a:extLst xmlns:a="http://schemas.openxmlformats.org/drawingml/2006/main">
              <a:ext uri="{FF2B5EF4-FFF2-40B4-BE49-F238E27FC236}">
                <a16:creationId xmlns:a16="http://schemas.microsoft.com/office/drawing/2014/main" id="{B1704EC9-ABD0-4EED-B19C-3D4EC53BA06A}"/>
              </a:ext>
            </a:extLst>
          </p:cNvPr>
          <p:cNvSpPr>
            <a:spLocks xmlns:a="http://schemas.openxmlformats.org/drawingml/2006/main" noGrp="1"/>
          </p:cNvSpPr>
          <p:nvPr/>
        </p:nvSpPr>
        <p:spPr>
          <a:xfrm xmlns:a="http://schemas.openxmlformats.org/drawingml/2006/main">
            <a:off x="7800975" y="2857500"/>
            <a:ext cx="352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a:solidFill>
                  <a:srgbClr val="183525"/>
                </a:solidFill>
                <a:latin typeface="Georgia"/>
                <a:ea typeface="Georgia"/>
                <a:cs typeface="Georgia"/>
              </a:defRPr>
            </a:defPPr>
            <a:lvl1pPr algn="l">
              <a:defRPr sz="2400" b="0">
                <a:solidFill>
                  <a:srgbClr val="183525"/>
                </a:solidFill>
                <a:latin typeface="Georgia"/>
                <a:ea typeface="Georgia"/>
                <a:cs typeface="Georgia"/>
              </a:defRPr>
            </a:lvl1pPr>
            <a:lvl2pPr algn="l">
              <a:defRPr sz="2400" b="0">
                <a:solidFill>
                  <a:srgbClr val="183525"/>
                </a:solidFill>
                <a:latin typeface="Georgia"/>
                <a:ea typeface="Georgia"/>
                <a:cs typeface="Georgia"/>
              </a:defRPr>
            </a:lvl2pPr>
            <a:lvl3pPr algn="l">
              <a:defRPr sz="2400" b="0">
                <a:solidFill>
                  <a:srgbClr val="183525"/>
                </a:solidFill>
                <a:latin typeface="Georgia"/>
                <a:ea typeface="Georgia"/>
                <a:cs typeface="Georgia"/>
              </a:defRPr>
            </a:lvl3pPr>
            <a:lvl4pPr algn="l">
              <a:defRPr sz="2400" b="0">
                <a:solidFill>
                  <a:srgbClr val="183525"/>
                </a:solidFill>
                <a:latin typeface="Georgia"/>
                <a:ea typeface="Georgia"/>
                <a:cs typeface="Georgia"/>
              </a:defRPr>
            </a:lvl4pPr>
            <a:lvl5pPr algn="l">
              <a:defRPr sz="2400" b="0">
                <a:solidFill>
                  <a:srgbClr val="183525"/>
                </a:solidFill>
                <a:latin typeface="Georgia"/>
                <a:ea typeface="Georgia"/>
                <a:cs typeface="Georgia"/>
              </a:defRPr>
            </a:lvl5pPr>
            <a:lvl6pPr algn="l">
              <a:defRPr sz="2400" b="0">
                <a:solidFill>
                  <a:srgbClr val="183525"/>
                </a:solidFill>
                <a:latin typeface="Georgia"/>
                <a:ea typeface="Georgia"/>
                <a:cs typeface="Georgia"/>
              </a:defRPr>
            </a:lvl6pPr>
            <a:lvl7pPr algn="l">
              <a:defRPr sz="2400" b="0">
                <a:solidFill>
                  <a:srgbClr val="183525"/>
                </a:solidFill>
                <a:latin typeface="Georgia"/>
                <a:ea typeface="Georgia"/>
                <a:cs typeface="Georgia"/>
              </a:defRPr>
            </a:lvl7pPr>
            <a:lvl8pPr algn="l">
              <a:defRPr sz="2400" b="0">
                <a:solidFill>
                  <a:srgbClr val="183525"/>
                </a:solidFill>
                <a:latin typeface="Georgia"/>
                <a:ea typeface="Georgia"/>
                <a:cs typeface="Georgia"/>
              </a:defRPr>
            </a:lvl8pPr>
            <a:lvl9pPr algn="l">
              <a:defRPr sz="2400" b="0">
                <a:solidFill>
                  <a:srgbClr val="183525"/>
                </a:solidFill>
                <a:latin typeface="Georgia"/>
                <a:ea typeface="Georgia"/>
                <a:cs typeface="Georgia"/>
              </a:defRPr>
            </a:lvl9pPr>
          </a:lstStyle>
          <a:p xmlns:a="http://schemas.openxmlformats.org/drawingml/2006/main">
            <a:pPr algn="l">
              <a:defRPr sz="2400" b="0">
                <a:solidFill>
                  <a:srgbClr val="183525"/>
                </a:solidFill>
                <a:latin typeface="Georgia"/>
                <a:ea typeface="Georgia"/>
                <a:cs typeface="Georgia"/>
              </a:defRPr>
            </a:pPr>
            <a:r>
              <a:rPr sz="2400" b="0">
                <a:solidFill>
                  <a:srgbClr val="183525"/>
                </a:solidFill>
                <a:latin typeface="Georgia"/>
                <a:ea typeface="Georgia"/>
                <a:cs typeface="Georgia"/>
              </a:rPr>
              <a:t>The critic can send a claim back.</a:t>
            </a:r>
          </a:p>
        </p:txBody>
      </p:sp>
      <p:sp>
        <p:nvSpPr>
          <p:cNvPr id="20" name="unique-body">
            <a:extLst xmlns:a="http://schemas.openxmlformats.org/drawingml/2006/main">
              <a:ext uri="{FF2B5EF4-FFF2-40B4-BE49-F238E27FC236}">
                <a16:creationId xmlns:a16="http://schemas.microsoft.com/office/drawing/2014/main" id="{36582AF5-211B-431E-B524-C9F929A27022}"/>
              </a:ext>
            </a:extLst>
          </p:cNvPr>
          <p:cNvSpPr>
            <a:spLocks xmlns:a="http://schemas.openxmlformats.org/drawingml/2006/main" noGrp="1"/>
          </p:cNvSpPr>
          <p:nvPr/>
        </p:nvSpPr>
        <p:spPr>
          <a:xfrm xmlns:a="http://schemas.openxmlformats.org/drawingml/2006/main">
            <a:off x="7800975" y="3800475"/>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 rejected claim returns to its owning analyst. Stale evidence triggers a separate refresh path. The planner stops when review limits are reached.</a:t>
            </a:r>
          </a:p>
        </p:txBody>
      </p:sp>
      <p:sp>
        <p:nvSpPr>
          <p:cNvPr id="21" name="cursor-rule">
            <a:extLst xmlns:a="http://schemas.openxmlformats.org/drawingml/2006/main">
              <a:ext uri="{FF2B5EF4-FFF2-40B4-BE49-F238E27FC236}">
                <a16:creationId xmlns:a16="http://schemas.microsoft.com/office/drawing/2014/main" id="{E56AE331-01D5-4F4D-962E-AB9B3EC28153}"/>
              </a:ext>
            </a:extLst>
          </p:cNvPr>
          <p:cNvSpPr>
            <a:spLocks xmlns:a="http://schemas.openxmlformats.org/drawingml/2006/main" noGrp="1"/>
          </p:cNvSpPr>
          <p:nvPr/>
        </p:nvSpPr>
        <p:spPr>
          <a:xfrm xmlns:a="http://schemas.openxmlformats.org/drawingml/2006/main">
            <a:off x="7800975" y="5105400"/>
            <a:ext cx="3429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2" name="cursor-line">
            <a:extLst xmlns:a="http://schemas.openxmlformats.org/drawingml/2006/main">
              <a:ext uri="{FF2B5EF4-FFF2-40B4-BE49-F238E27FC236}">
                <a16:creationId xmlns:a16="http://schemas.microsoft.com/office/drawing/2014/main" id="{C0EF76DA-05E5-475D-BD53-B66D4A34CDFE}"/>
              </a:ext>
            </a:extLst>
          </p:cNvPr>
          <p:cNvSpPr>
            <a:spLocks xmlns:a="http://schemas.openxmlformats.org/drawingml/2006/main" noGrp="1"/>
          </p:cNvSpPr>
          <p:nvPr/>
        </p:nvSpPr>
        <p:spPr>
          <a:xfrm xmlns:a="http://schemas.openxmlformats.org/drawingml/2006/main">
            <a:off x="7800975" y="5286375"/>
            <a:ext cx="3476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274A34"/>
                </a:solidFill>
                <a:latin typeface="Arial"/>
                <a:ea typeface="Arial"/>
                <a:cs typeface="Arial"/>
              </a:defRPr>
            </a:defPPr>
            <a:lvl1pPr algn="l">
              <a:defRPr sz="1050" b="0">
                <a:solidFill>
                  <a:srgbClr val="274A34"/>
                </a:solidFill>
                <a:latin typeface="Arial"/>
                <a:ea typeface="Arial"/>
                <a:cs typeface="Arial"/>
              </a:defRPr>
            </a:lvl1pPr>
            <a:lvl2pPr algn="l">
              <a:defRPr sz="1050" b="0">
                <a:solidFill>
                  <a:srgbClr val="274A34"/>
                </a:solidFill>
                <a:latin typeface="Arial"/>
                <a:ea typeface="Arial"/>
                <a:cs typeface="Arial"/>
              </a:defRPr>
            </a:lvl2pPr>
            <a:lvl3pPr algn="l">
              <a:defRPr sz="1050" b="0">
                <a:solidFill>
                  <a:srgbClr val="274A34"/>
                </a:solidFill>
                <a:latin typeface="Arial"/>
                <a:ea typeface="Arial"/>
                <a:cs typeface="Arial"/>
              </a:defRPr>
            </a:lvl3pPr>
            <a:lvl4pPr algn="l">
              <a:defRPr sz="1050" b="0">
                <a:solidFill>
                  <a:srgbClr val="274A34"/>
                </a:solidFill>
                <a:latin typeface="Arial"/>
                <a:ea typeface="Arial"/>
                <a:cs typeface="Arial"/>
              </a:defRPr>
            </a:lvl4pPr>
            <a:lvl5pPr algn="l">
              <a:defRPr sz="1050" b="0">
                <a:solidFill>
                  <a:srgbClr val="274A34"/>
                </a:solidFill>
                <a:latin typeface="Arial"/>
                <a:ea typeface="Arial"/>
                <a:cs typeface="Arial"/>
              </a:defRPr>
            </a:lvl5pPr>
            <a:lvl6pPr algn="l">
              <a:defRPr sz="1050" b="0">
                <a:solidFill>
                  <a:srgbClr val="274A34"/>
                </a:solidFill>
                <a:latin typeface="Arial"/>
                <a:ea typeface="Arial"/>
                <a:cs typeface="Arial"/>
              </a:defRPr>
            </a:lvl6pPr>
            <a:lvl7pPr algn="l">
              <a:defRPr sz="1050" b="0">
                <a:solidFill>
                  <a:srgbClr val="274A34"/>
                </a:solidFill>
                <a:latin typeface="Arial"/>
                <a:ea typeface="Arial"/>
                <a:cs typeface="Arial"/>
              </a:defRPr>
            </a:lvl7pPr>
            <a:lvl8pPr algn="l">
              <a:defRPr sz="1050" b="0">
                <a:solidFill>
                  <a:srgbClr val="274A34"/>
                </a:solidFill>
                <a:latin typeface="Arial"/>
                <a:ea typeface="Arial"/>
                <a:cs typeface="Arial"/>
              </a:defRPr>
            </a:lvl8pPr>
            <a:lvl9pPr algn="l">
              <a:defRPr sz="1050" b="0">
                <a:solidFill>
                  <a:srgbClr val="274A34"/>
                </a:solidFill>
                <a:latin typeface="Arial"/>
                <a:ea typeface="Arial"/>
                <a:cs typeface="Arial"/>
              </a:defRPr>
            </a:lvl9pPr>
          </a:lstStyle>
          <a:p xmlns:a="http://schemas.openxmlformats.org/drawingml/2006/main">
            <a:pPr algn="l">
              <a:defRPr sz="1050" b="0">
                <a:solidFill>
                  <a:srgbClr val="274A34"/>
                </a:solidFill>
                <a:latin typeface="Arial"/>
                <a:ea typeface="Arial"/>
                <a:cs typeface="Arial"/>
              </a:defRPr>
            </a:pPr>
            <a:r>
              <a:rPr sz="1050" b="0">
                <a:solidFill>
                  <a:srgbClr val="274A34"/>
                </a:solidFill>
                <a:latin typeface="Arial"/>
                <a:ea typeface="Arial"/>
                <a:cs typeface="Arial"/>
              </a:rPr>
              <a:t>Cursor was used during development. H-MEM keeps farmer-scoped profiles and verdict history between runs.</a:t>
            </a:r>
          </a:p>
        </p:txBody>
      </p:sp>
    </p:spTree>
    <p:extLst>
      <p:ext uri="{BB962C8B-B14F-4D97-AF65-F5344CB8AC3E}">
        <p14:creationId xmlns:p14="http://schemas.microsoft.com/office/powerpoint/2010/main" val="2031256797"/>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1" name="slide-7-index">
            <a:extLst xmlns:a="http://schemas.openxmlformats.org/drawingml/2006/main">
              <a:ext uri="{FF2B5EF4-FFF2-40B4-BE49-F238E27FC236}">
                <a16:creationId xmlns:a16="http://schemas.microsoft.com/office/drawing/2014/main" id="{48387FF3-F3F8-49E9-BD15-163C6525F6E8}"/>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07</a:t>
            </a:r>
          </a:p>
        </p:txBody>
      </p:sp>
      <p:sp>
        <p:nvSpPr>
          <p:cNvPr id="2" name="slide-7-title">
            <a:extLst xmlns:a="http://schemas.openxmlformats.org/drawingml/2006/main">
              <a:ext uri="{FF2B5EF4-FFF2-40B4-BE49-F238E27FC236}">
                <a16:creationId xmlns:a16="http://schemas.microsoft.com/office/drawing/2014/main" id="{0EDD6FC1-8279-43F8-BA7F-E21D04127705}"/>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A Kenya-first workflow with a global path</a:t>
            </a:r>
          </a:p>
        </p:txBody>
      </p:sp>
      <p:sp>
        <p:nvSpPr>
          <p:cNvPr id="3" name="slide-7-subtitle">
            <a:extLst xmlns:a="http://schemas.openxmlformats.org/drawingml/2006/main">
              <a:ext uri="{FF2B5EF4-FFF2-40B4-BE49-F238E27FC236}">
                <a16:creationId xmlns:a16="http://schemas.microsoft.com/office/drawing/2014/main" id="{0241C767-1246-4FDF-927B-1444C4C12F88}"/>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reasoning can travel; data, thresholds and safeguards must be validated in every market.</a:t>
            </a:r>
          </a:p>
        </p:txBody>
      </p:sp>
      <p:sp>
        <p:nvSpPr>
          <p:cNvPr id="4" name="slide-7-header-rule">
            <a:extLst xmlns:a="http://schemas.openxmlformats.org/drawingml/2006/main">
              <a:ext uri="{FF2B5EF4-FFF2-40B4-BE49-F238E27FC236}">
                <a16:creationId xmlns:a16="http://schemas.microsoft.com/office/drawing/2014/main" id="{B123134D-FC00-4333-B95F-A13F5B740A09}"/>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impact-current-label">
            <a:extLst xmlns:a="http://schemas.openxmlformats.org/drawingml/2006/main">
              <a:ext uri="{FF2B5EF4-FFF2-40B4-BE49-F238E27FC236}">
                <a16:creationId xmlns:a16="http://schemas.microsoft.com/office/drawing/2014/main" id="{DBF1AED0-8C46-4C41-A59A-68CE1D20A565}"/>
              </a:ext>
            </a:extLst>
          </p:cNvPr>
          <p:cNvSpPr>
            <a:spLocks xmlns:a="http://schemas.openxmlformats.org/drawingml/2006/main" noGrp="1"/>
          </p:cNvSpPr>
          <p:nvPr/>
        </p:nvSpPr>
        <p:spPr>
          <a:xfrm xmlns:a="http://schemas.openxmlformats.org/drawingml/2006/main">
            <a:off x="781050" y="24574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CURRENT PRODUCT</a:t>
            </a:r>
          </a:p>
        </p:txBody>
      </p:sp>
      <p:sp>
        <p:nvSpPr>
          <p:cNvPr id="6" name="impact-current-title">
            <a:extLst xmlns:a="http://schemas.openxmlformats.org/drawingml/2006/main">
              <a:ext uri="{FF2B5EF4-FFF2-40B4-BE49-F238E27FC236}">
                <a16:creationId xmlns:a16="http://schemas.microsoft.com/office/drawing/2014/main" id="{F807EE6C-A0F5-444E-ADCF-B271255DA6C6}"/>
              </a:ext>
            </a:extLst>
          </p:cNvPr>
          <p:cNvSpPr>
            <a:spLocks xmlns:a="http://schemas.openxmlformats.org/drawingml/2006/main" noGrp="1"/>
          </p:cNvSpPr>
          <p:nvPr/>
        </p:nvSpPr>
        <p:spPr>
          <a:xfrm xmlns:a="http://schemas.openxmlformats.org/drawingml/2006/main">
            <a:off x="781050" y="2809875"/>
            <a:ext cx="4429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a:solidFill>
                  <a:srgbClr val="183525"/>
                </a:solidFill>
                <a:latin typeface="Georgia"/>
                <a:ea typeface="Georgia"/>
                <a:cs typeface="Georgia"/>
              </a:defRPr>
            </a:defPPr>
            <a:lvl1pPr algn="l">
              <a:defRPr sz="2400" b="0">
                <a:solidFill>
                  <a:srgbClr val="183525"/>
                </a:solidFill>
                <a:latin typeface="Georgia"/>
                <a:ea typeface="Georgia"/>
                <a:cs typeface="Georgia"/>
              </a:defRPr>
            </a:lvl1pPr>
            <a:lvl2pPr algn="l">
              <a:defRPr sz="2400" b="0">
                <a:solidFill>
                  <a:srgbClr val="183525"/>
                </a:solidFill>
                <a:latin typeface="Georgia"/>
                <a:ea typeface="Georgia"/>
                <a:cs typeface="Georgia"/>
              </a:defRPr>
            </a:lvl2pPr>
            <a:lvl3pPr algn="l">
              <a:defRPr sz="2400" b="0">
                <a:solidFill>
                  <a:srgbClr val="183525"/>
                </a:solidFill>
                <a:latin typeface="Georgia"/>
                <a:ea typeface="Georgia"/>
                <a:cs typeface="Georgia"/>
              </a:defRPr>
            </a:lvl3pPr>
            <a:lvl4pPr algn="l">
              <a:defRPr sz="2400" b="0">
                <a:solidFill>
                  <a:srgbClr val="183525"/>
                </a:solidFill>
                <a:latin typeface="Georgia"/>
                <a:ea typeface="Georgia"/>
                <a:cs typeface="Georgia"/>
              </a:defRPr>
            </a:lvl4pPr>
            <a:lvl5pPr algn="l">
              <a:defRPr sz="2400" b="0">
                <a:solidFill>
                  <a:srgbClr val="183525"/>
                </a:solidFill>
                <a:latin typeface="Georgia"/>
                <a:ea typeface="Georgia"/>
                <a:cs typeface="Georgia"/>
              </a:defRPr>
            </a:lvl5pPr>
            <a:lvl6pPr algn="l">
              <a:defRPr sz="2400" b="0">
                <a:solidFill>
                  <a:srgbClr val="183525"/>
                </a:solidFill>
                <a:latin typeface="Georgia"/>
                <a:ea typeface="Georgia"/>
                <a:cs typeface="Georgia"/>
              </a:defRPr>
            </a:lvl6pPr>
            <a:lvl7pPr algn="l">
              <a:defRPr sz="2400" b="0">
                <a:solidFill>
                  <a:srgbClr val="183525"/>
                </a:solidFill>
                <a:latin typeface="Georgia"/>
                <a:ea typeface="Georgia"/>
                <a:cs typeface="Georgia"/>
              </a:defRPr>
            </a:lvl7pPr>
            <a:lvl8pPr algn="l">
              <a:defRPr sz="2400" b="0">
                <a:solidFill>
                  <a:srgbClr val="183525"/>
                </a:solidFill>
                <a:latin typeface="Georgia"/>
                <a:ea typeface="Georgia"/>
                <a:cs typeface="Georgia"/>
              </a:defRPr>
            </a:lvl8pPr>
            <a:lvl9pPr algn="l">
              <a:defRPr sz="2400" b="0">
                <a:solidFill>
                  <a:srgbClr val="183525"/>
                </a:solidFill>
                <a:latin typeface="Georgia"/>
                <a:ea typeface="Georgia"/>
                <a:cs typeface="Georgia"/>
              </a:defRPr>
            </a:lvl9pPr>
          </a:lstStyle>
          <a:p xmlns:a="http://schemas.openxmlformats.org/drawingml/2006/main">
            <a:pPr algn="l">
              <a:defRPr sz="2400" b="0">
                <a:solidFill>
                  <a:srgbClr val="183525"/>
                </a:solidFill>
                <a:latin typeface="Georgia"/>
                <a:ea typeface="Georgia"/>
                <a:cs typeface="Georgia"/>
              </a:defRPr>
            </a:pPr>
            <a:r>
              <a:rPr sz="2400" b="0">
                <a:solidFill>
                  <a:srgbClr val="183525"/>
                </a:solidFill>
                <a:latin typeface="Georgia"/>
                <a:ea typeface="Georgia"/>
                <a:cs typeface="Georgia"/>
              </a:rPr>
              <a:t>White maize in Kenya</a:t>
            </a:r>
          </a:p>
        </p:txBody>
      </p:sp>
      <p:sp>
        <p:nvSpPr>
          <p:cNvPr id="7" name="impact-current-copy">
            <a:extLst xmlns:a="http://schemas.openxmlformats.org/drawingml/2006/main">
              <a:ext uri="{FF2B5EF4-FFF2-40B4-BE49-F238E27FC236}">
                <a16:creationId xmlns:a16="http://schemas.microsoft.com/office/drawing/2014/main" id="{F76E83D2-1ADA-412A-B57E-1D50C1B6EC10}"/>
              </a:ext>
            </a:extLst>
          </p:cNvPr>
          <p:cNvSpPr>
            <a:spLocks xmlns:a="http://schemas.openxmlformats.org/drawingml/2006/main" noGrp="1"/>
          </p:cNvSpPr>
          <p:nvPr/>
        </p:nvSpPr>
        <p:spPr>
          <a:xfrm xmlns:a="http://schemas.openxmlformats.org/drawingml/2006/main">
            <a:off x="781050" y="3562350"/>
            <a:ext cx="42386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Compare a buyer offer with local prices and storage/weather risk. The aim is clearer, reviewable decisions for farmers and extension workers.</a:t>
            </a:r>
          </a:p>
        </p:txBody>
      </p:sp>
      <p:sp>
        <p:nvSpPr>
          <p:cNvPr id="8" name="impact-column-rule">
            <a:extLst xmlns:a="http://schemas.openxmlformats.org/drawingml/2006/main">
              <a:ext uri="{FF2B5EF4-FFF2-40B4-BE49-F238E27FC236}">
                <a16:creationId xmlns:a16="http://schemas.microsoft.com/office/drawing/2014/main" id="{209501B1-32FA-4A75-BA1D-3FBAA60FD7FD}"/>
              </a:ext>
            </a:extLst>
          </p:cNvPr>
          <p:cNvSpPr>
            <a:spLocks xmlns:a="http://schemas.openxmlformats.org/drawingml/2006/main" noGrp="1"/>
          </p:cNvSpPr>
          <p:nvPr/>
        </p:nvSpPr>
        <p:spPr>
          <a:xfrm xmlns:a="http://schemas.openxmlformats.org/drawingml/2006/main">
            <a:off x="5505450" y="2457450"/>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impact-measure-label">
            <a:extLst xmlns:a="http://schemas.openxmlformats.org/drawingml/2006/main">
              <a:ext uri="{FF2B5EF4-FFF2-40B4-BE49-F238E27FC236}">
                <a16:creationId xmlns:a16="http://schemas.microsoft.com/office/drawing/2014/main" id="{1D758AD5-C205-473C-B15B-6451EEC55834}"/>
              </a:ext>
            </a:extLst>
          </p:cNvPr>
          <p:cNvSpPr>
            <a:spLocks xmlns:a="http://schemas.openxmlformats.org/drawingml/2006/main" noGrp="1"/>
          </p:cNvSpPr>
          <p:nvPr/>
        </p:nvSpPr>
        <p:spPr>
          <a:xfrm xmlns:a="http://schemas.openxmlformats.org/drawingml/2006/main">
            <a:off x="5953125" y="2457450"/>
            <a:ext cx="542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MEASURE IN A FARMER PILOT</a:t>
            </a:r>
          </a:p>
        </p:txBody>
      </p:sp>
      <p:sp>
        <p:nvSpPr>
          <p:cNvPr id="10" name="impact-metric-1-label">
            <a:extLst xmlns:a="http://schemas.openxmlformats.org/drawingml/2006/main">
              <a:ext uri="{FF2B5EF4-FFF2-40B4-BE49-F238E27FC236}">
                <a16:creationId xmlns:a16="http://schemas.microsoft.com/office/drawing/2014/main" id="{DEAA9014-8907-4229-8AB0-40E1865E6855}"/>
              </a:ext>
            </a:extLst>
          </p:cNvPr>
          <p:cNvSpPr>
            <a:spLocks xmlns:a="http://schemas.openxmlformats.org/drawingml/2006/main" noGrp="1"/>
          </p:cNvSpPr>
          <p:nvPr/>
        </p:nvSpPr>
        <p:spPr>
          <a:xfrm xmlns:a="http://schemas.openxmlformats.org/drawingml/2006/main">
            <a:off x="5962650" y="2838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4A34"/>
                </a:solidFill>
                <a:latin typeface="Arial"/>
                <a:ea typeface="Arial"/>
                <a:cs typeface="Arial"/>
              </a:defRPr>
            </a:defPPr>
            <a:lvl1pPr algn="l">
              <a:defRPr sz="1350" b="1">
                <a:solidFill>
                  <a:srgbClr val="274A34"/>
                </a:solidFill>
                <a:latin typeface="Arial"/>
                <a:ea typeface="Arial"/>
                <a:cs typeface="Arial"/>
              </a:defRPr>
            </a:lvl1pPr>
            <a:lvl2pPr algn="l">
              <a:defRPr sz="1350" b="1">
                <a:solidFill>
                  <a:srgbClr val="274A34"/>
                </a:solidFill>
                <a:latin typeface="Arial"/>
                <a:ea typeface="Arial"/>
                <a:cs typeface="Arial"/>
              </a:defRPr>
            </a:lvl2pPr>
            <a:lvl3pPr algn="l">
              <a:defRPr sz="1350" b="1">
                <a:solidFill>
                  <a:srgbClr val="274A34"/>
                </a:solidFill>
                <a:latin typeface="Arial"/>
                <a:ea typeface="Arial"/>
                <a:cs typeface="Arial"/>
              </a:defRPr>
            </a:lvl3pPr>
            <a:lvl4pPr algn="l">
              <a:defRPr sz="1350" b="1">
                <a:solidFill>
                  <a:srgbClr val="274A34"/>
                </a:solidFill>
                <a:latin typeface="Arial"/>
                <a:ea typeface="Arial"/>
                <a:cs typeface="Arial"/>
              </a:defRPr>
            </a:lvl4pPr>
            <a:lvl5pPr algn="l">
              <a:defRPr sz="1350" b="1">
                <a:solidFill>
                  <a:srgbClr val="274A34"/>
                </a:solidFill>
                <a:latin typeface="Arial"/>
                <a:ea typeface="Arial"/>
                <a:cs typeface="Arial"/>
              </a:defRPr>
            </a:lvl5pPr>
            <a:lvl6pPr algn="l">
              <a:defRPr sz="1350" b="1">
                <a:solidFill>
                  <a:srgbClr val="274A34"/>
                </a:solidFill>
                <a:latin typeface="Arial"/>
                <a:ea typeface="Arial"/>
                <a:cs typeface="Arial"/>
              </a:defRPr>
            </a:lvl6pPr>
            <a:lvl7pPr algn="l">
              <a:defRPr sz="1350" b="1">
                <a:solidFill>
                  <a:srgbClr val="274A34"/>
                </a:solidFill>
                <a:latin typeface="Arial"/>
                <a:ea typeface="Arial"/>
                <a:cs typeface="Arial"/>
              </a:defRPr>
            </a:lvl7pPr>
            <a:lvl8pPr algn="l">
              <a:defRPr sz="1350" b="1">
                <a:solidFill>
                  <a:srgbClr val="274A34"/>
                </a:solidFill>
                <a:latin typeface="Arial"/>
                <a:ea typeface="Arial"/>
                <a:cs typeface="Arial"/>
              </a:defRPr>
            </a:lvl8pPr>
            <a:lvl9pPr algn="l">
              <a:defRPr sz="1350" b="1">
                <a:solidFill>
                  <a:srgbClr val="274A34"/>
                </a:solidFill>
                <a:latin typeface="Arial"/>
                <a:ea typeface="Arial"/>
                <a:cs typeface="Arial"/>
              </a:defRPr>
            </a:lvl9pPr>
          </a:lstStyle>
          <a:p xmlns:a="http://schemas.openxmlformats.org/drawingml/2006/main">
            <a:pPr algn="l">
              <a:defRPr sz="1350" b="1">
                <a:solidFill>
                  <a:srgbClr val="274A34"/>
                </a:solidFill>
                <a:latin typeface="Arial"/>
                <a:ea typeface="Arial"/>
                <a:cs typeface="Arial"/>
              </a:defRPr>
            </a:pPr>
            <a:r>
              <a:rPr sz="1350" b="1">
                <a:solidFill>
                  <a:srgbClr val="274A34"/>
                </a:solidFill>
                <a:latin typeface="Arial"/>
                <a:ea typeface="Arial"/>
                <a:cs typeface="Arial"/>
              </a:rPr>
              <a:t>Evidence</a:t>
            </a:r>
          </a:p>
        </p:txBody>
      </p:sp>
      <p:sp>
        <p:nvSpPr>
          <p:cNvPr id="11" name="impact-metric-1-body">
            <a:extLst xmlns:a="http://schemas.openxmlformats.org/drawingml/2006/main">
              <a:ext uri="{FF2B5EF4-FFF2-40B4-BE49-F238E27FC236}">
                <a16:creationId xmlns:a16="http://schemas.microsoft.com/office/drawing/2014/main" id="{FF78C0C3-43F6-444D-B7CF-F738330D2E04}"/>
              </a:ext>
            </a:extLst>
          </p:cNvPr>
          <p:cNvSpPr>
            <a:spLocks xmlns:a="http://schemas.openxmlformats.org/drawingml/2006/main" noGrp="1"/>
          </p:cNvSpPr>
          <p:nvPr/>
        </p:nvSpPr>
        <p:spPr>
          <a:xfrm xmlns:a="http://schemas.openxmlformats.org/drawingml/2006/main">
            <a:off x="7477125" y="2838450"/>
            <a:ext cx="384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Fresh-price and forecast coverage; abstention quality when data is weak.</a:t>
            </a:r>
          </a:p>
        </p:txBody>
      </p:sp>
      <p:sp>
        <p:nvSpPr>
          <p:cNvPr id="12" name="impact-metric-1-rule">
            <a:extLst xmlns:a="http://schemas.openxmlformats.org/drawingml/2006/main">
              <a:ext uri="{FF2B5EF4-FFF2-40B4-BE49-F238E27FC236}">
                <a16:creationId xmlns:a16="http://schemas.microsoft.com/office/drawing/2014/main" id="{99A8B73F-38A3-4372-A348-04640C0DF4EB}"/>
              </a:ext>
            </a:extLst>
          </p:cNvPr>
          <p:cNvSpPr>
            <a:spLocks xmlns:a="http://schemas.openxmlformats.org/drawingml/2006/main" noGrp="1"/>
          </p:cNvSpPr>
          <p:nvPr/>
        </p:nvSpPr>
        <p:spPr>
          <a:xfrm xmlns:a="http://schemas.openxmlformats.org/drawingml/2006/main">
            <a:off x="5962650" y="3486150"/>
            <a:ext cx="5334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impact-metric-2-label">
            <a:extLst xmlns:a="http://schemas.openxmlformats.org/drawingml/2006/main">
              <a:ext uri="{FF2B5EF4-FFF2-40B4-BE49-F238E27FC236}">
                <a16:creationId xmlns:a16="http://schemas.microsoft.com/office/drawing/2014/main" id="{B430BA4E-9B8A-44C8-8D90-4089FF6B4C28}"/>
              </a:ext>
            </a:extLst>
          </p:cNvPr>
          <p:cNvSpPr>
            <a:spLocks xmlns:a="http://schemas.openxmlformats.org/drawingml/2006/main" noGrp="1"/>
          </p:cNvSpPr>
          <p:nvPr/>
        </p:nvSpPr>
        <p:spPr>
          <a:xfrm xmlns:a="http://schemas.openxmlformats.org/drawingml/2006/main">
            <a:off x="5962650" y="37052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4A34"/>
                </a:solidFill>
                <a:latin typeface="Arial"/>
                <a:ea typeface="Arial"/>
                <a:cs typeface="Arial"/>
              </a:defRPr>
            </a:defPPr>
            <a:lvl1pPr algn="l">
              <a:defRPr sz="1350" b="1">
                <a:solidFill>
                  <a:srgbClr val="274A34"/>
                </a:solidFill>
                <a:latin typeface="Arial"/>
                <a:ea typeface="Arial"/>
                <a:cs typeface="Arial"/>
              </a:defRPr>
            </a:lvl1pPr>
            <a:lvl2pPr algn="l">
              <a:defRPr sz="1350" b="1">
                <a:solidFill>
                  <a:srgbClr val="274A34"/>
                </a:solidFill>
                <a:latin typeface="Arial"/>
                <a:ea typeface="Arial"/>
                <a:cs typeface="Arial"/>
              </a:defRPr>
            </a:lvl2pPr>
            <a:lvl3pPr algn="l">
              <a:defRPr sz="1350" b="1">
                <a:solidFill>
                  <a:srgbClr val="274A34"/>
                </a:solidFill>
                <a:latin typeface="Arial"/>
                <a:ea typeface="Arial"/>
                <a:cs typeface="Arial"/>
              </a:defRPr>
            </a:lvl3pPr>
            <a:lvl4pPr algn="l">
              <a:defRPr sz="1350" b="1">
                <a:solidFill>
                  <a:srgbClr val="274A34"/>
                </a:solidFill>
                <a:latin typeface="Arial"/>
                <a:ea typeface="Arial"/>
                <a:cs typeface="Arial"/>
              </a:defRPr>
            </a:lvl4pPr>
            <a:lvl5pPr algn="l">
              <a:defRPr sz="1350" b="1">
                <a:solidFill>
                  <a:srgbClr val="274A34"/>
                </a:solidFill>
                <a:latin typeface="Arial"/>
                <a:ea typeface="Arial"/>
                <a:cs typeface="Arial"/>
              </a:defRPr>
            </a:lvl5pPr>
            <a:lvl6pPr algn="l">
              <a:defRPr sz="1350" b="1">
                <a:solidFill>
                  <a:srgbClr val="274A34"/>
                </a:solidFill>
                <a:latin typeface="Arial"/>
                <a:ea typeface="Arial"/>
                <a:cs typeface="Arial"/>
              </a:defRPr>
            </a:lvl6pPr>
            <a:lvl7pPr algn="l">
              <a:defRPr sz="1350" b="1">
                <a:solidFill>
                  <a:srgbClr val="274A34"/>
                </a:solidFill>
                <a:latin typeface="Arial"/>
                <a:ea typeface="Arial"/>
                <a:cs typeface="Arial"/>
              </a:defRPr>
            </a:lvl7pPr>
            <a:lvl8pPr algn="l">
              <a:defRPr sz="1350" b="1">
                <a:solidFill>
                  <a:srgbClr val="274A34"/>
                </a:solidFill>
                <a:latin typeface="Arial"/>
                <a:ea typeface="Arial"/>
                <a:cs typeface="Arial"/>
              </a:defRPr>
            </a:lvl8pPr>
            <a:lvl9pPr algn="l">
              <a:defRPr sz="1350" b="1">
                <a:solidFill>
                  <a:srgbClr val="274A34"/>
                </a:solidFill>
                <a:latin typeface="Arial"/>
                <a:ea typeface="Arial"/>
                <a:cs typeface="Arial"/>
              </a:defRPr>
            </a:lvl9pPr>
          </a:lstStyle>
          <a:p xmlns:a="http://schemas.openxmlformats.org/drawingml/2006/main">
            <a:pPr algn="l">
              <a:defRPr sz="1350" b="1">
                <a:solidFill>
                  <a:srgbClr val="274A34"/>
                </a:solidFill>
                <a:latin typeface="Arial"/>
                <a:ea typeface="Arial"/>
                <a:cs typeface="Arial"/>
              </a:defRPr>
            </a:pPr>
            <a:r>
              <a:rPr sz="1350" b="1">
                <a:solidFill>
                  <a:srgbClr val="274A34"/>
                </a:solidFill>
                <a:latin typeface="Arial"/>
                <a:ea typeface="Arial"/>
                <a:cs typeface="Arial"/>
              </a:rPr>
              <a:t>Usefulness</a:t>
            </a:r>
          </a:p>
        </p:txBody>
      </p:sp>
      <p:sp>
        <p:nvSpPr>
          <p:cNvPr id="14" name="impact-metric-2-body">
            <a:extLst xmlns:a="http://schemas.openxmlformats.org/drawingml/2006/main">
              <a:ext uri="{FF2B5EF4-FFF2-40B4-BE49-F238E27FC236}">
                <a16:creationId xmlns:a16="http://schemas.microsoft.com/office/drawing/2014/main" id="{8515CFB2-E0B0-44DA-9AD4-B3195F0297F0}"/>
              </a:ext>
            </a:extLst>
          </p:cNvPr>
          <p:cNvSpPr>
            <a:spLocks xmlns:a="http://schemas.openxmlformats.org/drawingml/2006/main" noGrp="1"/>
          </p:cNvSpPr>
          <p:nvPr/>
        </p:nvSpPr>
        <p:spPr>
          <a:xfrm xmlns:a="http://schemas.openxmlformats.org/drawingml/2006/main">
            <a:off x="7477125" y="3705225"/>
            <a:ext cx="384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Time to understand options and whether users say the comparison helped.</a:t>
            </a:r>
          </a:p>
        </p:txBody>
      </p:sp>
      <p:sp>
        <p:nvSpPr>
          <p:cNvPr id="15" name="impact-metric-2-rule">
            <a:extLst xmlns:a="http://schemas.openxmlformats.org/drawingml/2006/main">
              <a:ext uri="{FF2B5EF4-FFF2-40B4-BE49-F238E27FC236}">
                <a16:creationId xmlns:a16="http://schemas.microsoft.com/office/drawing/2014/main" id="{44C0A6ED-248C-4AE5-8E48-6E954FC5849D}"/>
              </a:ext>
            </a:extLst>
          </p:cNvPr>
          <p:cNvSpPr>
            <a:spLocks xmlns:a="http://schemas.openxmlformats.org/drawingml/2006/main" noGrp="1"/>
          </p:cNvSpPr>
          <p:nvPr/>
        </p:nvSpPr>
        <p:spPr>
          <a:xfrm xmlns:a="http://schemas.openxmlformats.org/drawingml/2006/main">
            <a:off x="5962650" y="4352925"/>
            <a:ext cx="5334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6" name="impact-metric-3-label">
            <a:extLst xmlns:a="http://schemas.openxmlformats.org/drawingml/2006/main">
              <a:ext uri="{FF2B5EF4-FFF2-40B4-BE49-F238E27FC236}">
                <a16:creationId xmlns:a16="http://schemas.microsoft.com/office/drawing/2014/main" id="{AB941310-EB52-4234-BDDB-5049BDBB217B}"/>
              </a:ext>
            </a:extLst>
          </p:cNvPr>
          <p:cNvSpPr>
            <a:spLocks xmlns:a="http://schemas.openxmlformats.org/drawingml/2006/main" noGrp="1"/>
          </p:cNvSpPr>
          <p:nvPr/>
        </p:nvSpPr>
        <p:spPr>
          <a:xfrm xmlns:a="http://schemas.openxmlformats.org/drawingml/2006/main">
            <a:off x="5962650" y="45720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4A34"/>
                </a:solidFill>
                <a:latin typeface="Arial"/>
                <a:ea typeface="Arial"/>
                <a:cs typeface="Arial"/>
              </a:defRPr>
            </a:defPPr>
            <a:lvl1pPr algn="l">
              <a:defRPr sz="1350" b="1">
                <a:solidFill>
                  <a:srgbClr val="274A34"/>
                </a:solidFill>
                <a:latin typeface="Arial"/>
                <a:ea typeface="Arial"/>
                <a:cs typeface="Arial"/>
              </a:defRPr>
            </a:lvl1pPr>
            <a:lvl2pPr algn="l">
              <a:defRPr sz="1350" b="1">
                <a:solidFill>
                  <a:srgbClr val="274A34"/>
                </a:solidFill>
                <a:latin typeface="Arial"/>
                <a:ea typeface="Arial"/>
                <a:cs typeface="Arial"/>
              </a:defRPr>
            </a:lvl2pPr>
            <a:lvl3pPr algn="l">
              <a:defRPr sz="1350" b="1">
                <a:solidFill>
                  <a:srgbClr val="274A34"/>
                </a:solidFill>
                <a:latin typeface="Arial"/>
                <a:ea typeface="Arial"/>
                <a:cs typeface="Arial"/>
              </a:defRPr>
            </a:lvl3pPr>
            <a:lvl4pPr algn="l">
              <a:defRPr sz="1350" b="1">
                <a:solidFill>
                  <a:srgbClr val="274A34"/>
                </a:solidFill>
                <a:latin typeface="Arial"/>
                <a:ea typeface="Arial"/>
                <a:cs typeface="Arial"/>
              </a:defRPr>
            </a:lvl4pPr>
            <a:lvl5pPr algn="l">
              <a:defRPr sz="1350" b="1">
                <a:solidFill>
                  <a:srgbClr val="274A34"/>
                </a:solidFill>
                <a:latin typeface="Arial"/>
                <a:ea typeface="Arial"/>
                <a:cs typeface="Arial"/>
              </a:defRPr>
            </a:lvl5pPr>
            <a:lvl6pPr algn="l">
              <a:defRPr sz="1350" b="1">
                <a:solidFill>
                  <a:srgbClr val="274A34"/>
                </a:solidFill>
                <a:latin typeface="Arial"/>
                <a:ea typeface="Arial"/>
                <a:cs typeface="Arial"/>
              </a:defRPr>
            </a:lvl6pPr>
            <a:lvl7pPr algn="l">
              <a:defRPr sz="1350" b="1">
                <a:solidFill>
                  <a:srgbClr val="274A34"/>
                </a:solidFill>
                <a:latin typeface="Arial"/>
                <a:ea typeface="Arial"/>
                <a:cs typeface="Arial"/>
              </a:defRPr>
            </a:lvl7pPr>
            <a:lvl8pPr algn="l">
              <a:defRPr sz="1350" b="1">
                <a:solidFill>
                  <a:srgbClr val="274A34"/>
                </a:solidFill>
                <a:latin typeface="Arial"/>
                <a:ea typeface="Arial"/>
                <a:cs typeface="Arial"/>
              </a:defRPr>
            </a:lvl8pPr>
            <a:lvl9pPr algn="l">
              <a:defRPr sz="1350" b="1">
                <a:solidFill>
                  <a:srgbClr val="274A34"/>
                </a:solidFill>
                <a:latin typeface="Arial"/>
                <a:ea typeface="Arial"/>
                <a:cs typeface="Arial"/>
              </a:defRPr>
            </a:lvl9pPr>
          </a:lstStyle>
          <a:p xmlns:a="http://schemas.openxmlformats.org/drawingml/2006/main">
            <a:pPr algn="l">
              <a:defRPr sz="1350" b="1">
                <a:solidFill>
                  <a:srgbClr val="274A34"/>
                </a:solidFill>
                <a:latin typeface="Arial"/>
                <a:ea typeface="Arial"/>
                <a:cs typeface="Arial"/>
              </a:defRPr>
            </a:pPr>
            <a:r>
              <a:rPr sz="1350" b="1">
                <a:solidFill>
                  <a:srgbClr val="274A34"/>
                </a:solidFill>
                <a:latin typeface="Arial"/>
                <a:ea typeface="Arial"/>
                <a:cs typeface="Arial"/>
              </a:rPr>
              <a:t>Outcomes</a:t>
            </a:r>
          </a:p>
        </p:txBody>
      </p:sp>
      <p:sp>
        <p:nvSpPr>
          <p:cNvPr id="17" name="impact-metric-3-body">
            <a:extLst xmlns:a="http://schemas.openxmlformats.org/drawingml/2006/main">
              <a:ext uri="{FF2B5EF4-FFF2-40B4-BE49-F238E27FC236}">
                <a16:creationId xmlns:a16="http://schemas.microsoft.com/office/drawing/2014/main" id="{35A32E4B-7C36-4BD2-ABD9-AD607E99A230}"/>
              </a:ext>
            </a:extLst>
          </p:cNvPr>
          <p:cNvSpPr>
            <a:spLocks xmlns:a="http://schemas.openxmlformats.org/drawingml/2006/main" noGrp="1"/>
          </p:cNvSpPr>
          <p:nvPr/>
        </p:nvSpPr>
        <p:spPr>
          <a:xfrm xmlns:a="http://schemas.openxmlformats.org/drawingml/2006/main">
            <a:off x="7477125" y="4572000"/>
            <a:ext cx="384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Follow-up choices and realized results, with consent and context.</a:t>
            </a:r>
          </a:p>
        </p:txBody>
      </p:sp>
      <p:sp>
        <p:nvSpPr>
          <p:cNvPr id="18" name="impact-global-mark">
            <a:extLst xmlns:a="http://schemas.openxmlformats.org/drawingml/2006/main">
              <a:ext uri="{FF2B5EF4-FFF2-40B4-BE49-F238E27FC236}">
                <a16:creationId xmlns:a16="http://schemas.microsoft.com/office/drawing/2014/main" id="{E0A4B5BA-2E2B-4424-B5C0-22EFD44EE62A}"/>
              </a:ext>
            </a:extLst>
          </p:cNvPr>
          <p:cNvSpPr>
            <a:spLocks xmlns:a="http://schemas.openxmlformats.org/drawingml/2006/main" noGrp="1"/>
          </p:cNvSpPr>
          <p:nvPr/>
        </p:nvSpPr>
        <p:spPr>
          <a:xfrm xmlns:a="http://schemas.openxmlformats.org/drawingml/2006/main">
            <a:off x="781050" y="5305425"/>
            <a:ext cx="38100" cy="666750"/>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19" name="impact-global-label">
            <a:extLst xmlns:a="http://schemas.openxmlformats.org/drawingml/2006/main">
              <a:ext uri="{FF2B5EF4-FFF2-40B4-BE49-F238E27FC236}">
                <a16:creationId xmlns:a16="http://schemas.microsoft.com/office/drawing/2014/main" id="{B5A45178-6145-475E-9FC9-67C442BD82D6}"/>
              </a:ext>
            </a:extLst>
          </p:cNvPr>
          <p:cNvSpPr>
            <a:spLocks xmlns:a="http://schemas.openxmlformats.org/drawingml/2006/main" noGrp="1"/>
          </p:cNvSpPr>
          <p:nvPr/>
        </p:nvSpPr>
        <p:spPr>
          <a:xfrm xmlns:a="http://schemas.openxmlformats.org/drawingml/2006/main">
            <a:off x="962025" y="5314950"/>
            <a:ext cx="1666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C78A38"/>
                </a:solidFill>
                <a:latin typeface="Arial"/>
                <a:ea typeface="Arial"/>
                <a:cs typeface="Arial"/>
              </a:defRPr>
            </a:defPPr>
            <a:lvl1pPr algn="l">
              <a:defRPr sz="825" b="1">
                <a:solidFill>
                  <a:srgbClr val="C78A38"/>
                </a:solidFill>
                <a:latin typeface="Arial"/>
                <a:ea typeface="Arial"/>
                <a:cs typeface="Arial"/>
              </a:defRPr>
            </a:lvl1pPr>
            <a:lvl2pPr algn="l">
              <a:defRPr sz="825" b="1">
                <a:solidFill>
                  <a:srgbClr val="C78A38"/>
                </a:solidFill>
                <a:latin typeface="Arial"/>
                <a:ea typeface="Arial"/>
                <a:cs typeface="Arial"/>
              </a:defRPr>
            </a:lvl2pPr>
            <a:lvl3pPr algn="l">
              <a:defRPr sz="825" b="1">
                <a:solidFill>
                  <a:srgbClr val="C78A38"/>
                </a:solidFill>
                <a:latin typeface="Arial"/>
                <a:ea typeface="Arial"/>
                <a:cs typeface="Arial"/>
              </a:defRPr>
            </a:lvl3pPr>
            <a:lvl4pPr algn="l">
              <a:defRPr sz="825" b="1">
                <a:solidFill>
                  <a:srgbClr val="C78A38"/>
                </a:solidFill>
                <a:latin typeface="Arial"/>
                <a:ea typeface="Arial"/>
                <a:cs typeface="Arial"/>
              </a:defRPr>
            </a:lvl4pPr>
            <a:lvl5pPr algn="l">
              <a:defRPr sz="825" b="1">
                <a:solidFill>
                  <a:srgbClr val="C78A38"/>
                </a:solidFill>
                <a:latin typeface="Arial"/>
                <a:ea typeface="Arial"/>
                <a:cs typeface="Arial"/>
              </a:defRPr>
            </a:lvl5pPr>
            <a:lvl6pPr algn="l">
              <a:defRPr sz="825" b="1">
                <a:solidFill>
                  <a:srgbClr val="C78A38"/>
                </a:solidFill>
                <a:latin typeface="Arial"/>
                <a:ea typeface="Arial"/>
                <a:cs typeface="Arial"/>
              </a:defRPr>
            </a:lvl6pPr>
            <a:lvl7pPr algn="l">
              <a:defRPr sz="825" b="1">
                <a:solidFill>
                  <a:srgbClr val="C78A38"/>
                </a:solidFill>
                <a:latin typeface="Arial"/>
                <a:ea typeface="Arial"/>
                <a:cs typeface="Arial"/>
              </a:defRPr>
            </a:lvl7pPr>
            <a:lvl8pPr algn="l">
              <a:defRPr sz="825" b="1">
                <a:solidFill>
                  <a:srgbClr val="C78A38"/>
                </a:solidFill>
                <a:latin typeface="Arial"/>
                <a:ea typeface="Arial"/>
                <a:cs typeface="Arial"/>
              </a:defRPr>
            </a:lvl8pPr>
            <a:lvl9pPr algn="l">
              <a:defRPr sz="825" b="1">
                <a:solidFill>
                  <a:srgbClr val="C78A38"/>
                </a:solidFill>
                <a:latin typeface="Arial"/>
                <a:ea typeface="Arial"/>
                <a:cs typeface="Arial"/>
              </a:defRPr>
            </a:lvl9pPr>
          </a:lstStyle>
          <a:p xmlns:a="http://schemas.openxmlformats.org/drawingml/2006/main">
            <a:pPr algn="l">
              <a:defRPr sz="825" b="1">
                <a:solidFill>
                  <a:srgbClr val="C78A38"/>
                </a:solidFill>
                <a:latin typeface="Arial"/>
                <a:ea typeface="Arial"/>
                <a:cs typeface="Arial"/>
              </a:defRPr>
            </a:pPr>
            <a:r>
              <a:rPr sz="825" b="1">
                <a:solidFill>
                  <a:srgbClr val="C78A38"/>
                </a:solidFill>
                <a:latin typeface="Arial"/>
                <a:ea typeface="Arial"/>
                <a:cs typeface="Arial"/>
              </a:rPr>
              <a:t>TO EXPAND GLOBALLY</a:t>
            </a:r>
          </a:p>
        </p:txBody>
      </p:sp>
      <p:sp>
        <p:nvSpPr>
          <p:cNvPr id="20" name="impact-global-copy">
            <a:extLst xmlns:a="http://schemas.openxmlformats.org/drawingml/2006/main">
              <a:ext uri="{FF2B5EF4-FFF2-40B4-BE49-F238E27FC236}">
                <a16:creationId xmlns:a16="http://schemas.microsoft.com/office/drawing/2014/main" id="{0E305C37-CD1A-4575-84B1-81FE630B19ED}"/>
              </a:ext>
            </a:extLst>
          </p:cNvPr>
          <p:cNvSpPr>
            <a:spLocks xmlns:a="http://schemas.openxmlformats.org/drawingml/2006/main" noGrp="1"/>
          </p:cNvSpPr>
          <p:nvPr/>
        </p:nvSpPr>
        <p:spPr>
          <a:xfrm xmlns:a="http://schemas.openxmlformats.org/drawingml/2006/main">
            <a:off x="2676525" y="5286375"/>
            <a:ext cx="86201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74A34"/>
                </a:solidFill>
                <a:latin typeface="Arial"/>
                <a:ea typeface="Arial"/>
                <a:cs typeface="Arial"/>
              </a:defRPr>
            </a:defPPr>
            <a:lvl1pPr algn="l">
              <a:defRPr sz="1200" b="0">
                <a:solidFill>
                  <a:srgbClr val="274A34"/>
                </a:solidFill>
                <a:latin typeface="Arial"/>
                <a:ea typeface="Arial"/>
                <a:cs typeface="Arial"/>
              </a:defRPr>
            </a:lvl1pPr>
            <a:lvl2pPr algn="l">
              <a:defRPr sz="1200" b="0">
                <a:solidFill>
                  <a:srgbClr val="274A34"/>
                </a:solidFill>
                <a:latin typeface="Arial"/>
                <a:ea typeface="Arial"/>
                <a:cs typeface="Arial"/>
              </a:defRPr>
            </a:lvl2pPr>
            <a:lvl3pPr algn="l">
              <a:defRPr sz="1200" b="0">
                <a:solidFill>
                  <a:srgbClr val="274A34"/>
                </a:solidFill>
                <a:latin typeface="Arial"/>
                <a:ea typeface="Arial"/>
                <a:cs typeface="Arial"/>
              </a:defRPr>
            </a:lvl3pPr>
            <a:lvl4pPr algn="l">
              <a:defRPr sz="1200" b="0">
                <a:solidFill>
                  <a:srgbClr val="274A34"/>
                </a:solidFill>
                <a:latin typeface="Arial"/>
                <a:ea typeface="Arial"/>
                <a:cs typeface="Arial"/>
              </a:defRPr>
            </a:lvl4pPr>
            <a:lvl5pPr algn="l">
              <a:defRPr sz="1200" b="0">
                <a:solidFill>
                  <a:srgbClr val="274A34"/>
                </a:solidFill>
                <a:latin typeface="Arial"/>
                <a:ea typeface="Arial"/>
                <a:cs typeface="Arial"/>
              </a:defRPr>
            </a:lvl5pPr>
            <a:lvl6pPr algn="l">
              <a:defRPr sz="1200" b="0">
                <a:solidFill>
                  <a:srgbClr val="274A34"/>
                </a:solidFill>
                <a:latin typeface="Arial"/>
                <a:ea typeface="Arial"/>
                <a:cs typeface="Arial"/>
              </a:defRPr>
            </a:lvl6pPr>
            <a:lvl7pPr algn="l">
              <a:defRPr sz="1200" b="0">
                <a:solidFill>
                  <a:srgbClr val="274A34"/>
                </a:solidFill>
                <a:latin typeface="Arial"/>
                <a:ea typeface="Arial"/>
                <a:cs typeface="Arial"/>
              </a:defRPr>
            </a:lvl7pPr>
            <a:lvl8pPr algn="l">
              <a:defRPr sz="1200" b="0">
                <a:solidFill>
                  <a:srgbClr val="274A34"/>
                </a:solidFill>
                <a:latin typeface="Arial"/>
                <a:ea typeface="Arial"/>
                <a:cs typeface="Arial"/>
              </a:defRPr>
            </a:lvl8pPr>
            <a:lvl9pPr algn="l">
              <a:defRPr sz="1200" b="0">
                <a:solidFill>
                  <a:srgbClr val="274A34"/>
                </a:solidFill>
                <a:latin typeface="Arial"/>
                <a:ea typeface="Arial"/>
                <a:cs typeface="Arial"/>
              </a:defRPr>
            </a:lvl9pPr>
          </a:lstStyle>
          <a:p xmlns:a="http://schemas.openxmlformats.org/drawingml/2006/main">
            <a:pPr algn="l">
              <a:defRPr sz="1200" b="0">
                <a:solidFill>
                  <a:srgbClr val="274A34"/>
                </a:solidFill>
                <a:latin typeface="Arial"/>
                <a:ea typeface="Arial"/>
                <a:cs typeface="Arial"/>
              </a:defRPr>
            </a:pPr>
            <a:r>
              <a:rPr sz="1200" b="0">
                <a:solidFill>
                  <a:srgbClr val="274A34"/>
                </a:solidFill>
                <a:latin typeface="Arial"/>
                <a:ea typeface="Arial"/>
                <a:cs typeface="Arial"/>
              </a:rPr>
              <a:t>Localize crop and grade, market feeds, units, currency, weather/storage evidence, language and privacy rules; validate with farmers before claiming outcomes.</a:t>
            </a:r>
          </a:p>
        </p:txBody>
      </p:sp>
    </p:spTree>
    <p:extLst>
      <p:ext uri="{BB962C8B-B14F-4D97-AF65-F5344CB8AC3E}">
        <p14:creationId xmlns:p14="http://schemas.microsoft.com/office/powerpoint/2010/main" val="643162162"/>
      </p:ext>
    </p:extLst>
  </p:cSld>
</p:sld>
</file>

<file path=ppt/slides/slide8.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24" name="status-index">
            <a:extLst xmlns:a="http://schemas.openxmlformats.org/drawingml/2006/main">
              <a:ext uri="{FF2B5EF4-FFF2-40B4-BE49-F238E27FC236}">
                <a16:creationId xmlns:a16="http://schemas.microsoft.com/office/drawing/2014/main" id="{1C1BDF82-6B48-4722-88BE-F1A582A95CC1}"/>
              </a:ext>
            </a:extLst>
          </p:cNvPr>
          <p:cNvSpPr>
            <a:spLocks xmlns:a="http://schemas.openxmlformats.org/drawingml/2006/main" noGrp="1"/>
          </p:cNvSpPr>
          <p:nvPr/>
        </p:nvSpPr>
        <p:spPr>
          <a:xfrm xmlns:a="http://schemas.openxmlformats.org/drawingml/2006/main">
            <a:off x="762000" y="5048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OPEN AGENT MAIZE   /   VALIDATION</a:t>
            </a:r>
          </a:p>
        </p:txBody>
      </p:sp>
      <p:sp>
        <p:nvSpPr>
          <p:cNvPr id="2" name="status-title">
            <a:extLst xmlns:a="http://schemas.openxmlformats.org/drawingml/2006/main">
              <a:ext uri="{FF2B5EF4-FFF2-40B4-BE49-F238E27FC236}">
                <a16:creationId xmlns:a16="http://schemas.microsoft.com/office/drawing/2014/main" id="{0A0E474D-B1B4-47A8-9610-3CF694B5C4E6}"/>
              </a:ext>
            </a:extLst>
          </p:cNvPr>
          <p:cNvSpPr>
            <a:spLocks xmlns:a="http://schemas.openxmlformats.org/drawingml/2006/main" noGrp="1"/>
          </p:cNvSpPr>
          <p:nvPr/>
        </p:nvSpPr>
        <p:spPr>
          <a:xfrm xmlns:a="http://schemas.openxmlformats.org/drawingml/2006/main">
            <a:off x="742950" y="866775"/>
            <a:ext cx="104775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0">
                <a:solidFill>
                  <a:srgbClr val="FFFEFA"/>
                </a:solidFill>
                <a:latin typeface="Georgia"/>
                <a:ea typeface="Georgia"/>
                <a:cs typeface="Georgia"/>
              </a:defRPr>
            </a:defPPr>
            <a:lvl1pPr algn="l">
              <a:defRPr sz="3300" b="0">
                <a:solidFill>
                  <a:srgbClr val="FFFEFA"/>
                </a:solidFill>
                <a:latin typeface="Georgia"/>
                <a:ea typeface="Georgia"/>
                <a:cs typeface="Georgia"/>
              </a:defRPr>
            </a:lvl1pPr>
            <a:lvl2pPr algn="l">
              <a:defRPr sz="3300" b="0">
                <a:solidFill>
                  <a:srgbClr val="FFFEFA"/>
                </a:solidFill>
                <a:latin typeface="Georgia"/>
                <a:ea typeface="Georgia"/>
                <a:cs typeface="Georgia"/>
              </a:defRPr>
            </a:lvl2pPr>
            <a:lvl3pPr algn="l">
              <a:defRPr sz="3300" b="0">
                <a:solidFill>
                  <a:srgbClr val="FFFEFA"/>
                </a:solidFill>
                <a:latin typeface="Georgia"/>
                <a:ea typeface="Georgia"/>
                <a:cs typeface="Georgia"/>
              </a:defRPr>
            </a:lvl3pPr>
            <a:lvl4pPr algn="l">
              <a:defRPr sz="3300" b="0">
                <a:solidFill>
                  <a:srgbClr val="FFFEFA"/>
                </a:solidFill>
                <a:latin typeface="Georgia"/>
                <a:ea typeface="Georgia"/>
                <a:cs typeface="Georgia"/>
              </a:defRPr>
            </a:lvl4pPr>
            <a:lvl5pPr algn="l">
              <a:defRPr sz="3300" b="0">
                <a:solidFill>
                  <a:srgbClr val="FFFEFA"/>
                </a:solidFill>
                <a:latin typeface="Georgia"/>
                <a:ea typeface="Georgia"/>
                <a:cs typeface="Georgia"/>
              </a:defRPr>
            </a:lvl5pPr>
            <a:lvl6pPr algn="l">
              <a:defRPr sz="3300" b="0">
                <a:solidFill>
                  <a:srgbClr val="FFFEFA"/>
                </a:solidFill>
                <a:latin typeface="Georgia"/>
                <a:ea typeface="Georgia"/>
                <a:cs typeface="Georgia"/>
              </a:defRPr>
            </a:lvl6pPr>
            <a:lvl7pPr algn="l">
              <a:defRPr sz="3300" b="0">
                <a:solidFill>
                  <a:srgbClr val="FFFEFA"/>
                </a:solidFill>
                <a:latin typeface="Georgia"/>
                <a:ea typeface="Georgia"/>
                <a:cs typeface="Georgia"/>
              </a:defRPr>
            </a:lvl7pPr>
            <a:lvl8pPr algn="l">
              <a:defRPr sz="3300" b="0">
                <a:solidFill>
                  <a:srgbClr val="FFFEFA"/>
                </a:solidFill>
                <a:latin typeface="Georgia"/>
                <a:ea typeface="Georgia"/>
                <a:cs typeface="Georgia"/>
              </a:defRPr>
            </a:lvl8pPr>
            <a:lvl9pPr algn="l">
              <a:defRPr sz="3300" b="0">
                <a:solidFill>
                  <a:srgbClr val="FFFEFA"/>
                </a:solidFill>
                <a:latin typeface="Georgia"/>
                <a:ea typeface="Georgia"/>
                <a:cs typeface="Georgia"/>
              </a:defRPr>
            </a:lvl9pPr>
          </a:lstStyle>
          <a:p xmlns:a="http://schemas.openxmlformats.org/drawingml/2006/main">
            <a:pPr algn="l">
              <a:defRPr sz="3300" b="0">
                <a:solidFill>
                  <a:srgbClr val="FFFEFA"/>
                </a:solidFill>
                <a:latin typeface="Georgia"/>
                <a:ea typeface="Georgia"/>
                <a:cs typeface="Georgia"/>
              </a:defRPr>
            </a:pPr>
            <a:r>
              <a:rPr sz="3300" b="0">
                <a:solidFill>
                  <a:srgbClr val="FFFEFA"/>
                </a:solidFill>
                <a:latin typeface="Georgia"/>
                <a:ea typeface="Georgia"/>
                <a:cs typeface="Georgia"/>
              </a:rPr>
              <a:t>Ready to demo the verified live workflow</a:t>
            </a:r>
          </a:p>
        </p:txBody>
      </p:sp>
      <p:sp>
        <p:nvSpPr>
          <p:cNvPr id="3" name="status-subtitle">
            <a:extLst xmlns:a="http://schemas.openxmlformats.org/drawingml/2006/main">
              <a:ext uri="{FF2B5EF4-FFF2-40B4-BE49-F238E27FC236}">
                <a16:creationId xmlns:a16="http://schemas.microsoft.com/office/drawing/2014/main" id="{B5BFCE38-2F74-41CF-B80A-5A5DA5D3779E}"/>
              </a:ext>
            </a:extLst>
          </p:cNvPr>
          <p:cNvSpPr>
            <a:spLocks xmlns:a="http://schemas.openxmlformats.org/drawingml/2006/main" noGrp="1"/>
          </p:cNvSpPr>
          <p:nvPr/>
        </p:nvSpPr>
        <p:spPr>
          <a:xfrm xmlns:a="http://schemas.openxmlformats.org/drawingml/2006/main">
            <a:off x="771525" y="15811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4D0C2"/>
                </a:solidFill>
                <a:latin typeface="Arial"/>
                <a:ea typeface="Arial"/>
                <a:cs typeface="Arial"/>
              </a:defRPr>
            </a:defPPr>
            <a:lvl1pPr algn="l">
              <a:defRPr sz="1350" b="0">
                <a:solidFill>
                  <a:srgbClr val="C4D0C2"/>
                </a:solidFill>
                <a:latin typeface="Arial"/>
                <a:ea typeface="Arial"/>
                <a:cs typeface="Arial"/>
              </a:defRPr>
            </a:lvl1pPr>
            <a:lvl2pPr algn="l">
              <a:defRPr sz="1350" b="0">
                <a:solidFill>
                  <a:srgbClr val="C4D0C2"/>
                </a:solidFill>
                <a:latin typeface="Arial"/>
                <a:ea typeface="Arial"/>
                <a:cs typeface="Arial"/>
              </a:defRPr>
            </a:lvl2pPr>
            <a:lvl3pPr algn="l">
              <a:defRPr sz="1350" b="0">
                <a:solidFill>
                  <a:srgbClr val="C4D0C2"/>
                </a:solidFill>
                <a:latin typeface="Arial"/>
                <a:ea typeface="Arial"/>
                <a:cs typeface="Arial"/>
              </a:defRPr>
            </a:lvl3pPr>
            <a:lvl4pPr algn="l">
              <a:defRPr sz="1350" b="0">
                <a:solidFill>
                  <a:srgbClr val="C4D0C2"/>
                </a:solidFill>
                <a:latin typeface="Arial"/>
                <a:ea typeface="Arial"/>
                <a:cs typeface="Arial"/>
              </a:defRPr>
            </a:lvl4pPr>
            <a:lvl5pPr algn="l">
              <a:defRPr sz="1350" b="0">
                <a:solidFill>
                  <a:srgbClr val="C4D0C2"/>
                </a:solidFill>
                <a:latin typeface="Arial"/>
                <a:ea typeface="Arial"/>
                <a:cs typeface="Arial"/>
              </a:defRPr>
            </a:lvl5pPr>
            <a:lvl6pPr algn="l">
              <a:defRPr sz="1350" b="0">
                <a:solidFill>
                  <a:srgbClr val="C4D0C2"/>
                </a:solidFill>
                <a:latin typeface="Arial"/>
                <a:ea typeface="Arial"/>
                <a:cs typeface="Arial"/>
              </a:defRPr>
            </a:lvl6pPr>
            <a:lvl7pPr algn="l">
              <a:defRPr sz="1350" b="0">
                <a:solidFill>
                  <a:srgbClr val="C4D0C2"/>
                </a:solidFill>
                <a:latin typeface="Arial"/>
                <a:ea typeface="Arial"/>
                <a:cs typeface="Arial"/>
              </a:defRPr>
            </a:lvl7pPr>
            <a:lvl8pPr algn="l">
              <a:defRPr sz="1350" b="0">
                <a:solidFill>
                  <a:srgbClr val="C4D0C2"/>
                </a:solidFill>
                <a:latin typeface="Arial"/>
                <a:ea typeface="Arial"/>
                <a:cs typeface="Arial"/>
              </a:defRPr>
            </a:lvl8pPr>
            <a:lvl9pPr algn="l">
              <a:defRPr sz="1350" b="0">
                <a:solidFill>
                  <a:srgbClr val="C4D0C2"/>
                </a:solidFill>
                <a:latin typeface="Arial"/>
                <a:ea typeface="Arial"/>
                <a:cs typeface="Arial"/>
              </a:defRPr>
            </a:lvl9pPr>
          </a:lstStyle>
          <a:p xmlns:a="http://schemas.openxmlformats.org/drawingml/2006/main">
            <a:pPr algn="l">
              <a:defRPr sz="1350" b="0">
                <a:solidFill>
                  <a:srgbClr val="C4D0C2"/>
                </a:solidFill>
                <a:latin typeface="Arial"/>
                <a:ea typeface="Arial"/>
                <a:cs typeface="Arial"/>
              </a:defRPr>
            </a:pPr>
            <a:r>
              <a:rPr sz="1350" b="0">
                <a:solidFill>
                  <a:srgbClr val="C4D0C2"/>
                </a:solidFill>
                <a:latin typeface="Arial"/>
                <a:ea typeface="Arial"/>
                <a:cs typeface="Arial"/>
              </a:rPr>
              <a:t>Checked 24 October 2026. Zetaris is live; the system correctly withholds advice when evidence is stale.</a:t>
            </a:r>
          </a:p>
        </p:txBody>
      </p:sp>
      <p:sp>
        <p:nvSpPr>
          <p:cNvPr id="4" name="status-divider">
            <a:extLst xmlns:a="http://schemas.openxmlformats.org/drawingml/2006/main">
              <a:ext uri="{FF2B5EF4-FFF2-40B4-BE49-F238E27FC236}">
                <a16:creationId xmlns:a16="http://schemas.microsoft.com/office/drawing/2014/main" id="{3F40E6BC-22E0-4619-A7AB-FF1CB0B5B101}"/>
              </a:ext>
            </a:extLst>
          </p:cNvPr>
          <p:cNvSpPr>
            <a:spLocks xmlns:a="http://schemas.openxmlformats.org/drawingml/2006/main" noGrp="1"/>
          </p:cNvSpPr>
          <p:nvPr/>
        </p:nvSpPr>
        <p:spPr>
          <a:xfrm xmlns:a="http://schemas.openxmlformats.org/drawingml/2006/main">
            <a:off x="762000" y="2133600"/>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5" name="status-1-sign">
            <a:extLst xmlns:a="http://schemas.openxmlformats.org/drawingml/2006/main">
              <a:ext uri="{FF2B5EF4-FFF2-40B4-BE49-F238E27FC236}">
                <a16:creationId xmlns:a16="http://schemas.microsoft.com/office/drawing/2014/main" id="{BDA73657-AA4A-4467-AC0C-DF4E5A1A3CAA}"/>
              </a:ext>
            </a:extLst>
          </p:cNvPr>
          <p:cNvSpPr>
            <a:spLocks xmlns:a="http://schemas.openxmlformats.org/drawingml/2006/main" noGrp="1"/>
          </p:cNvSpPr>
          <p:nvPr/>
        </p:nvSpPr>
        <p:spPr>
          <a:xfrm xmlns:a="http://schemas.openxmlformats.org/drawingml/2006/main">
            <a:off x="790575" y="2343150"/>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PASS</a:t>
            </a:r>
          </a:p>
        </p:txBody>
      </p:sp>
      <p:sp>
        <p:nvSpPr>
          <p:cNvPr id="6" name="status-1-title">
            <a:extLst xmlns:a="http://schemas.openxmlformats.org/drawingml/2006/main">
              <a:ext uri="{FF2B5EF4-FFF2-40B4-BE49-F238E27FC236}">
                <a16:creationId xmlns:a16="http://schemas.microsoft.com/office/drawing/2014/main" id="{56FAF459-1761-47EE-B6BE-3DBA43239C1D}"/>
              </a:ext>
            </a:extLst>
          </p:cNvPr>
          <p:cNvSpPr>
            <a:spLocks xmlns:a="http://schemas.openxmlformats.org/drawingml/2006/main" noGrp="1"/>
          </p:cNvSpPr>
          <p:nvPr/>
        </p:nvSpPr>
        <p:spPr>
          <a:xfrm xmlns:a="http://schemas.openxmlformats.org/drawingml/2006/main">
            <a:off x="1924050" y="2314575"/>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Web UI and backend respond</a:t>
            </a:r>
          </a:p>
        </p:txBody>
      </p:sp>
      <p:sp>
        <p:nvSpPr>
          <p:cNvPr id="7" name="status-1-body">
            <a:extLst xmlns:a="http://schemas.openxmlformats.org/drawingml/2006/main">
              <a:ext uri="{FF2B5EF4-FFF2-40B4-BE49-F238E27FC236}">
                <a16:creationId xmlns:a16="http://schemas.microsoft.com/office/drawing/2014/main" id="{9AB176FD-CBA6-47A2-9C66-E0A617865C3E}"/>
              </a:ext>
            </a:extLst>
          </p:cNvPr>
          <p:cNvSpPr>
            <a:spLocks xmlns:a="http://schemas.openxmlformats.org/drawingml/2006/main" noGrp="1"/>
          </p:cNvSpPr>
          <p:nvPr/>
        </p:nvSpPr>
        <p:spPr>
          <a:xfrm xmlns:a="http://schemas.openxmlformats.org/drawingml/2006/main">
            <a:off x="1924050" y="2581275"/>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Fastify :8000 and React :3001 are live; UI health and API proxy return 200. 66 tests pass.</a:t>
            </a:r>
          </a:p>
        </p:txBody>
      </p:sp>
      <p:sp>
        <p:nvSpPr>
          <p:cNvPr id="8" name="status-1-rule">
            <a:extLst xmlns:a="http://schemas.openxmlformats.org/drawingml/2006/main">
              <a:ext uri="{FF2B5EF4-FFF2-40B4-BE49-F238E27FC236}">
                <a16:creationId xmlns:a16="http://schemas.microsoft.com/office/drawing/2014/main" id="{4587EA35-DF69-4991-9755-CA68727F49B9}"/>
              </a:ext>
            </a:extLst>
          </p:cNvPr>
          <p:cNvSpPr>
            <a:spLocks xmlns:a="http://schemas.openxmlformats.org/drawingml/2006/main" noGrp="1"/>
          </p:cNvSpPr>
          <p:nvPr/>
        </p:nvSpPr>
        <p:spPr>
          <a:xfrm xmlns:a="http://schemas.openxmlformats.org/drawingml/2006/main">
            <a:off x="1924050" y="3028950"/>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9" name="status-2-sign">
            <a:extLst xmlns:a="http://schemas.openxmlformats.org/drawingml/2006/main">
              <a:ext uri="{FF2B5EF4-FFF2-40B4-BE49-F238E27FC236}">
                <a16:creationId xmlns:a16="http://schemas.microsoft.com/office/drawing/2014/main" id="{298C3216-8BDA-48DF-8D05-AE7AF7C4A268}"/>
              </a:ext>
            </a:extLst>
          </p:cNvPr>
          <p:cNvSpPr>
            <a:spLocks xmlns:a="http://schemas.openxmlformats.org/drawingml/2006/main" noGrp="1"/>
          </p:cNvSpPr>
          <p:nvPr/>
        </p:nvSpPr>
        <p:spPr>
          <a:xfrm xmlns:a="http://schemas.openxmlformats.org/drawingml/2006/main">
            <a:off x="790575" y="31337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PASS</a:t>
            </a:r>
          </a:p>
        </p:txBody>
      </p:sp>
      <p:sp>
        <p:nvSpPr>
          <p:cNvPr id="10" name="status-2-title">
            <a:extLst xmlns:a="http://schemas.openxmlformats.org/drawingml/2006/main">
              <a:ext uri="{FF2B5EF4-FFF2-40B4-BE49-F238E27FC236}">
                <a16:creationId xmlns:a16="http://schemas.microsoft.com/office/drawing/2014/main" id="{B8E23D3B-2D11-4873-84EE-E7E157118E82}"/>
              </a:ext>
            </a:extLst>
          </p:cNvPr>
          <p:cNvSpPr>
            <a:spLocks xmlns:a="http://schemas.openxmlformats.org/drawingml/2006/main" noGrp="1"/>
          </p:cNvSpPr>
          <p:nvPr/>
        </p:nvSpPr>
        <p:spPr>
          <a:xfrm xmlns:a="http://schemas.openxmlformats.org/drawingml/2006/main">
            <a:off x="1924050" y="3105150"/>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Zetaris SQL is live</a:t>
            </a:r>
          </a:p>
        </p:txBody>
      </p:sp>
      <p:sp>
        <p:nvSpPr>
          <p:cNvPr id="11" name="status-2-body">
            <a:extLst xmlns:a="http://schemas.openxmlformats.org/drawingml/2006/main">
              <a:ext uri="{FF2B5EF4-FFF2-40B4-BE49-F238E27FC236}">
                <a16:creationId xmlns:a16="http://schemas.microsoft.com/office/drawing/2014/main" id="{6694447A-4B4D-45FE-A3E3-4C34CDB69567}"/>
              </a:ext>
            </a:extLst>
          </p:cNvPr>
          <p:cNvSpPr>
            <a:spLocks xmlns:a="http://schemas.openxmlformats.org/drawingml/2006/main" noGrp="1"/>
          </p:cNvSpPr>
          <p:nvPr/>
        </p:nvSpPr>
        <p:spPr>
          <a:xfrm xmlns:a="http://schemas.openxmlformats.org/drawingml/2006/main">
            <a:off x="1924050" y="337185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All five views returned counts: prices 51 · weather 8 · news 8 · storage rules 8 · ledger 4.</a:t>
            </a:r>
          </a:p>
        </p:txBody>
      </p:sp>
      <p:sp>
        <p:nvSpPr>
          <p:cNvPr id="12" name="status-2-rule">
            <a:extLst xmlns:a="http://schemas.openxmlformats.org/drawingml/2006/main">
              <a:ext uri="{FF2B5EF4-FFF2-40B4-BE49-F238E27FC236}">
                <a16:creationId xmlns:a16="http://schemas.microsoft.com/office/drawing/2014/main" id="{B714AC68-8DEA-45D5-8B47-B0CE26301F30}"/>
              </a:ext>
            </a:extLst>
          </p:cNvPr>
          <p:cNvSpPr>
            <a:spLocks xmlns:a="http://schemas.openxmlformats.org/drawingml/2006/main" noGrp="1"/>
          </p:cNvSpPr>
          <p:nvPr/>
        </p:nvSpPr>
        <p:spPr>
          <a:xfrm xmlns:a="http://schemas.openxmlformats.org/drawingml/2006/main">
            <a:off x="1924050" y="3819525"/>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3" name="status-3-sign">
            <a:extLst xmlns:a="http://schemas.openxmlformats.org/drawingml/2006/main">
              <a:ext uri="{FF2B5EF4-FFF2-40B4-BE49-F238E27FC236}">
                <a16:creationId xmlns:a16="http://schemas.microsoft.com/office/drawing/2014/main" id="{521E3AD3-C8AC-49B4-8F41-538E257060B9}"/>
              </a:ext>
            </a:extLst>
          </p:cNvPr>
          <p:cNvSpPr>
            <a:spLocks xmlns:a="http://schemas.openxmlformats.org/drawingml/2006/main" noGrp="1"/>
          </p:cNvSpPr>
          <p:nvPr/>
        </p:nvSpPr>
        <p:spPr>
          <a:xfrm xmlns:a="http://schemas.openxmlformats.org/drawingml/2006/main">
            <a:off x="790575" y="3924300"/>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TEAM READY</a:t>
            </a:r>
          </a:p>
        </p:txBody>
      </p:sp>
      <p:sp>
        <p:nvSpPr>
          <p:cNvPr id="14" name="status-3-title">
            <a:extLst xmlns:a="http://schemas.openxmlformats.org/drawingml/2006/main">
              <a:ext uri="{FF2B5EF4-FFF2-40B4-BE49-F238E27FC236}">
                <a16:creationId xmlns:a16="http://schemas.microsoft.com/office/drawing/2014/main" id="{E7B87BA4-D3F0-4772-9A44-CB456529DB05}"/>
              </a:ext>
            </a:extLst>
          </p:cNvPr>
          <p:cNvSpPr>
            <a:spLocks xmlns:a="http://schemas.openxmlformats.org/drawingml/2006/main" noGrp="1"/>
          </p:cNvSpPr>
          <p:nvPr/>
        </p:nvSpPr>
        <p:spPr>
          <a:xfrm xmlns:a="http://schemas.openxmlformats.org/drawingml/2006/main">
            <a:off x="1924050" y="3895725"/>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Meterless is running on the teammate's host</a:t>
            </a:r>
          </a:p>
        </p:txBody>
      </p:sp>
      <p:sp>
        <p:nvSpPr>
          <p:cNvPr id="15" name="status-3-body">
            <a:extLst xmlns:a="http://schemas.openxmlformats.org/drawingml/2006/main">
              <a:ext uri="{FF2B5EF4-FFF2-40B4-BE49-F238E27FC236}">
                <a16:creationId xmlns:a16="http://schemas.microsoft.com/office/drawing/2014/main" id="{7FFACE0A-BE2D-4CE3-B37B-7D8599839B65}"/>
              </a:ext>
            </a:extLst>
          </p:cNvPr>
          <p:cNvSpPr>
            <a:spLocks xmlns:a="http://schemas.openxmlformats.org/drawingml/2006/main" noGrp="1"/>
          </p:cNvSpPr>
          <p:nvPr/>
        </p:nvSpPr>
        <p:spPr>
          <a:xfrm xmlns:a="http://schemas.openxmlformats.org/drawingml/2006/main">
            <a:off x="1924050" y="4162425"/>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Runtime availability is team-reported; run Fastify where its configured Meterless endpoint and token are reachable.</a:t>
            </a:r>
          </a:p>
        </p:txBody>
      </p:sp>
      <p:sp>
        <p:nvSpPr>
          <p:cNvPr id="16" name="status-3-rule">
            <a:extLst xmlns:a="http://schemas.openxmlformats.org/drawingml/2006/main">
              <a:ext uri="{FF2B5EF4-FFF2-40B4-BE49-F238E27FC236}">
                <a16:creationId xmlns:a16="http://schemas.microsoft.com/office/drawing/2014/main" id="{BD08ACFF-D491-4141-8A5A-4D1618C8E495}"/>
              </a:ext>
            </a:extLst>
          </p:cNvPr>
          <p:cNvSpPr>
            <a:spLocks xmlns:a="http://schemas.openxmlformats.org/drawingml/2006/main" noGrp="1"/>
          </p:cNvSpPr>
          <p:nvPr/>
        </p:nvSpPr>
        <p:spPr>
          <a:xfrm xmlns:a="http://schemas.openxmlformats.org/drawingml/2006/main">
            <a:off x="1924050" y="4610100"/>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7" name="status-4-sign">
            <a:extLst xmlns:a="http://schemas.openxmlformats.org/drawingml/2006/main">
              <a:ext uri="{FF2B5EF4-FFF2-40B4-BE49-F238E27FC236}">
                <a16:creationId xmlns:a16="http://schemas.microsoft.com/office/drawing/2014/main" id="{7A1C424A-4896-4B28-9872-46CDB330ED20}"/>
              </a:ext>
            </a:extLst>
          </p:cNvPr>
          <p:cNvSpPr>
            <a:spLocks xmlns:a="http://schemas.openxmlformats.org/drawingml/2006/main" noGrp="1"/>
          </p:cNvSpPr>
          <p:nvPr/>
        </p:nvSpPr>
        <p:spPr>
          <a:xfrm xmlns:a="http://schemas.openxmlformats.org/drawingml/2006/main">
            <a:off x="790575" y="471487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SAFE ABSTAIN</a:t>
            </a:r>
          </a:p>
        </p:txBody>
      </p:sp>
      <p:sp>
        <p:nvSpPr>
          <p:cNvPr id="18" name="status-4-title">
            <a:extLst xmlns:a="http://schemas.openxmlformats.org/drawingml/2006/main">
              <a:ext uri="{FF2B5EF4-FFF2-40B4-BE49-F238E27FC236}">
                <a16:creationId xmlns:a16="http://schemas.microsoft.com/office/drawing/2014/main" id="{7F7E54F3-73C0-476D-BC31-CA06FDB3E985}"/>
              </a:ext>
            </a:extLst>
          </p:cNvPr>
          <p:cNvSpPr>
            <a:spLocks xmlns:a="http://schemas.openxmlformats.org/drawingml/2006/main" noGrp="1"/>
          </p:cNvSpPr>
          <p:nvPr/>
        </p:nvSpPr>
        <p:spPr>
          <a:xfrm xmlns:a="http://schemas.openxmlformats.org/drawingml/2006/main">
            <a:off x="1924050" y="4686300"/>
            <a:ext cx="866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EFA"/>
                </a:solidFill>
                <a:latin typeface="Arial"/>
                <a:ea typeface="Arial"/>
                <a:cs typeface="Arial"/>
              </a:defRPr>
            </a:defPPr>
            <a:lvl1pPr algn="l">
              <a:defRPr sz="1275" b="1">
                <a:solidFill>
                  <a:srgbClr val="FFFEFA"/>
                </a:solidFill>
                <a:latin typeface="Arial"/>
                <a:ea typeface="Arial"/>
                <a:cs typeface="Arial"/>
              </a:defRPr>
            </a:lvl1pPr>
            <a:lvl2pPr algn="l">
              <a:defRPr sz="1275" b="1">
                <a:solidFill>
                  <a:srgbClr val="FFFEFA"/>
                </a:solidFill>
                <a:latin typeface="Arial"/>
                <a:ea typeface="Arial"/>
                <a:cs typeface="Arial"/>
              </a:defRPr>
            </a:lvl2pPr>
            <a:lvl3pPr algn="l">
              <a:defRPr sz="1275" b="1">
                <a:solidFill>
                  <a:srgbClr val="FFFEFA"/>
                </a:solidFill>
                <a:latin typeface="Arial"/>
                <a:ea typeface="Arial"/>
                <a:cs typeface="Arial"/>
              </a:defRPr>
            </a:lvl3pPr>
            <a:lvl4pPr algn="l">
              <a:defRPr sz="1275" b="1">
                <a:solidFill>
                  <a:srgbClr val="FFFEFA"/>
                </a:solidFill>
                <a:latin typeface="Arial"/>
                <a:ea typeface="Arial"/>
                <a:cs typeface="Arial"/>
              </a:defRPr>
            </a:lvl4pPr>
            <a:lvl5pPr algn="l">
              <a:defRPr sz="1275" b="1">
                <a:solidFill>
                  <a:srgbClr val="FFFEFA"/>
                </a:solidFill>
                <a:latin typeface="Arial"/>
                <a:ea typeface="Arial"/>
                <a:cs typeface="Arial"/>
              </a:defRPr>
            </a:lvl5pPr>
            <a:lvl6pPr algn="l">
              <a:defRPr sz="1275" b="1">
                <a:solidFill>
                  <a:srgbClr val="FFFEFA"/>
                </a:solidFill>
                <a:latin typeface="Arial"/>
                <a:ea typeface="Arial"/>
                <a:cs typeface="Arial"/>
              </a:defRPr>
            </a:lvl6pPr>
            <a:lvl7pPr algn="l">
              <a:defRPr sz="1275" b="1">
                <a:solidFill>
                  <a:srgbClr val="FFFEFA"/>
                </a:solidFill>
                <a:latin typeface="Arial"/>
                <a:ea typeface="Arial"/>
                <a:cs typeface="Arial"/>
              </a:defRPr>
            </a:lvl7pPr>
            <a:lvl8pPr algn="l">
              <a:defRPr sz="1275" b="1">
                <a:solidFill>
                  <a:srgbClr val="FFFEFA"/>
                </a:solidFill>
                <a:latin typeface="Arial"/>
                <a:ea typeface="Arial"/>
                <a:cs typeface="Arial"/>
              </a:defRPr>
            </a:lvl8pPr>
            <a:lvl9pPr algn="l">
              <a:defRPr sz="1275" b="1">
                <a:solidFill>
                  <a:srgbClr val="FFFEFA"/>
                </a:solidFill>
                <a:latin typeface="Arial"/>
                <a:ea typeface="Arial"/>
                <a:cs typeface="Arial"/>
              </a:defRPr>
            </a:lvl9pPr>
          </a:lstStyle>
          <a:p xmlns:a="http://schemas.openxmlformats.org/drawingml/2006/main">
            <a:pPr algn="l">
              <a:defRPr sz="1275" b="1">
                <a:solidFill>
                  <a:srgbClr val="FFFEFA"/>
                </a:solidFill>
                <a:latin typeface="Arial"/>
                <a:ea typeface="Arial"/>
                <a:cs typeface="Arial"/>
              </a:defRPr>
            </a:pPr>
            <a:r>
              <a:rPr sz="1275" b="1">
                <a:solidFill>
                  <a:srgbClr val="FFFEFA"/>
                </a:solidFill>
                <a:latin typeface="Arial"/>
                <a:ea typeface="Arial"/>
                <a:cs typeface="Arial"/>
              </a:rPr>
              <a:t>Live case used Zetaris and withheld advice</a:t>
            </a:r>
          </a:p>
        </p:txBody>
      </p:sp>
      <p:sp>
        <p:nvSpPr>
          <p:cNvPr id="19" name="status-4-body">
            <a:extLst xmlns:a="http://schemas.openxmlformats.org/drawingml/2006/main">
              <a:ext uri="{FF2B5EF4-FFF2-40B4-BE49-F238E27FC236}">
                <a16:creationId xmlns:a16="http://schemas.microsoft.com/office/drawing/2014/main" id="{49BD1F5B-62C1-456E-B705-E400569C2E2A}"/>
              </a:ext>
            </a:extLst>
          </p:cNvPr>
          <p:cNvSpPr>
            <a:spLocks xmlns:a="http://schemas.openxmlformats.org/drawingml/2006/main" noGrp="1"/>
          </p:cNvSpPr>
          <p:nvPr/>
        </p:nvSpPr>
        <p:spPr>
          <a:xfrm xmlns:a="http://schemas.openxmlformats.org/drawingml/2006/main">
            <a:off x="1924050" y="49530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C4D0C2"/>
                </a:solidFill>
                <a:latin typeface="Arial"/>
                <a:ea typeface="Arial"/>
                <a:cs typeface="Arial"/>
              </a:defRPr>
            </a:defPPr>
            <a:lvl1pPr algn="l">
              <a:defRPr sz="1050" b="0">
                <a:solidFill>
                  <a:srgbClr val="C4D0C2"/>
                </a:solidFill>
                <a:latin typeface="Arial"/>
                <a:ea typeface="Arial"/>
                <a:cs typeface="Arial"/>
              </a:defRPr>
            </a:lvl1pPr>
            <a:lvl2pPr algn="l">
              <a:defRPr sz="1050" b="0">
                <a:solidFill>
                  <a:srgbClr val="C4D0C2"/>
                </a:solidFill>
                <a:latin typeface="Arial"/>
                <a:ea typeface="Arial"/>
                <a:cs typeface="Arial"/>
              </a:defRPr>
            </a:lvl2pPr>
            <a:lvl3pPr algn="l">
              <a:defRPr sz="1050" b="0">
                <a:solidFill>
                  <a:srgbClr val="C4D0C2"/>
                </a:solidFill>
                <a:latin typeface="Arial"/>
                <a:ea typeface="Arial"/>
                <a:cs typeface="Arial"/>
              </a:defRPr>
            </a:lvl3pPr>
            <a:lvl4pPr algn="l">
              <a:defRPr sz="1050" b="0">
                <a:solidFill>
                  <a:srgbClr val="C4D0C2"/>
                </a:solidFill>
                <a:latin typeface="Arial"/>
                <a:ea typeface="Arial"/>
                <a:cs typeface="Arial"/>
              </a:defRPr>
            </a:lvl4pPr>
            <a:lvl5pPr algn="l">
              <a:defRPr sz="1050" b="0">
                <a:solidFill>
                  <a:srgbClr val="C4D0C2"/>
                </a:solidFill>
                <a:latin typeface="Arial"/>
                <a:ea typeface="Arial"/>
                <a:cs typeface="Arial"/>
              </a:defRPr>
            </a:lvl5pPr>
            <a:lvl6pPr algn="l">
              <a:defRPr sz="1050" b="0">
                <a:solidFill>
                  <a:srgbClr val="C4D0C2"/>
                </a:solidFill>
                <a:latin typeface="Arial"/>
                <a:ea typeface="Arial"/>
                <a:cs typeface="Arial"/>
              </a:defRPr>
            </a:lvl6pPr>
            <a:lvl7pPr algn="l">
              <a:defRPr sz="1050" b="0">
                <a:solidFill>
                  <a:srgbClr val="C4D0C2"/>
                </a:solidFill>
                <a:latin typeface="Arial"/>
                <a:ea typeface="Arial"/>
                <a:cs typeface="Arial"/>
              </a:defRPr>
            </a:lvl7pPr>
            <a:lvl8pPr algn="l">
              <a:defRPr sz="1050" b="0">
                <a:solidFill>
                  <a:srgbClr val="C4D0C2"/>
                </a:solidFill>
                <a:latin typeface="Arial"/>
                <a:ea typeface="Arial"/>
                <a:cs typeface="Arial"/>
              </a:defRPr>
            </a:lvl8pPr>
            <a:lvl9pPr algn="l">
              <a:defRPr sz="1050" b="0">
                <a:solidFill>
                  <a:srgbClr val="C4D0C2"/>
                </a:solidFill>
                <a:latin typeface="Arial"/>
                <a:ea typeface="Arial"/>
                <a:cs typeface="Arial"/>
              </a:defRPr>
            </a:lvl9pPr>
          </a:lstStyle>
          <a:p xmlns:a="http://schemas.openxmlformats.org/drawingml/2006/main">
            <a:pPr algn="l">
              <a:defRPr sz="1050" b="0">
                <a:solidFill>
                  <a:srgbClr val="C4D0C2"/>
                </a:solidFill>
                <a:latin typeface="Arial"/>
                <a:ea typeface="Arial"/>
                <a:cs typeface="Arial"/>
              </a:defRPr>
            </a:pPr>
            <a:r>
              <a:rPr sz="1050" b="0">
                <a:solidFill>
                  <a:srgbClr val="C4D0C2"/>
                </a:solidFill>
                <a:latin typeface="Arial"/>
                <a:ea typeface="Arial"/>
                <a:cs typeface="Arial"/>
              </a:rPr>
              <a:t>Price evidence was 6 days old and news 19 days old. Refresh live sources before demonstrating an affirmative recommendation.</a:t>
            </a:r>
          </a:p>
        </p:txBody>
      </p:sp>
      <p:sp>
        <p:nvSpPr>
          <p:cNvPr id="20" name="next-steps-rule">
            <a:extLst xmlns:a="http://schemas.openxmlformats.org/drawingml/2006/main">
              <a:ext uri="{FF2B5EF4-FFF2-40B4-BE49-F238E27FC236}">
                <a16:creationId xmlns:a16="http://schemas.microsoft.com/office/drawing/2014/main" id="{6AF05C1C-0604-4F76-98B1-3DCD530A8A3D}"/>
              </a:ext>
            </a:extLst>
          </p:cNvPr>
          <p:cNvSpPr>
            <a:spLocks xmlns:a="http://schemas.openxmlformats.org/drawingml/2006/main" noGrp="1"/>
          </p:cNvSpPr>
          <p:nvPr/>
        </p:nvSpPr>
        <p:spPr>
          <a:xfrm xmlns:a="http://schemas.openxmlformats.org/drawingml/2006/main">
            <a:off x="762000" y="5534025"/>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21" name="next-steps-title">
            <a:extLst xmlns:a="http://schemas.openxmlformats.org/drawingml/2006/main">
              <a:ext uri="{FF2B5EF4-FFF2-40B4-BE49-F238E27FC236}">
                <a16:creationId xmlns:a16="http://schemas.microsoft.com/office/drawing/2014/main" id="{2DC3E4C7-2F79-4686-AB52-D1E5F4FD352D}"/>
              </a:ext>
            </a:extLst>
          </p:cNvPr>
          <p:cNvSpPr>
            <a:spLocks xmlns:a="http://schemas.openxmlformats.org/drawingml/2006/main" noGrp="1"/>
          </p:cNvSpPr>
          <p:nvPr/>
        </p:nvSpPr>
        <p:spPr>
          <a:xfrm xmlns:a="http://schemas.openxmlformats.org/drawingml/2006/main">
            <a:off x="790575" y="5734050"/>
            <a:ext cx="1695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D9C99F"/>
                </a:solidFill>
                <a:latin typeface="Arial"/>
                <a:ea typeface="Arial"/>
                <a:cs typeface="Arial"/>
              </a:defRPr>
            </a:defPPr>
            <a:lvl1pPr algn="l">
              <a:defRPr sz="1125" b="1">
                <a:solidFill>
                  <a:srgbClr val="D9C99F"/>
                </a:solidFill>
                <a:latin typeface="Arial"/>
                <a:ea typeface="Arial"/>
                <a:cs typeface="Arial"/>
              </a:defRPr>
            </a:lvl1pPr>
            <a:lvl2pPr algn="l">
              <a:defRPr sz="1125" b="1">
                <a:solidFill>
                  <a:srgbClr val="D9C99F"/>
                </a:solidFill>
                <a:latin typeface="Arial"/>
                <a:ea typeface="Arial"/>
                <a:cs typeface="Arial"/>
              </a:defRPr>
            </a:lvl2pPr>
            <a:lvl3pPr algn="l">
              <a:defRPr sz="1125" b="1">
                <a:solidFill>
                  <a:srgbClr val="D9C99F"/>
                </a:solidFill>
                <a:latin typeface="Arial"/>
                <a:ea typeface="Arial"/>
                <a:cs typeface="Arial"/>
              </a:defRPr>
            </a:lvl3pPr>
            <a:lvl4pPr algn="l">
              <a:defRPr sz="1125" b="1">
                <a:solidFill>
                  <a:srgbClr val="D9C99F"/>
                </a:solidFill>
                <a:latin typeface="Arial"/>
                <a:ea typeface="Arial"/>
                <a:cs typeface="Arial"/>
              </a:defRPr>
            </a:lvl4pPr>
            <a:lvl5pPr algn="l">
              <a:defRPr sz="1125" b="1">
                <a:solidFill>
                  <a:srgbClr val="D9C99F"/>
                </a:solidFill>
                <a:latin typeface="Arial"/>
                <a:ea typeface="Arial"/>
                <a:cs typeface="Arial"/>
              </a:defRPr>
            </a:lvl5pPr>
            <a:lvl6pPr algn="l">
              <a:defRPr sz="1125" b="1">
                <a:solidFill>
                  <a:srgbClr val="D9C99F"/>
                </a:solidFill>
                <a:latin typeface="Arial"/>
                <a:ea typeface="Arial"/>
                <a:cs typeface="Arial"/>
              </a:defRPr>
            </a:lvl6pPr>
            <a:lvl7pPr algn="l">
              <a:defRPr sz="1125" b="1">
                <a:solidFill>
                  <a:srgbClr val="D9C99F"/>
                </a:solidFill>
                <a:latin typeface="Arial"/>
                <a:ea typeface="Arial"/>
                <a:cs typeface="Arial"/>
              </a:defRPr>
            </a:lvl7pPr>
            <a:lvl8pPr algn="l">
              <a:defRPr sz="1125" b="1">
                <a:solidFill>
                  <a:srgbClr val="D9C99F"/>
                </a:solidFill>
                <a:latin typeface="Arial"/>
                <a:ea typeface="Arial"/>
                <a:cs typeface="Arial"/>
              </a:defRPr>
            </a:lvl8pPr>
            <a:lvl9pPr algn="l">
              <a:defRPr sz="1125" b="1">
                <a:solidFill>
                  <a:srgbClr val="D9C99F"/>
                </a:solidFill>
                <a:latin typeface="Arial"/>
                <a:ea typeface="Arial"/>
                <a:cs typeface="Arial"/>
              </a:defRPr>
            </a:lvl9pPr>
          </a:lstStyle>
          <a:p xmlns:a="http://schemas.openxmlformats.org/drawingml/2006/main">
            <a:pPr algn="l">
              <a:defRPr sz="1125" b="1">
                <a:solidFill>
                  <a:srgbClr val="D9C99F"/>
                </a:solidFill>
                <a:latin typeface="Arial"/>
                <a:ea typeface="Arial"/>
                <a:cs typeface="Arial"/>
              </a:defRPr>
            </a:pPr>
            <a:r>
              <a:rPr sz="1125" b="1">
                <a:solidFill>
                  <a:srgbClr val="D9C99F"/>
                </a:solidFill>
                <a:latin typeface="Arial"/>
                <a:ea typeface="Arial"/>
                <a:cs typeface="Arial"/>
              </a:rPr>
              <a:t>Live demo sequence</a:t>
            </a:r>
          </a:p>
        </p:txBody>
      </p:sp>
      <p:sp>
        <p:nvSpPr>
          <p:cNvPr id="22" name="next-steps-copy">
            <a:extLst xmlns:a="http://schemas.openxmlformats.org/drawingml/2006/main">
              <a:ext uri="{FF2B5EF4-FFF2-40B4-BE49-F238E27FC236}">
                <a16:creationId xmlns:a16="http://schemas.microsoft.com/office/drawing/2014/main" id="{5CF03775-5144-4558-94E2-411B399D2F53}"/>
              </a:ext>
            </a:extLst>
          </p:cNvPr>
          <p:cNvSpPr>
            <a:spLocks xmlns:a="http://schemas.openxmlformats.org/drawingml/2006/main" noGrp="1"/>
          </p:cNvSpPr>
          <p:nvPr/>
        </p:nvSpPr>
        <p:spPr>
          <a:xfrm xmlns:a="http://schemas.openxmlformats.org/drawingml/2006/main">
            <a:off x="2533650" y="5686425"/>
            <a:ext cx="8782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EFA"/>
                </a:solidFill>
                <a:latin typeface="Arial"/>
                <a:ea typeface="Arial"/>
                <a:cs typeface="Arial"/>
              </a:defRPr>
            </a:defPPr>
            <a:lvl1pPr algn="l">
              <a:defRPr sz="1050" b="0">
                <a:solidFill>
                  <a:srgbClr val="FFFEFA"/>
                </a:solidFill>
                <a:latin typeface="Arial"/>
                <a:ea typeface="Arial"/>
                <a:cs typeface="Arial"/>
              </a:defRPr>
            </a:lvl1pPr>
            <a:lvl2pPr algn="l">
              <a:defRPr sz="1050" b="0">
                <a:solidFill>
                  <a:srgbClr val="FFFEFA"/>
                </a:solidFill>
                <a:latin typeface="Arial"/>
                <a:ea typeface="Arial"/>
                <a:cs typeface="Arial"/>
              </a:defRPr>
            </a:lvl2pPr>
            <a:lvl3pPr algn="l">
              <a:defRPr sz="1050" b="0">
                <a:solidFill>
                  <a:srgbClr val="FFFEFA"/>
                </a:solidFill>
                <a:latin typeface="Arial"/>
                <a:ea typeface="Arial"/>
                <a:cs typeface="Arial"/>
              </a:defRPr>
            </a:lvl3pPr>
            <a:lvl4pPr algn="l">
              <a:defRPr sz="1050" b="0">
                <a:solidFill>
                  <a:srgbClr val="FFFEFA"/>
                </a:solidFill>
                <a:latin typeface="Arial"/>
                <a:ea typeface="Arial"/>
                <a:cs typeface="Arial"/>
              </a:defRPr>
            </a:lvl4pPr>
            <a:lvl5pPr algn="l">
              <a:defRPr sz="1050" b="0">
                <a:solidFill>
                  <a:srgbClr val="FFFEFA"/>
                </a:solidFill>
                <a:latin typeface="Arial"/>
                <a:ea typeface="Arial"/>
                <a:cs typeface="Arial"/>
              </a:defRPr>
            </a:lvl5pPr>
            <a:lvl6pPr algn="l">
              <a:defRPr sz="1050" b="0">
                <a:solidFill>
                  <a:srgbClr val="FFFEFA"/>
                </a:solidFill>
                <a:latin typeface="Arial"/>
                <a:ea typeface="Arial"/>
                <a:cs typeface="Arial"/>
              </a:defRPr>
            </a:lvl6pPr>
            <a:lvl7pPr algn="l">
              <a:defRPr sz="1050" b="0">
                <a:solidFill>
                  <a:srgbClr val="FFFEFA"/>
                </a:solidFill>
                <a:latin typeface="Arial"/>
                <a:ea typeface="Arial"/>
                <a:cs typeface="Arial"/>
              </a:defRPr>
            </a:lvl7pPr>
            <a:lvl8pPr algn="l">
              <a:defRPr sz="1050" b="0">
                <a:solidFill>
                  <a:srgbClr val="FFFEFA"/>
                </a:solidFill>
                <a:latin typeface="Arial"/>
                <a:ea typeface="Arial"/>
                <a:cs typeface="Arial"/>
              </a:defRPr>
            </a:lvl8pPr>
            <a:lvl9pPr algn="l">
              <a:defRPr sz="1050" b="0">
                <a:solidFill>
                  <a:srgbClr val="FFFEFA"/>
                </a:solidFill>
                <a:latin typeface="Arial"/>
                <a:ea typeface="Arial"/>
                <a:cs typeface="Arial"/>
              </a:defRPr>
            </a:lvl9pPr>
          </a:lstStyle>
          <a:p xmlns:a="http://schemas.openxmlformats.org/drawingml/2006/main">
            <a:pPr algn="l">
              <a:defRPr sz="1050" b="0">
                <a:solidFill>
                  <a:srgbClr val="FFFEFA"/>
                </a:solidFill>
                <a:latin typeface="Arial"/>
                <a:ea typeface="Arial"/>
                <a:cs typeface="Arial"/>
              </a:defRPr>
            </a:pPr>
            <a:r>
              <a:rPr sz="1050" b="0">
                <a:solidFill>
                  <a:srgbClr val="FFFEFA"/>
                </a:solidFill>
                <a:latin typeface="Arial"/>
                <a:ea typeface="Arial"/>
                <a:cs typeface="Arial"/>
              </a:rPr>
              <a:t>Use the teammate's configured Meterless host · refresh prices and forecast · show the Zetaris source, review trace and freshness gate</a:t>
            </a:r>
          </a:p>
        </p:txBody>
      </p:sp>
      <p:sp>
        <p:nvSpPr>
          <p:cNvPr id="23" name="status-footer">
            <a:extLst xmlns:a="http://schemas.openxmlformats.org/drawingml/2006/main">
              <a:ext uri="{FF2B5EF4-FFF2-40B4-BE49-F238E27FC236}">
                <a16:creationId xmlns:a16="http://schemas.microsoft.com/office/drawing/2014/main" id="{3E5A9E45-60CD-42FB-A72B-950F9CA9A6A5}"/>
              </a:ext>
            </a:extLst>
          </p:cNvPr>
          <p:cNvSpPr>
            <a:spLocks xmlns:a="http://schemas.openxmlformats.org/drawingml/2006/main" noGrp="1"/>
          </p:cNvSpPr>
          <p:nvPr/>
        </p:nvSpPr>
        <p:spPr>
          <a:xfrm xmlns:a="http://schemas.openxmlformats.org/drawingml/2006/main">
            <a:off x="790575" y="63150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D9C99F"/>
                </a:solidFill>
                <a:latin typeface="Arial"/>
                <a:ea typeface="Arial"/>
                <a:cs typeface="Arial"/>
              </a:defRPr>
            </a:defPPr>
            <a:lvl1pPr algn="l">
              <a:defRPr sz="825" b="1">
                <a:solidFill>
                  <a:srgbClr val="D9C99F"/>
                </a:solidFill>
                <a:latin typeface="Arial"/>
                <a:ea typeface="Arial"/>
                <a:cs typeface="Arial"/>
              </a:defRPr>
            </a:lvl1pPr>
            <a:lvl2pPr algn="l">
              <a:defRPr sz="825" b="1">
                <a:solidFill>
                  <a:srgbClr val="D9C99F"/>
                </a:solidFill>
                <a:latin typeface="Arial"/>
                <a:ea typeface="Arial"/>
                <a:cs typeface="Arial"/>
              </a:defRPr>
            </a:lvl2pPr>
            <a:lvl3pPr algn="l">
              <a:defRPr sz="825" b="1">
                <a:solidFill>
                  <a:srgbClr val="D9C99F"/>
                </a:solidFill>
                <a:latin typeface="Arial"/>
                <a:ea typeface="Arial"/>
                <a:cs typeface="Arial"/>
              </a:defRPr>
            </a:lvl3pPr>
            <a:lvl4pPr algn="l">
              <a:defRPr sz="825" b="1">
                <a:solidFill>
                  <a:srgbClr val="D9C99F"/>
                </a:solidFill>
                <a:latin typeface="Arial"/>
                <a:ea typeface="Arial"/>
                <a:cs typeface="Arial"/>
              </a:defRPr>
            </a:lvl4pPr>
            <a:lvl5pPr algn="l">
              <a:defRPr sz="825" b="1">
                <a:solidFill>
                  <a:srgbClr val="D9C99F"/>
                </a:solidFill>
                <a:latin typeface="Arial"/>
                <a:ea typeface="Arial"/>
                <a:cs typeface="Arial"/>
              </a:defRPr>
            </a:lvl5pPr>
            <a:lvl6pPr algn="l">
              <a:defRPr sz="825" b="1">
                <a:solidFill>
                  <a:srgbClr val="D9C99F"/>
                </a:solidFill>
                <a:latin typeface="Arial"/>
                <a:ea typeface="Arial"/>
                <a:cs typeface="Arial"/>
              </a:defRPr>
            </a:lvl6pPr>
            <a:lvl7pPr algn="l">
              <a:defRPr sz="825" b="1">
                <a:solidFill>
                  <a:srgbClr val="D9C99F"/>
                </a:solidFill>
                <a:latin typeface="Arial"/>
                <a:ea typeface="Arial"/>
                <a:cs typeface="Arial"/>
              </a:defRPr>
            </a:lvl7pPr>
            <a:lvl8pPr algn="l">
              <a:defRPr sz="825" b="1">
                <a:solidFill>
                  <a:srgbClr val="D9C99F"/>
                </a:solidFill>
                <a:latin typeface="Arial"/>
                <a:ea typeface="Arial"/>
                <a:cs typeface="Arial"/>
              </a:defRPr>
            </a:lvl8pPr>
            <a:lvl9pPr algn="l">
              <a:defRPr sz="825" b="1">
                <a:solidFill>
                  <a:srgbClr val="D9C99F"/>
                </a:solidFill>
                <a:latin typeface="Arial"/>
                <a:ea typeface="Arial"/>
                <a:cs typeface="Arial"/>
              </a:defRPr>
            </a:lvl9pPr>
          </a:lstStyle>
          <a:p xmlns:a="http://schemas.openxmlformats.org/drawingml/2006/main">
            <a:pPr algn="l">
              <a:defRPr sz="825" b="1">
                <a:solidFill>
                  <a:srgbClr val="D9C99F"/>
                </a:solidFill>
                <a:latin typeface="Arial"/>
                <a:ea typeface="Arial"/>
                <a:cs typeface="Arial"/>
              </a:defRPr>
            </a:pPr>
            <a:r>
              <a:rPr sz="825" b="1">
                <a:solidFill>
                  <a:srgbClr val="D9C99F"/>
                </a:solidFill>
                <a:latin typeface="Arial"/>
                <a:ea typeface="Arial"/>
                <a:cs typeface="Arial"/>
              </a:rPr>
              <a:t>DECISION SUPPORT ONLY  ·  LIVE DATA SOURCES SHOWN  ·  NO TRADE IS PLACED</a:t>
            </a:r>
          </a:p>
        </p:txBody>
      </p:sp>
    </p:spTree>
    <p:extLst>
      <p:ext uri="{BB962C8B-B14F-4D97-AF65-F5344CB8AC3E}">
        <p14:creationId xmlns:p14="http://schemas.microsoft.com/office/powerpoint/2010/main" val="1255343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2026-10-24T14:52:04.0230000Z</dcterms:created>
  <dcterms:modified xsi:type="dcterms:W3CDTF">2026-10-24T14:52:04.0240000Z</dcterms:modified>
</coreProperties>
</file>