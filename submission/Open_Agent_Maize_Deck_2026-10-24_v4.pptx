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17a189af4d4075" /><Relationship Type="http://schemas.openxmlformats.org/officeDocument/2006/relationships/extended-properties" Target="/docProps/app.xml" Id="R453c9547d1234762" /><Relationship Type="http://schemas.openxmlformats.org/officeDocument/2006/relationships/officeDocument" Target="/ppt/presentation.xml" Id="R3dc8154646c14ef4" /></Relationships>
</file>

<file path=ppt/presentation.xml><?xml version="1.0" encoding="utf-8"?>
<p:presentation xmlns:p="http://schemas.openxmlformats.org/presentationml/2006/main">
  <p:sldMasterIdLst>
    <p:sldMasterId xmlns:r="http://schemas.openxmlformats.org/officeDocument/2006/relationships" id="2147483648" r:id="R50598329b5e840b8"/>
  </p:sldMasterIdLst>
  <p:notesMasterIdLst>
    <p:notesMasterId xmlns:r="http://schemas.openxmlformats.org/officeDocument/2006/relationships" r:id="R948896913eea4a9e"/>
  </p:notesMasterIdLst>
  <p:sldIdLst>
    <p:sldId xmlns:r="http://schemas.openxmlformats.org/officeDocument/2006/relationships" id="256" r:id="R32d5dc55e9954a3e"/>
    <p:sldId xmlns:r="http://schemas.openxmlformats.org/officeDocument/2006/relationships" id="257" r:id="Red102affbbd14613"/>
    <p:sldId xmlns:r="http://schemas.openxmlformats.org/officeDocument/2006/relationships" id="258" r:id="Re9cf16a2034a441e"/>
    <p:sldId xmlns:r="http://schemas.openxmlformats.org/officeDocument/2006/relationships" id="259" r:id="Rd2f8b6718af14f24"/>
    <p:sldId xmlns:r="http://schemas.openxmlformats.org/officeDocument/2006/relationships" id="260" r:id="Rc2f9424454e44381"/>
    <p:sldId xmlns:r="http://schemas.openxmlformats.org/officeDocument/2006/relationships" id="261" r:id="Rf39438d4d40c4493"/>
    <p:sldId xmlns:r="http://schemas.openxmlformats.org/officeDocument/2006/relationships" id="262" r:id="R59db55642253406d"/>
    <p:sldId xmlns:r="http://schemas.openxmlformats.org/officeDocument/2006/relationships" id="263" r:id="Rcd8a9ec52eb345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3dc5b7ea054cbb" /><Relationship Type="http://schemas.openxmlformats.org/officeDocument/2006/relationships/slideMaster" Target="/ppt/slideMasters/slideMaster1.xml" Id="R50598329b5e840b8" /><Relationship Type="http://schemas.openxmlformats.org/officeDocument/2006/relationships/notesMaster" Target="/ppt/notesMasters/notesMaster1.xml" Id="R948896913eea4a9e" /><Relationship Type="http://schemas.openxmlformats.org/officeDocument/2006/relationships/presProps" Target="/ppt/presProps.xml" Id="Rbb3d8068da664815" /><Relationship Type="http://schemas.openxmlformats.org/officeDocument/2006/relationships/tableStyles" Target="/ppt/tableStyles.xml" Id="R727dfd42f91d4788" /><Relationship Type="http://schemas.openxmlformats.org/officeDocument/2006/relationships/slide" Target="/ppt/slides/slide1.xml" Id="R32d5dc55e9954a3e" /><Relationship Type="http://schemas.openxmlformats.org/officeDocument/2006/relationships/slide" Target="/ppt/slides/slide2.xml" Id="Red102affbbd14613" /><Relationship Type="http://schemas.openxmlformats.org/officeDocument/2006/relationships/slide" Target="/ppt/slides/slide3.xml" Id="Re9cf16a2034a441e" /><Relationship Type="http://schemas.openxmlformats.org/officeDocument/2006/relationships/slide" Target="/ppt/slides/slide4.xml" Id="Rd2f8b6718af14f24" /><Relationship Type="http://schemas.openxmlformats.org/officeDocument/2006/relationships/slide" Target="/ppt/slides/slide5.xml" Id="Rc2f9424454e44381" /><Relationship Type="http://schemas.openxmlformats.org/officeDocument/2006/relationships/slide" Target="/ppt/slides/slide6.xml" Id="Rf39438d4d40c4493" /><Relationship Type="http://schemas.openxmlformats.org/officeDocument/2006/relationships/slide" Target="/ppt/slides/slide7.xml" Id="R59db55642253406d" /><Relationship Type="http://schemas.openxmlformats.org/officeDocument/2006/relationships/slide" Target="/ppt/slides/slide8.xml" Id="Rcd8a9ec52eb345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935284f4b34d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0e26e8459645d7" /><Relationship Type="http://schemas.openxmlformats.org/officeDocument/2006/relationships/notesMaster" Target="/ppt/notesMasters/notesMaster1.xml" Id="R1d409ebf3e0741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a6a00e2e3e4d9d" /><Relationship Type="http://schemas.openxmlformats.org/officeDocument/2006/relationships/notesMaster" Target="/ppt/notesMasters/notesMaster1.xml" Id="R94ae5edd0ca940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f3c2256c934d7b" /><Relationship Type="http://schemas.openxmlformats.org/officeDocument/2006/relationships/notesMaster" Target="/ppt/notesMasters/notesMaster1.xml" Id="R9125daced14943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634dc04d494cdd" /><Relationship Type="http://schemas.openxmlformats.org/officeDocument/2006/relationships/notesMaster" Target="/ppt/notesMasters/notesMaster1.xml" Id="R1447a02ada364d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5da24af9f64278" /><Relationship Type="http://schemas.openxmlformats.org/officeDocument/2006/relationships/notesMaster" Target="/ppt/notesMasters/notesMaster1.xml" Id="Rd181873e0c4345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2753f858d14803" /><Relationship Type="http://schemas.openxmlformats.org/officeDocument/2006/relationships/notesMaster" Target="/ppt/notesMasters/notesMaster1.xml" Id="R22592032f25d43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d207b8976348e5" /><Relationship Type="http://schemas.openxmlformats.org/officeDocument/2006/relationships/notesMaster" Target="/ppt/notesMasters/notesMaster1.xml" Id="Rdebe106bfd0247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c91a590ec14e82" /><Relationship Type="http://schemas.openxmlformats.org/officeDocument/2006/relationships/notesMaster" Target="/ppt/notesMasters/notesMaster1.xml" Id="R490f7c1d61a243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facts are from the repository README and implementation. The selected track recommendation is Reasoning Architecture, whose HackOS description focuses on reliable decisions and actions from data, knowledge, memory and reasoning.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user, problem statement and data limitations are described in README.md and data/README.md. HackOS scoring gives Impact 30 points and Product &amp; UX 10 points.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and loop limits come from README.md and src/orchestration/graph.ts. Market prices, weather, storage-loss rules, news and farmer history are read through the Zetaris adapter when available; H-MEM stores and recalls farmer records. The source supports a local sample fallback and records it in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stale threshold is 3 days; the coverage block is below 3 fresh white-maize quotes; the loop caps are 2 revisions, 2 refreshes and 3 rounds. The Monte Carlo is fixed-seed, with a liquidity penalty of 2 per KES of unraised cash need. These are implementation rules, not measured farm outcomes. Source: README.md, src/agents/riskCritic.ts and src/tools/expectedValue.ts.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is a React interface wired to POST /run and the run event endpoint. The UI only presents fields and data returned by the backend; source and freshness are shown per evidence item. Synthetic data labels are defined in data/README.md.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Zetaris integration was live-checked from the project environment on 24 October 2026; all five table count queries succeeded. The Meterless adapter uses OpenAI-compatible chat calls and records provider/model and call status in the trace. The project team reports the runtime operational in its configured demo environment. Sponsor adapter behavior is implemented in src/adapters/zetaris.ts and src/adapters/meterless.ts. NVIDIA route/lane details are not claimed. Event requirements: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is a hypothesis, not a measured result. Current product boundary and proposed pilot measures are documented in submission/impact_and_measurement.md. Kenya's data and thresholds should not be reused globally without local validation.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24 October 2026: Fastify GET /health and React/Vite on :3001 responded; /api/zetaris/check returned online with counts 51, 8, 8, 8, 4; a POST /run used data_source=zetaris and returned no_recommendation because the price date was 2026-10-18 (6 days old) and news was 2026-10-05 (19 days old). Meterless is integrated through an OpenAI-compatible chat interface with provider, model and call status trace fields; the project team reports the runtime operational in its configured environment. The suite passed 66 tests after the safe token refresh changes. The live-case result demonstrates the freshness guardrail.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5294d6a6e749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241d9fa6c441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205d29f84a45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d72eb1faff43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bbaf8df1fd48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2b006683434c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8D03B7-FC6D-4D6F-AC86-8784CA03E0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9515B2-5F5F-4842-A905-FAC36B3FCA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719722-CC96-492B-B587-4569B393FD1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3EC4CE-BECF-4460-AB0E-A5DD1AFB2F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2A61199-71D1-4C00-AB51-576F114F04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0E6649-5025-4EF2-AEB3-18376F4D8B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608A90-894C-42B9-A4D9-3FBBBFBD23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0B744F-D092-4AA1-9B74-DDD1AAB43B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5F6BB4-FAE8-4CA9-BF36-A240B17386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A2DC38-7C04-489B-8AD6-F3A744E2B2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18ccb361814e4c" /><Relationship Type="http://schemas.openxmlformats.org/officeDocument/2006/relationships/slideLayout" Target="/ppt/slideLayouts/slideLayout1.xml" Id="R4d21dbe451c9413a" /><Relationship Type="http://schemas.openxmlformats.org/officeDocument/2006/relationships/slideLayout" Target="/ppt/slideLayouts/slideLayout2.xml" Id="Rc36bffba2f6a4c22" /><Relationship Type="http://schemas.openxmlformats.org/officeDocument/2006/relationships/slideLayout" Target="/ppt/slideLayouts/slideLayout3.xml" Id="Rff59fffc5f1f4921" /><Relationship Type="http://schemas.openxmlformats.org/officeDocument/2006/relationships/slideLayout" Target="/ppt/slideLayouts/slideLayout4.xml" Id="Re7ed0ace3d134ff8" /><Relationship Type="http://schemas.openxmlformats.org/officeDocument/2006/relationships/slideLayout" Target="/ppt/slideLayouts/slideLayout5.xml" Id="Rae58483e58ac4f06" /><Relationship Type="http://schemas.openxmlformats.org/officeDocument/2006/relationships/slideLayout" Target="/ppt/slideLayouts/slideLayout6.xml" Id="R68804b9ed82e4c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21dbe451c9413a"/>
    <p:sldLayoutId xmlns:r="http://schemas.openxmlformats.org/officeDocument/2006/relationships" id="2147483650" r:id="Rc36bffba2f6a4c22"/>
    <p:sldLayoutId xmlns:r="http://schemas.openxmlformats.org/officeDocument/2006/relationships" id="2147483651" r:id="Rff59fffc5f1f4921"/>
    <p:sldLayoutId xmlns:r="http://schemas.openxmlformats.org/officeDocument/2006/relationships" id="2147483652" r:id="Re7ed0ace3d134ff8"/>
    <p:sldLayoutId xmlns:r="http://schemas.openxmlformats.org/officeDocument/2006/relationships" id="2147483653" r:id="Rae58483e58ac4f06"/>
    <p:sldLayoutId xmlns:r="http://schemas.openxmlformats.org/officeDocument/2006/relationships" id="2147483654" r:id="R68804b9ed82e4c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ba506689904bcb" /><Relationship Type="http://schemas.openxmlformats.org/officeDocument/2006/relationships/notesSlide" Target="/ppt/notesSlides/notesSlide1.xml" Id="R85fdabc462c440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38e9b0acd34cb0" /><Relationship Type="http://schemas.openxmlformats.org/officeDocument/2006/relationships/notesSlide" Target="/ppt/notesSlides/notesSlide2.xml" Id="Rdbc2664693264b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933db9a39264379" /><Relationship Type="http://schemas.openxmlformats.org/officeDocument/2006/relationships/notesSlide" Target="/ppt/notesSlides/notesSlide3.xml" Id="R9fae8180b94d4b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6f5b08fe654f3c" /><Relationship Type="http://schemas.openxmlformats.org/officeDocument/2006/relationships/notesSlide" Target="/ppt/notesSlides/notesSlide4.xml" Id="R2fa19c35641b46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489144dc504778" /><Relationship Type="http://schemas.openxmlformats.org/officeDocument/2006/relationships/notesSlide" Target="/ppt/notesSlides/notesSlide5.xml" Id="R332e785f81af46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30c97f3f51444c" /><Relationship Type="http://schemas.openxmlformats.org/officeDocument/2006/relationships/notesSlide" Target="/ppt/notesSlides/notesSlide6.xml" Id="Rbdb4dc4e314847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72d2228c2d4a24" /><Relationship Type="http://schemas.openxmlformats.org/officeDocument/2006/relationships/notesSlide" Target="/ppt/notesSlides/notesSlide7.xml" Id="Re5dd2438839440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4b9db8325874aa9" /><Relationship Type="http://schemas.openxmlformats.org/officeDocument/2006/relationships/notesSlide" Target="/ppt/notesSlides/notesSlide8.xml" Id="R92201a318b1d4c52" /></Relationships>
</file>

<file path=ppt/slides/slide1.xml><?xml version="1.0" encoding="utf-8"?>
<p:sld xmlns:p="http://schemas.openxmlformats.org/presentationml/2006/main">
  <p:cSld>
    <p:bg>
      <p:bgPr>
        <a:solidFill xmlns:a="http://schemas.openxmlformats.org/drawingml/2006/main">
          <a:srgbClr val="183525"/>
        </a:solidFill>
      </p:bgPr>
    </p:bg>
    <p:spTree>
      <p:nvGrpSpPr>
        <p:cNvPr id="1" name=""/>
        <p:cNvGrpSpPr/>
        <p:nvPr/>
      </p:nvGrpSpPr>
      <p:grpSpPr>
        <a:xfrm xmlns:a="http://schemas.openxmlformats.org/drawingml/2006/main"/>
      </p:grpSpPr>
      <p:sp>
        <p:nvSpPr>
          <p:cNvPr id="8" name="cover-gold-rule">
            <a:extLst xmlns:a="http://schemas.openxmlformats.org/drawingml/2006/main">
              <a:ext uri="{FF2B5EF4-FFF2-40B4-BE49-F238E27FC236}">
                <a16:creationId xmlns:a16="http://schemas.microsoft.com/office/drawing/2014/main" id="{ACFC541B-5A1E-4FDA-AD72-EB6F7CE0B368}"/>
              </a:ext>
            </a:extLst>
          </p:cNvPr>
          <p:cNvSpPr>
            <a:spLocks xmlns:a="http://schemas.openxmlformats.org/drawingml/2006/main" noGrp="1"/>
          </p:cNvSpPr>
          <p:nvPr/>
        </p:nvSpPr>
        <p:spPr>
          <a:xfrm xmlns:a="http://schemas.openxmlformats.org/drawingml/2006/main">
            <a:off x="762000" y="962025"/>
            <a:ext cx="533400" cy="2857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0F950667-0E06-46A1-9CBB-F4BECEFBC7FE}"/>
              </a:ext>
            </a:extLst>
          </p:cNvPr>
          <p:cNvSpPr>
            <a:spLocks xmlns:a="http://schemas.openxmlformats.org/drawingml/2006/main" noGrp="1"/>
          </p:cNvSpPr>
          <p:nvPr/>
        </p:nvSpPr>
        <p:spPr>
          <a:xfrm xmlns:a="http://schemas.openxmlformats.org/drawingml/2006/main">
            <a:off x="762000" y="1219200"/>
            <a:ext cx="561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9C99F"/>
                </a:solidFill>
                <a:latin typeface="Arial"/>
                <a:ea typeface="Arial"/>
                <a:cs typeface="Arial"/>
              </a:defRPr>
            </a:defPPr>
            <a:lvl1pPr algn="l">
              <a:defRPr sz="975" b="1">
                <a:solidFill>
                  <a:srgbClr val="D9C99F"/>
                </a:solidFill>
                <a:latin typeface="Arial"/>
                <a:ea typeface="Arial"/>
                <a:cs typeface="Arial"/>
              </a:defRPr>
            </a:lvl1pPr>
            <a:lvl2pPr algn="l">
              <a:defRPr sz="975" b="1">
                <a:solidFill>
                  <a:srgbClr val="D9C99F"/>
                </a:solidFill>
                <a:latin typeface="Arial"/>
                <a:ea typeface="Arial"/>
                <a:cs typeface="Arial"/>
              </a:defRPr>
            </a:lvl2pPr>
            <a:lvl3pPr algn="l">
              <a:defRPr sz="975" b="1">
                <a:solidFill>
                  <a:srgbClr val="D9C99F"/>
                </a:solidFill>
                <a:latin typeface="Arial"/>
                <a:ea typeface="Arial"/>
                <a:cs typeface="Arial"/>
              </a:defRPr>
            </a:lvl3pPr>
            <a:lvl4pPr algn="l">
              <a:defRPr sz="975" b="1">
                <a:solidFill>
                  <a:srgbClr val="D9C99F"/>
                </a:solidFill>
                <a:latin typeface="Arial"/>
                <a:ea typeface="Arial"/>
                <a:cs typeface="Arial"/>
              </a:defRPr>
            </a:lvl4pPr>
            <a:lvl5pPr algn="l">
              <a:defRPr sz="975" b="1">
                <a:solidFill>
                  <a:srgbClr val="D9C99F"/>
                </a:solidFill>
                <a:latin typeface="Arial"/>
                <a:ea typeface="Arial"/>
                <a:cs typeface="Arial"/>
              </a:defRPr>
            </a:lvl5pPr>
            <a:lvl6pPr algn="l">
              <a:defRPr sz="975" b="1">
                <a:solidFill>
                  <a:srgbClr val="D9C99F"/>
                </a:solidFill>
                <a:latin typeface="Arial"/>
                <a:ea typeface="Arial"/>
                <a:cs typeface="Arial"/>
              </a:defRPr>
            </a:lvl6pPr>
            <a:lvl7pPr algn="l">
              <a:defRPr sz="975" b="1">
                <a:solidFill>
                  <a:srgbClr val="D9C99F"/>
                </a:solidFill>
                <a:latin typeface="Arial"/>
                <a:ea typeface="Arial"/>
                <a:cs typeface="Arial"/>
              </a:defRPr>
            </a:lvl7pPr>
            <a:lvl8pPr algn="l">
              <a:defRPr sz="975" b="1">
                <a:solidFill>
                  <a:srgbClr val="D9C99F"/>
                </a:solidFill>
                <a:latin typeface="Arial"/>
                <a:ea typeface="Arial"/>
                <a:cs typeface="Arial"/>
              </a:defRPr>
            </a:lvl8pPr>
            <a:lvl9pPr algn="l">
              <a:defRPr sz="975" b="1">
                <a:solidFill>
                  <a:srgbClr val="D9C99F"/>
                </a:solidFill>
                <a:latin typeface="Arial"/>
                <a:ea typeface="Arial"/>
                <a:cs typeface="Arial"/>
              </a:defRPr>
            </a:lvl9pPr>
          </a:lstStyle>
          <a:p xmlns:a="http://schemas.openxmlformats.org/drawingml/2006/main">
            <a:pPr algn="l">
              <a:defRPr sz="975" b="1">
                <a:solidFill>
                  <a:srgbClr val="D9C99F"/>
                </a:solidFill>
                <a:latin typeface="Arial"/>
                <a:ea typeface="Arial"/>
                <a:cs typeface="Arial"/>
              </a:defRPr>
            </a:pPr>
            <a:r>
              <a:rPr sz="975" b="1">
                <a:solidFill>
                  <a:srgbClr val="D9C99F"/>
                </a:solidFill>
                <a:latin typeface="Arial"/>
                <a:ea typeface="Arial"/>
                <a:cs typeface="Arial"/>
              </a:rPr>
              <a:t>OPEN AGENT HACKATHON 2026  ·  REASONING ARCHITECTURE</a:t>
            </a:r>
          </a:p>
        </p:txBody>
      </p:sp>
      <p:sp>
        <p:nvSpPr>
          <p:cNvPr id="3" name="cover-title">
            <a:extLst xmlns:a="http://schemas.openxmlformats.org/drawingml/2006/main">
              <a:ext uri="{FF2B5EF4-FFF2-40B4-BE49-F238E27FC236}">
                <a16:creationId xmlns:a16="http://schemas.microsoft.com/office/drawing/2014/main" id="{E876377E-3050-4BE1-B368-BB40F66089A5}"/>
              </a:ext>
            </a:extLst>
          </p:cNvPr>
          <p:cNvSpPr>
            <a:spLocks xmlns:a="http://schemas.openxmlformats.org/drawingml/2006/main" noGrp="1"/>
          </p:cNvSpPr>
          <p:nvPr/>
        </p:nvSpPr>
        <p:spPr>
          <a:xfrm xmlns:a="http://schemas.openxmlformats.org/drawingml/2006/main">
            <a:off x="723900" y="2124075"/>
            <a:ext cx="857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841"/>
          </a:bodyPr>
          <a:lstStyle xmlns:a="http://schemas.openxmlformats.org/drawingml/2006/main">
            <a:defPPr algn="l">
              <a:defRPr sz="6150" b="0">
                <a:solidFill>
                  <a:srgbClr val="FFFEFA"/>
                </a:solidFill>
                <a:latin typeface="Georgia"/>
                <a:ea typeface="Georgia"/>
                <a:cs typeface="Georgia"/>
              </a:defRPr>
            </a:defPPr>
            <a:lvl1pPr algn="l">
              <a:defRPr sz="6150" b="0">
                <a:solidFill>
                  <a:srgbClr val="FFFEFA"/>
                </a:solidFill>
                <a:latin typeface="Georgia"/>
                <a:ea typeface="Georgia"/>
                <a:cs typeface="Georgia"/>
              </a:defRPr>
            </a:lvl1pPr>
            <a:lvl2pPr algn="l">
              <a:defRPr sz="6150" b="0">
                <a:solidFill>
                  <a:srgbClr val="FFFEFA"/>
                </a:solidFill>
                <a:latin typeface="Georgia"/>
                <a:ea typeface="Georgia"/>
                <a:cs typeface="Georgia"/>
              </a:defRPr>
            </a:lvl2pPr>
            <a:lvl3pPr algn="l">
              <a:defRPr sz="6150" b="0">
                <a:solidFill>
                  <a:srgbClr val="FFFEFA"/>
                </a:solidFill>
                <a:latin typeface="Georgia"/>
                <a:ea typeface="Georgia"/>
                <a:cs typeface="Georgia"/>
              </a:defRPr>
            </a:lvl3pPr>
            <a:lvl4pPr algn="l">
              <a:defRPr sz="6150" b="0">
                <a:solidFill>
                  <a:srgbClr val="FFFEFA"/>
                </a:solidFill>
                <a:latin typeface="Georgia"/>
                <a:ea typeface="Georgia"/>
                <a:cs typeface="Georgia"/>
              </a:defRPr>
            </a:lvl4pPr>
            <a:lvl5pPr algn="l">
              <a:defRPr sz="6150" b="0">
                <a:solidFill>
                  <a:srgbClr val="FFFEFA"/>
                </a:solidFill>
                <a:latin typeface="Georgia"/>
                <a:ea typeface="Georgia"/>
                <a:cs typeface="Georgia"/>
              </a:defRPr>
            </a:lvl5pPr>
            <a:lvl6pPr algn="l">
              <a:defRPr sz="6150" b="0">
                <a:solidFill>
                  <a:srgbClr val="FFFEFA"/>
                </a:solidFill>
                <a:latin typeface="Georgia"/>
                <a:ea typeface="Georgia"/>
                <a:cs typeface="Georgia"/>
              </a:defRPr>
            </a:lvl6pPr>
            <a:lvl7pPr algn="l">
              <a:defRPr sz="6150" b="0">
                <a:solidFill>
                  <a:srgbClr val="FFFEFA"/>
                </a:solidFill>
                <a:latin typeface="Georgia"/>
                <a:ea typeface="Georgia"/>
                <a:cs typeface="Georgia"/>
              </a:defRPr>
            </a:lvl7pPr>
            <a:lvl8pPr algn="l">
              <a:defRPr sz="6150" b="0">
                <a:solidFill>
                  <a:srgbClr val="FFFEFA"/>
                </a:solidFill>
                <a:latin typeface="Georgia"/>
                <a:ea typeface="Georgia"/>
                <a:cs typeface="Georgia"/>
              </a:defRPr>
            </a:lvl8pPr>
            <a:lvl9pPr algn="l">
              <a:defRPr sz="6150" b="0">
                <a:solidFill>
                  <a:srgbClr val="FFFEFA"/>
                </a:solidFill>
                <a:latin typeface="Georgia"/>
                <a:ea typeface="Georgia"/>
                <a:cs typeface="Georgia"/>
              </a:defRPr>
            </a:lvl9pPr>
          </a:lstStyle>
          <a:p xmlns:a="http://schemas.openxmlformats.org/drawingml/2006/main">
            <a:pPr algn="l">
              <a:defRPr sz="6150" b="0">
                <a:solidFill>
                  <a:srgbClr val="FFFEFA"/>
                </a:solidFill>
                <a:latin typeface="Georgia"/>
                <a:ea typeface="Georgia"/>
                <a:cs typeface="Georgia"/>
              </a:defRPr>
            </a:pPr>
            <a:r>
              <a:rPr sz="6150" b="0">
                <a:solidFill>
                  <a:srgbClr val="FFFEFA"/>
                </a:solidFill>
                <a:latin typeface="Georgia"/>
                <a:ea typeface="Georgia"/>
                <a:cs typeface="Georgia"/>
              </a:rPr>
              <a:t>Open Agent</a:t>
            </a:r>
          </a:p>
          <a:p xmlns:a="http://schemas.openxmlformats.org/drawingml/2006/main">
            <a:pPr algn="l">
              <a:defRPr sz="6150" b="0">
                <a:solidFill>
                  <a:srgbClr val="FFFEFA"/>
                </a:solidFill>
                <a:latin typeface="Georgia"/>
                <a:ea typeface="Georgia"/>
                <a:cs typeface="Georgia"/>
              </a:defRPr>
            </a:pPr>
            <a:r>
              <a:rPr sz="6150" b="0">
                <a:solidFill>
                  <a:srgbClr val="FFFEFA"/>
                </a:solidFill>
                <a:latin typeface="Georgia"/>
                <a:ea typeface="Georgia"/>
                <a:cs typeface="Georgia"/>
              </a:rPr>
              <a:t>Maize</a:t>
            </a:r>
          </a:p>
        </p:txBody>
      </p:sp>
      <p:sp>
        <p:nvSpPr>
          <p:cNvPr id="4" name="cover-subtitle">
            <a:extLst xmlns:a="http://schemas.openxmlformats.org/drawingml/2006/main">
              <a:ext uri="{FF2B5EF4-FFF2-40B4-BE49-F238E27FC236}">
                <a16:creationId xmlns:a16="http://schemas.microsoft.com/office/drawing/2014/main" id="{04139AB6-DCF1-4EE2-AC55-2D69DA6AC5CE}"/>
              </a:ext>
            </a:extLst>
          </p:cNvPr>
          <p:cNvSpPr>
            <a:spLocks xmlns:a="http://schemas.openxmlformats.org/drawingml/2006/main" noGrp="1"/>
          </p:cNvSpPr>
          <p:nvPr/>
        </p:nvSpPr>
        <p:spPr>
          <a:xfrm xmlns:a="http://schemas.openxmlformats.org/drawingml/2006/main">
            <a:off x="781050" y="4038600"/>
            <a:ext cx="647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D7E0D5"/>
                </a:solidFill>
                <a:latin typeface="Arial"/>
                <a:ea typeface="Arial"/>
                <a:cs typeface="Arial"/>
              </a:defRPr>
            </a:defPPr>
            <a:lvl1pPr algn="l">
              <a:defRPr sz="1950" b="0">
                <a:solidFill>
                  <a:srgbClr val="D7E0D5"/>
                </a:solidFill>
                <a:latin typeface="Arial"/>
                <a:ea typeface="Arial"/>
                <a:cs typeface="Arial"/>
              </a:defRPr>
            </a:lvl1pPr>
            <a:lvl2pPr algn="l">
              <a:defRPr sz="1950" b="0">
                <a:solidFill>
                  <a:srgbClr val="D7E0D5"/>
                </a:solidFill>
                <a:latin typeface="Arial"/>
                <a:ea typeface="Arial"/>
                <a:cs typeface="Arial"/>
              </a:defRPr>
            </a:lvl2pPr>
            <a:lvl3pPr algn="l">
              <a:defRPr sz="1950" b="0">
                <a:solidFill>
                  <a:srgbClr val="D7E0D5"/>
                </a:solidFill>
                <a:latin typeface="Arial"/>
                <a:ea typeface="Arial"/>
                <a:cs typeface="Arial"/>
              </a:defRPr>
            </a:lvl3pPr>
            <a:lvl4pPr algn="l">
              <a:defRPr sz="1950" b="0">
                <a:solidFill>
                  <a:srgbClr val="D7E0D5"/>
                </a:solidFill>
                <a:latin typeface="Arial"/>
                <a:ea typeface="Arial"/>
                <a:cs typeface="Arial"/>
              </a:defRPr>
            </a:lvl4pPr>
            <a:lvl5pPr algn="l">
              <a:defRPr sz="1950" b="0">
                <a:solidFill>
                  <a:srgbClr val="D7E0D5"/>
                </a:solidFill>
                <a:latin typeface="Arial"/>
                <a:ea typeface="Arial"/>
                <a:cs typeface="Arial"/>
              </a:defRPr>
            </a:lvl5pPr>
            <a:lvl6pPr algn="l">
              <a:defRPr sz="1950" b="0">
                <a:solidFill>
                  <a:srgbClr val="D7E0D5"/>
                </a:solidFill>
                <a:latin typeface="Arial"/>
                <a:ea typeface="Arial"/>
                <a:cs typeface="Arial"/>
              </a:defRPr>
            </a:lvl6pPr>
            <a:lvl7pPr algn="l">
              <a:defRPr sz="1950" b="0">
                <a:solidFill>
                  <a:srgbClr val="D7E0D5"/>
                </a:solidFill>
                <a:latin typeface="Arial"/>
                <a:ea typeface="Arial"/>
                <a:cs typeface="Arial"/>
              </a:defRPr>
            </a:lvl7pPr>
            <a:lvl8pPr algn="l">
              <a:defRPr sz="1950" b="0">
                <a:solidFill>
                  <a:srgbClr val="D7E0D5"/>
                </a:solidFill>
                <a:latin typeface="Arial"/>
                <a:ea typeface="Arial"/>
                <a:cs typeface="Arial"/>
              </a:defRPr>
            </a:lvl8pPr>
            <a:lvl9pPr algn="l">
              <a:defRPr sz="1950" b="0">
                <a:solidFill>
                  <a:srgbClr val="D7E0D5"/>
                </a:solidFill>
                <a:latin typeface="Arial"/>
                <a:ea typeface="Arial"/>
                <a:cs typeface="Arial"/>
              </a:defRPr>
            </a:lvl9pPr>
          </a:lstStyle>
          <a:p xmlns:a="http://schemas.openxmlformats.org/drawingml/2006/main">
            <a:pPr algn="l">
              <a:defRPr sz="1950" b="0">
                <a:solidFill>
                  <a:srgbClr val="D7E0D5"/>
                </a:solidFill>
                <a:latin typeface="Arial"/>
                <a:ea typeface="Arial"/>
                <a:cs typeface="Arial"/>
              </a:defRPr>
            </a:pPr>
            <a:r>
              <a:rPr sz="1950" b="0">
                <a:solidFill>
                  <a:srgbClr val="D7E0D5"/>
                </a:solidFill>
                <a:latin typeface="Arial"/>
                <a:ea typeface="Arial"/>
                <a:cs typeface="Arial"/>
              </a:rPr>
              <a:t>Sell, hold or split support for</a:t>
            </a:r>
          </a:p>
          <a:p xmlns:a="http://schemas.openxmlformats.org/drawingml/2006/main">
            <a:pPr algn="l">
              <a:defRPr sz="1950" b="0">
                <a:solidFill>
                  <a:srgbClr val="D7E0D5"/>
                </a:solidFill>
                <a:latin typeface="Arial"/>
                <a:ea typeface="Arial"/>
                <a:cs typeface="Arial"/>
              </a:defRPr>
            </a:pPr>
            <a:r>
              <a:rPr sz="1950" b="0">
                <a:solidFill>
                  <a:srgbClr val="D7E0D5"/>
                </a:solidFill>
                <a:latin typeface="Arial"/>
                <a:ea typeface="Arial"/>
                <a:cs typeface="Arial"/>
              </a:rPr>
              <a:t>Kenya’s smallholder maize farmers</a:t>
            </a:r>
          </a:p>
        </p:txBody>
      </p:sp>
      <p:sp>
        <p:nvSpPr>
          <p:cNvPr id="5" name="cover-footer-rule">
            <a:extLst xmlns:a="http://schemas.openxmlformats.org/drawingml/2006/main">
              <a:ext uri="{FF2B5EF4-FFF2-40B4-BE49-F238E27FC236}">
                <a16:creationId xmlns:a16="http://schemas.microsoft.com/office/drawing/2014/main" id="{029559ED-E0CC-47C5-BAC7-7D753EAAF471}"/>
              </a:ext>
            </a:extLst>
          </p:cNvPr>
          <p:cNvSpPr>
            <a:spLocks xmlns:a="http://schemas.openxmlformats.org/drawingml/2006/main" noGrp="1"/>
          </p:cNvSpPr>
          <p:nvPr/>
        </p:nvSpPr>
        <p:spPr>
          <a:xfrm xmlns:a="http://schemas.openxmlformats.org/drawingml/2006/main">
            <a:off x="781050" y="5743575"/>
            <a:ext cx="1057275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6" name="cover-footer-left">
            <a:extLst xmlns:a="http://schemas.openxmlformats.org/drawingml/2006/main">
              <a:ext uri="{FF2B5EF4-FFF2-40B4-BE49-F238E27FC236}">
                <a16:creationId xmlns:a16="http://schemas.microsoft.com/office/drawing/2014/main" id="{CDEDD40E-5755-4826-AA5D-96EF19CC53F2}"/>
              </a:ext>
            </a:extLst>
          </p:cNvPr>
          <p:cNvSpPr>
            <a:spLocks xmlns:a="http://schemas.openxmlformats.org/drawingml/2006/main" noGrp="1"/>
          </p:cNvSpPr>
          <p:nvPr/>
        </p:nvSpPr>
        <p:spPr>
          <a:xfrm xmlns:a="http://schemas.openxmlformats.org/drawingml/2006/main">
            <a:off x="781050" y="5953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Compare today’s offer with market, weather and storage risk</a:t>
            </a:r>
          </a:p>
        </p:txBody>
      </p:sp>
      <p:sp>
        <p:nvSpPr>
          <p:cNvPr id="7" name="cover-footer-right">
            <a:extLst xmlns:a="http://schemas.openxmlformats.org/drawingml/2006/main">
              <a:ext uri="{FF2B5EF4-FFF2-40B4-BE49-F238E27FC236}">
                <a16:creationId xmlns:a16="http://schemas.microsoft.com/office/drawing/2014/main" id="{ECBD322F-0BE3-42BC-9EE7-B93B7F074855}"/>
              </a:ext>
            </a:extLst>
          </p:cNvPr>
          <p:cNvSpPr>
            <a:spLocks xmlns:a="http://schemas.openxmlformats.org/drawingml/2006/main" noGrp="1"/>
          </p:cNvSpPr>
          <p:nvPr/>
        </p:nvSpPr>
        <p:spPr>
          <a:xfrm xmlns:a="http://schemas.openxmlformats.org/drawingml/2006/main">
            <a:off x="8572500" y="595312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D9C99F"/>
                </a:solidFill>
                <a:latin typeface="Arial"/>
                <a:ea typeface="Arial"/>
                <a:cs typeface="Arial"/>
              </a:defRPr>
            </a:defPPr>
            <a:lvl1pPr algn="r">
              <a:defRPr sz="975" b="1">
                <a:solidFill>
                  <a:srgbClr val="D9C99F"/>
                </a:solidFill>
                <a:latin typeface="Arial"/>
                <a:ea typeface="Arial"/>
                <a:cs typeface="Arial"/>
              </a:defRPr>
            </a:lvl1pPr>
            <a:lvl2pPr algn="r">
              <a:defRPr sz="975" b="1">
                <a:solidFill>
                  <a:srgbClr val="D9C99F"/>
                </a:solidFill>
                <a:latin typeface="Arial"/>
                <a:ea typeface="Arial"/>
                <a:cs typeface="Arial"/>
              </a:defRPr>
            </a:lvl2pPr>
            <a:lvl3pPr algn="r">
              <a:defRPr sz="975" b="1">
                <a:solidFill>
                  <a:srgbClr val="D9C99F"/>
                </a:solidFill>
                <a:latin typeface="Arial"/>
                <a:ea typeface="Arial"/>
                <a:cs typeface="Arial"/>
              </a:defRPr>
            </a:lvl3pPr>
            <a:lvl4pPr algn="r">
              <a:defRPr sz="975" b="1">
                <a:solidFill>
                  <a:srgbClr val="D9C99F"/>
                </a:solidFill>
                <a:latin typeface="Arial"/>
                <a:ea typeface="Arial"/>
                <a:cs typeface="Arial"/>
              </a:defRPr>
            </a:lvl4pPr>
            <a:lvl5pPr algn="r">
              <a:defRPr sz="975" b="1">
                <a:solidFill>
                  <a:srgbClr val="D9C99F"/>
                </a:solidFill>
                <a:latin typeface="Arial"/>
                <a:ea typeface="Arial"/>
                <a:cs typeface="Arial"/>
              </a:defRPr>
            </a:lvl5pPr>
            <a:lvl6pPr algn="r">
              <a:defRPr sz="975" b="1">
                <a:solidFill>
                  <a:srgbClr val="D9C99F"/>
                </a:solidFill>
                <a:latin typeface="Arial"/>
                <a:ea typeface="Arial"/>
                <a:cs typeface="Arial"/>
              </a:defRPr>
            </a:lvl6pPr>
            <a:lvl7pPr algn="r">
              <a:defRPr sz="975" b="1">
                <a:solidFill>
                  <a:srgbClr val="D9C99F"/>
                </a:solidFill>
                <a:latin typeface="Arial"/>
                <a:ea typeface="Arial"/>
                <a:cs typeface="Arial"/>
              </a:defRPr>
            </a:lvl7pPr>
            <a:lvl8pPr algn="r">
              <a:defRPr sz="975" b="1">
                <a:solidFill>
                  <a:srgbClr val="D9C99F"/>
                </a:solidFill>
                <a:latin typeface="Arial"/>
                <a:ea typeface="Arial"/>
                <a:cs typeface="Arial"/>
              </a:defRPr>
            </a:lvl8pPr>
            <a:lvl9pPr algn="r">
              <a:defRPr sz="975" b="1">
                <a:solidFill>
                  <a:srgbClr val="D9C99F"/>
                </a:solidFill>
                <a:latin typeface="Arial"/>
                <a:ea typeface="Arial"/>
                <a:cs typeface="Arial"/>
              </a:defRPr>
            </a:lvl9pPr>
          </a:lstStyle>
          <a:p xmlns:a="http://schemas.openxmlformats.org/drawingml/2006/main">
            <a:pPr algn="r">
              <a:defRPr sz="975" b="1">
                <a:solidFill>
                  <a:srgbClr val="D9C99F"/>
                </a:solidFill>
                <a:latin typeface="Arial"/>
                <a:ea typeface="Arial"/>
                <a:cs typeface="Arial"/>
              </a:defRPr>
            </a:pPr>
            <a:r>
              <a:rPr sz="975" b="1">
                <a:solidFill>
                  <a:srgbClr val="D9C99F"/>
                </a:solidFill>
                <a:latin typeface="Arial"/>
                <a:ea typeface="Arial"/>
                <a:cs typeface="Arial"/>
              </a:rPr>
              <a:t>24 OCTOBER 2026</a:t>
            </a:r>
          </a:p>
        </p:txBody>
      </p:sp>
    </p:spTree>
    <p:extLst>
      <p:ext uri="{BB962C8B-B14F-4D97-AF65-F5344CB8AC3E}">
        <p14:creationId xmlns:p14="http://schemas.microsoft.com/office/powerpoint/2010/main" val="1842332687"/>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1" name="slide-2-index">
            <a:extLst xmlns:a="http://schemas.openxmlformats.org/drawingml/2006/main">
              <a:ext uri="{FF2B5EF4-FFF2-40B4-BE49-F238E27FC236}">
                <a16:creationId xmlns:a16="http://schemas.microsoft.com/office/drawing/2014/main" id="{87E692DC-AD1C-463A-906A-23ED8BC9C38F}"/>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02</a:t>
            </a:r>
          </a:p>
        </p:txBody>
      </p:sp>
      <p:sp>
        <p:nvSpPr>
          <p:cNvPr id="2" name="slide-2-title">
            <a:extLst xmlns:a="http://schemas.openxmlformats.org/drawingml/2006/main">
              <a:ext uri="{FF2B5EF4-FFF2-40B4-BE49-F238E27FC236}">
                <a16:creationId xmlns:a16="http://schemas.microsoft.com/office/drawing/2014/main" id="{805DD546-C2EF-49F0-AAE6-3FCDAD1E43B7}"/>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A sale decision has more than one price</a:t>
            </a:r>
          </a:p>
        </p:txBody>
      </p:sp>
      <p:sp>
        <p:nvSpPr>
          <p:cNvPr id="3" name="slide-2-subtitle">
            <a:extLst xmlns:a="http://schemas.openxmlformats.org/drawingml/2006/main">
              <a:ext uri="{FF2B5EF4-FFF2-40B4-BE49-F238E27FC236}">
                <a16:creationId xmlns:a16="http://schemas.microsoft.com/office/drawing/2014/main" id="{A2A890AF-E8F4-437B-BB32-67907FA04806}"/>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same bag can earn cash today or lose value while it waits.</a:t>
            </a:r>
          </a:p>
        </p:txBody>
      </p:sp>
      <p:sp>
        <p:nvSpPr>
          <p:cNvPr id="4" name="slide-2-header-rule">
            <a:extLst xmlns:a="http://schemas.openxmlformats.org/drawingml/2006/main">
              <a:ext uri="{FF2B5EF4-FFF2-40B4-BE49-F238E27FC236}">
                <a16:creationId xmlns:a16="http://schemas.microsoft.com/office/drawing/2014/main" id="{859CDE74-B2D3-43A9-90C1-86D2F622959C}"/>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problem-statement">
            <a:extLst xmlns:a="http://schemas.openxmlformats.org/drawingml/2006/main">
              <a:ext uri="{FF2B5EF4-FFF2-40B4-BE49-F238E27FC236}">
                <a16:creationId xmlns:a16="http://schemas.microsoft.com/office/drawing/2014/main" id="{1DD6648D-8DED-4493-A0BC-98E12583430E}"/>
              </a:ext>
            </a:extLst>
          </p:cNvPr>
          <p:cNvSpPr>
            <a:spLocks xmlns:a="http://schemas.openxmlformats.org/drawingml/2006/main" noGrp="1"/>
          </p:cNvSpPr>
          <p:nvPr/>
        </p:nvSpPr>
        <p:spPr>
          <a:xfrm xmlns:a="http://schemas.openxmlformats.org/drawingml/2006/main">
            <a:off x="762000" y="2438400"/>
            <a:ext cx="4667250" cy="1800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0">
                <a:solidFill>
                  <a:srgbClr val="183525"/>
                </a:solidFill>
                <a:latin typeface="Georgia"/>
                <a:ea typeface="Georgia"/>
                <a:cs typeface="Georgia"/>
              </a:defRPr>
            </a:defPPr>
            <a:lvl1pPr algn="l">
              <a:defRPr sz="2550" b="0">
                <a:solidFill>
                  <a:srgbClr val="183525"/>
                </a:solidFill>
                <a:latin typeface="Georgia"/>
                <a:ea typeface="Georgia"/>
                <a:cs typeface="Georgia"/>
              </a:defRPr>
            </a:lvl1pPr>
            <a:lvl2pPr algn="l">
              <a:defRPr sz="2550" b="0">
                <a:solidFill>
                  <a:srgbClr val="183525"/>
                </a:solidFill>
                <a:latin typeface="Georgia"/>
                <a:ea typeface="Georgia"/>
                <a:cs typeface="Georgia"/>
              </a:defRPr>
            </a:lvl2pPr>
            <a:lvl3pPr algn="l">
              <a:defRPr sz="2550" b="0">
                <a:solidFill>
                  <a:srgbClr val="183525"/>
                </a:solidFill>
                <a:latin typeface="Georgia"/>
                <a:ea typeface="Georgia"/>
                <a:cs typeface="Georgia"/>
              </a:defRPr>
            </a:lvl3pPr>
            <a:lvl4pPr algn="l">
              <a:defRPr sz="2550" b="0">
                <a:solidFill>
                  <a:srgbClr val="183525"/>
                </a:solidFill>
                <a:latin typeface="Georgia"/>
                <a:ea typeface="Georgia"/>
                <a:cs typeface="Georgia"/>
              </a:defRPr>
            </a:lvl4pPr>
            <a:lvl5pPr algn="l">
              <a:defRPr sz="2550" b="0">
                <a:solidFill>
                  <a:srgbClr val="183525"/>
                </a:solidFill>
                <a:latin typeface="Georgia"/>
                <a:ea typeface="Georgia"/>
                <a:cs typeface="Georgia"/>
              </a:defRPr>
            </a:lvl5pPr>
            <a:lvl6pPr algn="l">
              <a:defRPr sz="2550" b="0">
                <a:solidFill>
                  <a:srgbClr val="183525"/>
                </a:solidFill>
                <a:latin typeface="Georgia"/>
                <a:ea typeface="Georgia"/>
                <a:cs typeface="Georgia"/>
              </a:defRPr>
            </a:lvl6pPr>
            <a:lvl7pPr algn="l">
              <a:defRPr sz="2550" b="0">
                <a:solidFill>
                  <a:srgbClr val="183525"/>
                </a:solidFill>
                <a:latin typeface="Georgia"/>
                <a:ea typeface="Georgia"/>
                <a:cs typeface="Georgia"/>
              </a:defRPr>
            </a:lvl7pPr>
            <a:lvl8pPr algn="l">
              <a:defRPr sz="2550" b="0">
                <a:solidFill>
                  <a:srgbClr val="183525"/>
                </a:solidFill>
                <a:latin typeface="Georgia"/>
                <a:ea typeface="Georgia"/>
                <a:cs typeface="Georgia"/>
              </a:defRPr>
            </a:lvl8pPr>
            <a:lvl9pPr algn="l">
              <a:defRPr sz="2550" b="0">
                <a:solidFill>
                  <a:srgbClr val="183525"/>
                </a:solidFill>
                <a:latin typeface="Georgia"/>
                <a:ea typeface="Georgia"/>
                <a:cs typeface="Georgia"/>
              </a:defRPr>
            </a:lvl9pPr>
          </a:lstStyle>
          <a:p xmlns:a="http://schemas.openxmlformats.org/drawingml/2006/main">
            <a:pPr algn="l">
              <a:defRPr sz="2550" b="0">
                <a:solidFill>
                  <a:srgbClr val="183525"/>
                </a:solidFill>
                <a:latin typeface="Georgia"/>
                <a:ea typeface="Georgia"/>
                <a:cs typeface="Georgia"/>
              </a:defRPr>
            </a:pPr>
            <a:r>
              <a:rPr sz="2550" b="0">
                <a:solidFill>
                  <a:srgbClr val="183525"/>
                </a:solidFill>
                <a:latin typeface="Georgia"/>
                <a:ea typeface="Georgia"/>
                <a:cs typeface="Georgia"/>
              </a:rPr>
              <a:t>A farmer needs to compare the buyer’s offer with the value of holding grain through the forecast.</a:t>
            </a:r>
          </a:p>
        </p:txBody>
      </p:sp>
      <p:sp>
        <p:nvSpPr>
          <p:cNvPr id="6" name="problem-user">
            <a:extLst xmlns:a="http://schemas.openxmlformats.org/drawingml/2006/main">
              <a:ext uri="{FF2B5EF4-FFF2-40B4-BE49-F238E27FC236}">
                <a16:creationId xmlns:a16="http://schemas.microsoft.com/office/drawing/2014/main" id="{9A1D50C0-6A00-46C9-A12F-0190EA52DB07}"/>
              </a:ext>
            </a:extLst>
          </p:cNvPr>
          <p:cNvSpPr>
            <a:spLocks xmlns:a="http://schemas.openxmlformats.org/drawingml/2006/main" noGrp="1"/>
          </p:cNvSpPr>
          <p:nvPr/>
        </p:nvSpPr>
        <p:spPr>
          <a:xfrm xmlns:a="http://schemas.openxmlformats.org/drawingml/2006/main">
            <a:off x="762000" y="4552950"/>
            <a:ext cx="4333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For a smallholder white-maize farmer deciding what to do with a known lot.</a:t>
            </a:r>
          </a:p>
        </p:txBody>
      </p:sp>
      <p:sp>
        <p:nvSpPr>
          <p:cNvPr id="7" name="problem-column-divider">
            <a:extLst xmlns:a="http://schemas.openxmlformats.org/drawingml/2006/main">
              <a:ext uri="{FF2B5EF4-FFF2-40B4-BE49-F238E27FC236}">
                <a16:creationId xmlns:a16="http://schemas.microsoft.com/office/drawing/2014/main" id="{351D06EA-0733-4A83-BE62-D1E46B8FC33F}"/>
              </a:ext>
            </a:extLst>
          </p:cNvPr>
          <p:cNvSpPr>
            <a:spLocks xmlns:a="http://schemas.openxmlformats.org/drawingml/2006/main" noGrp="1"/>
          </p:cNvSpPr>
          <p:nvPr/>
        </p:nvSpPr>
        <p:spPr>
          <a:xfrm xmlns:a="http://schemas.openxmlformats.org/drawingml/2006/main">
            <a:off x="5829300" y="2381250"/>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8" name="problem-row-01-number">
            <a:extLst xmlns:a="http://schemas.openxmlformats.org/drawingml/2006/main">
              <a:ext uri="{FF2B5EF4-FFF2-40B4-BE49-F238E27FC236}">
                <a16:creationId xmlns:a16="http://schemas.microsoft.com/office/drawing/2014/main" id="{19C13823-9AAB-4805-9B28-51B1A2F7D2AD}"/>
              </a:ext>
            </a:extLst>
          </p:cNvPr>
          <p:cNvSpPr>
            <a:spLocks xmlns:a="http://schemas.openxmlformats.org/drawingml/2006/main" noGrp="1"/>
          </p:cNvSpPr>
          <p:nvPr/>
        </p:nvSpPr>
        <p:spPr>
          <a:xfrm xmlns:a="http://schemas.openxmlformats.org/drawingml/2006/main">
            <a:off x="6324600" y="25050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01</a:t>
            </a:r>
          </a:p>
        </p:txBody>
      </p:sp>
      <p:sp>
        <p:nvSpPr>
          <p:cNvPr id="9" name="problem-row-01-heading">
            <a:extLst xmlns:a="http://schemas.openxmlformats.org/drawingml/2006/main">
              <a:ext uri="{FF2B5EF4-FFF2-40B4-BE49-F238E27FC236}">
                <a16:creationId xmlns:a16="http://schemas.microsoft.com/office/drawing/2014/main" id="{0117E725-B563-409F-AA65-08E825411EAF}"/>
              </a:ext>
            </a:extLst>
          </p:cNvPr>
          <p:cNvSpPr>
            <a:spLocks xmlns:a="http://schemas.openxmlformats.org/drawingml/2006/main" noGrp="1"/>
          </p:cNvSpPr>
          <p:nvPr/>
        </p:nvSpPr>
        <p:spPr>
          <a:xfrm xmlns:a="http://schemas.openxmlformats.org/drawingml/2006/main">
            <a:off x="6886575" y="24955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Price movement</a:t>
            </a:r>
          </a:p>
        </p:txBody>
      </p:sp>
      <p:sp>
        <p:nvSpPr>
          <p:cNvPr id="10" name="problem-row-01-body">
            <a:extLst xmlns:a="http://schemas.openxmlformats.org/drawingml/2006/main">
              <a:ext uri="{FF2B5EF4-FFF2-40B4-BE49-F238E27FC236}">
                <a16:creationId xmlns:a16="http://schemas.microsoft.com/office/drawing/2014/main" id="{FCBC92F7-F700-4C2B-9B69-2119EA744110}"/>
              </a:ext>
            </a:extLst>
          </p:cNvPr>
          <p:cNvSpPr>
            <a:spLocks xmlns:a="http://schemas.openxmlformats.org/drawingml/2006/main" noGrp="1"/>
          </p:cNvSpPr>
          <p:nvPr/>
        </p:nvSpPr>
        <p:spPr>
          <a:xfrm xmlns:a="http://schemas.openxmlformats.org/drawingml/2006/main">
            <a:off x="6886575" y="282892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County quotes vary in date, market and coverage.</a:t>
            </a:r>
          </a:p>
        </p:txBody>
      </p:sp>
      <p:sp>
        <p:nvSpPr>
          <p:cNvPr id="11" name="problem-row-01-rule">
            <a:extLst xmlns:a="http://schemas.openxmlformats.org/drawingml/2006/main">
              <a:ext uri="{FF2B5EF4-FFF2-40B4-BE49-F238E27FC236}">
                <a16:creationId xmlns:a16="http://schemas.microsoft.com/office/drawing/2014/main" id="{CED7DA1D-D9EE-4BD5-8C1A-3B42ED642F6F}"/>
              </a:ext>
            </a:extLst>
          </p:cNvPr>
          <p:cNvSpPr>
            <a:spLocks xmlns:a="http://schemas.openxmlformats.org/drawingml/2006/main" noGrp="1"/>
          </p:cNvSpPr>
          <p:nvPr/>
        </p:nvSpPr>
        <p:spPr>
          <a:xfrm xmlns:a="http://schemas.openxmlformats.org/drawingml/2006/main">
            <a:off x="6324600" y="341947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2" name="problem-row-02-number">
            <a:extLst xmlns:a="http://schemas.openxmlformats.org/drawingml/2006/main">
              <a:ext uri="{FF2B5EF4-FFF2-40B4-BE49-F238E27FC236}">
                <a16:creationId xmlns:a16="http://schemas.microsoft.com/office/drawing/2014/main" id="{534025ED-998B-423B-8ABF-CC55C0E53EBC}"/>
              </a:ext>
            </a:extLst>
          </p:cNvPr>
          <p:cNvSpPr>
            <a:spLocks xmlns:a="http://schemas.openxmlformats.org/drawingml/2006/main" noGrp="1"/>
          </p:cNvSpPr>
          <p:nvPr/>
        </p:nvSpPr>
        <p:spPr>
          <a:xfrm xmlns:a="http://schemas.openxmlformats.org/drawingml/2006/main">
            <a:off x="6324600" y="35909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02</a:t>
            </a:r>
          </a:p>
        </p:txBody>
      </p:sp>
      <p:sp>
        <p:nvSpPr>
          <p:cNvPr id="13" name="problem-row-02-heading">
            <a:extLst xmlns:a="http://schemas.openxmlformats.org/drawingml/2006/main">
              <a:ext uri="{FF2B5EF4-FFF2-40B4-BE49-F238E27FC236}">
                <a16:creationId xmlns:a16="http://schemas.microsoft.com/office/drawing/2014/main" id="{8BE87F26-1D47-4076-8C00-DAD7E54B9BE8}"/>
              </a:ext>
            </a:extLst>
          </p:cNvPr>
          <p:cNvSpPr>
            <a:spLocks xmlns:a="http://schemas.openxmlformats.org/drawingml/2006/main" noGrp="1"/>
          </p:cNvSpPr>
          <p:nvPr/>
        </p:nvSpPr>
        <p:spPr>
          <a:xfrm xmlns:a="http://schemas.openxmlformats.org/drawingml/2006/main">
            <a:off x="6886575" y="35814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Storage exposure</a:t>
            </a:r>
          </a:p>
        </p:txBody>
      </p:sp>
      <p:sp>
        <p:nvSpPr>
          <p:cNvPr id="14" name="problem-row-02-body">
            <a:extLst xmlns:a="http://schemas.openxmlformats.org/drawingml/2006/main">
              <a:ext uri="{FF2B5EF4-FFF2-40B4-BE49-F238E27FC236}">
                <a16:creationId xmlns:a16="http://schemas.microsoft.com/office/drawing/2014/main" id="{C9157760-08CC-45A4-84B3-1C3C6073035D}"/>
              </a:ext>
            </a:extLst>
          </p:cNvPr>
          <p:cNvSpPr>
            <a:spLocks xmlns:a="http://schemas.openxmlformats.org/drawingml/2006/main" noGrp="1"/>
          </p:cNvSpPr>
          <p:nvPr/>
        </p:nvSpPr>
        <p:spPr>
          <a:xfrm xmlns:a="http://schemas.openxmlformats.org/drawingml/2006/main">
            <a:off x="6886575" y="391477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Rain and humidity can reduce the grain kept for sale.</a:t>
            </a:r>
          </a:p>
        </p:txBody>
      </p:sp>
      <p:sp>
        <p:nvSpPr>
          <p:cNvPr id="15" name="problem-row-02-rule">
            <a:extLst xmlns:a="http://schemas.openxmlformats.org/drawingml/2006/main">
              <a:ext uri="{FF2B5EF4-FFF2-40B4-BE49-F238E27FC236}">
                <a16:creationId xmlns:a16="http://schemas.microsoft.com/office/drawing/2014/main" id="{B69C2258-6045-4C13-9902-357B974E7453}"/>
              </a:ext>
            </a:extLst>
          </p:cNvPr>
          <p:cNvSpPr>
            <a:spLocks xmlns:a="http://schemas.openxmlformats.org/drawingml/2006/main" noGrp="1"/>
          </p:cNvSpPr>
          <p:nvPr/>
        </p:nvSpPr>
        <p:spPr>
          <a:xfrm xmlns:a="http://schemas.openxmlformats.org/drawingml/2006/main">
            <a:off x="6324600" y="450532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6" name="problem-row-03-number">
            <a:extLst xmlns:a="http://schemas.openxmlformats.org/drawingml/2006/main">
              <a:ext uri="{FF2B5EF4-FFF2-40B4-BE49-F238E27FC236}">
                <a16:creationId xmlns:a16="http://schemas.microsoft.com/office/drawing/2014/main" id="{BB98EE2A-95B6-44D6-B237-A2E196F00B9B}"/>
              </a:ext>
            </a:extLst>
          </p:cNvPr>
          <p:cNvSpPr>
            <a:spLocks xmlns:a="http://schemas.openxmlformats.org/drawingml/2006/main" noGrp="1"/>
          </p:cNvSpPr>
          <p:nvPr/>
        </p:nvSpPr>
        <p:spPr>
          <a:xfrm xmlns:a="http://schemas.openxmlformats.org/drawingml/2006/main">
            <a:off x="6324600" y="46767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03</a:t>
            </a:r>
          </a:p>
        </p:txBody>
      </p:sp>
      <p:sp>
        <p:nvSpPr>
          <p:cNvPr id="17" name="problem-row-03-heading">
            <a:extLst xmlns:a="http://schemas.openxmlformats.org/drawingml/2006/main">
              <a:ext uri="{FF2B5EF4-FFF2-40B4-BE49-F238E27FC236}">
                <a16:creationId xmlns:a16="http://schemas.microsoft.com/office/drawing/2014/main" id="{9290A11A-D275-4C9D-AC69-39ED281E7AE2}"/>
              </a:ext>
            </a:extLst>
          </p:cNvPr>
          <p:cNvSpPr>
            <a:spLocks xmlns:a="http://schemas.openxmlformats.org/drawingml/2006/main" noGrp="1"/>
          </p:cNvSpPr>
          <p:nvPr/>
        </p:nvSpPr>
        <p:spPr>
          <a:xfrm xmlns:a="http://schemas.openxmlformats.org/drawingml/2006/main">
            <a:off x="6886575" y="46672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Cash today</a:t>
            </a:r>
          </a:p>
        </p:txBody>
      </p:sp>
      <p:sp>
        <p:nvSpPr>
          <p:cNvPr id="18" name="problem-row-03-body">
            <a:extLst xmlns:a="http://schemas.openxmlformats.org/drawingml/2006/main">
              <a:ext uri="{FF2B5EF4-FFF2-40B4-BE49-F238E27FC236}">
                <a16:creationId xmlns:a16="http://schemas.microsoft.com/office/drawing/2014/main" id="{022A12A6-9762-40BA-9E5C-AD68FB1EBFC5}"/>
              </a:ext>
            </a:extLst>
          </p:cNvPr>
          <p:cNvSpPr>
            <a:spLocks xmlns:a="http://schemas.openxmlformats.org/drawingml/2006/main" noGrp="1"/>
          </p:cNvSpPr>
          <p:nvPr/>
        </p:nvSpPr>
        <p:spPr>
          <a:xfrm xmlns:a="http://schemas.openxmlformats.org/drawingml/2006/main">
            <a:off x="6886575" y="500062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An urgent cash need changes the value of selling part or all of the lot.</a:t>
            </a:r>
          </a:p>
        </p:txBody>
      </p:sp>
      <p:sp>
        <p:nvSpPr>
          <p:cNvPr id="19" name="problem-abstain-stripe">
            <a:extLst xmlns:a="http://schemas.openxmlformats.org/drawingml/2006/main">
              <a:ext uri="{FF2B5EF4-FFF2-40B4-BE49-F238E27FC236}">
                <a16:creationId xmlns:a16="http://schemas.microsoft.com/office/drawing/2014/main" id="{365E6674-1531-4DA6-AE0C-0EEDBF92BC6D}"/>
              </a:ext>
            </a:extLst>
          </p:cNvPr>
          <p:cNvSpPr>
            <a:spLocks xmlns:a="http://schemas.openxmlformats.org/drawingml/2006/main" noGrp="1"/>
          </p:cNvSpPr>
          <p:nvPr/>
        </p:nvSpPr>
        <p:spPr>
          <a:xfrm xmlns:a="http://schemas.openxmlformats.org/drawingml/2006/main">
            <a:off x="762000" y="5562600"/>
            <a:ext cx="38100" cy="428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0" name="problem-abstain">
            <a:extLst xmlns:a="http://schemas.openxmlformats.org/drawingml/2006/main">
              <a:ext uri="{FF2B5EF4-FFF2-40B4-BE49-F238E27FC236}">
                <a16:creationId xmlns:a16="http://schemas.microsoft.com/office/drawing/2014/main" id="{8967A14C-0AFE-4729-9A17-9EE3E133FC12}"/>
              </a:ext>
            </a:extLst>
          </p:cNvPr>
          <p:cNvSpPr>
            <a:spLocks xmlns:a="http://schemas.openxmlformats.org/drawingml/2006/main" noGrp="1"/>
          </p:cNvSpPr>
          <p:nvPr/>
        </p:nvSpPr>
        <p:spPr>
          <a:xfrm xmlns:a="http://schemas.openxmlformats.org/drawingml/2006/main">
            <a:off x="942975" y="55626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74A34"/>
                </a:solidFill>
                <a:latin typeface="Arial"/>
                <a:ea typeface="Arial"/>
                <a:cs typeface="Arial"/>
              </a:defRPr>
            </a:defPPr>
            <a:lvl1pPr algn="l">
              <a:defRPr sz="1425" b="0">
                <a:solidFill>
                  <a:srgbClr val="274A34"/>
                </a:solidFill>
                <a:latin typeface="Arial"/>
                <a:ea typeface="Arial"/>
                <a:cs typeface="Arial"/>
              </a:defRPr>
            </a:lvl1pPr>
            <a:lvl2pPr algn="l">
              <a:defRPr sz="1425" b="0">
                <a:solidFill>
                  <a:srgbClr val="274A34"/>
                </a:solidFill>
                <a:latin typeface="Arial"/>
                <a:ea typeface="Arial"/>
                <a:cs typeface="Arial"/>
              </a:defRPr>
            </a:lvl2pPr>
            <a:lvl3pPr algn="l">
              <a:defRPr sz="1425" b="0">
                <a:solidFill>
                  <a:srgbClr val="274A34"/>
                </a:solidFill>
                <a:latin typeface="Arial"/>
                <a:ea typeface="Arial"/>
                <a:cs typeface="Arial"/>
              </a:defRPr>
            </a:lvl3pPr>
            <a:lvl4pPr algn="l">
              <a:defRPr sz="1425" b="0">
                <a:solidFill>
                  <a:srgbClr val="274A34"/>
                </a:solidFill>
                <a:latin typeface="Arial"/>
                <a:ea typeface="Arial"/>
                <a:cs typeface="Arial"/>
              </a:defRPr>
            </a:lvl4pPr>
            <a:lvl5pPr algn="l">
              <a:defRPr sz="1425" b="0">
                <a:solidFill>
                  <a:srgbClr val="274A34"/>
                </a:solidFill>
                <a:latin typeface="Arial"/>
                <a:ea typeface="Arial"/>
                <a:cs typeface="Arial"/>
              </a:defRPr>
            </a:lvl5pPr>
            <a:lvl6pPr algn="l">
              <a:defRPr sz="1425" b="0">
                <a:solidFill>
                  <a:srgbClr val="274A34"/>
                </a:solidFill>
                <a:latin typeface="Arial"/>
                <a:ea typeface="Arial"/>
                <a:cs typeface="Arial"/>
              </a:defRPr>
            </a:lvl6pPr>
            <a:lvl7pPr algn="l">
              <a:defRPr sz="1425" b="0">
                <a:solidFill>
                  <a:srgbClr val="274A34"/>
                </a:solidFill>
                <a:latin typeface="Arial"/>
                <a:ea typeface="Arial"/>
                <a:cs typeface="Arial"/>
              </a:defRPr>
            </a:lvl7pPr>
            <a:lvl8pPr algn="l">
              <a:defRPr sz="1425" b="0">
                <a:solidFill>
                  <a:srgbClr val="274A34"/>
                </a:solidFill>
                <a:latin typeface="Arial"/>
                <a:ea typeface="Arial"/>
                <a:cs typeface="Arial"/>
              </a:defRPr>
            </a:lvl8pPr>
            <a:lvl9pPr algn="l">
              <a:defRPr sz="1425" b="0">
                <a:solidFill>
                  <a:srgbClr val="274A34"/>
                </a:solidFill>
                <a:latin typeface="Arial"/>
                <a:ea typeface="Arial"/>
                <a:cs typeface="Arial"/>
              </a:defRPr>
            </a:lvl9pPr>
          </a:lstStyle>
          <a:p xmlns:a="http://schemas.openxmlformats.org/drawingml/2006/main">
            <a:pPr algn="l">
              <a:defRPr sz="1425" b="0">
                <a:solidFill>
                  <a:srgbClr val="274A34"/>
                </a:solidFill>
                <a:latin typeface="Arial"/>
                <a:ea typeface="Arial"/>
                <a:cs typeface="Arial"/>
              </a:defRPr>
            </a:pPr>
            <a:r>
              <a:rPr sz="1425" b="0">
                <a:solidFill>
                  <a:srgbClr val="274A34"/>
                </a:solidFill>
                <a:latin typeface="Arial"/>
                <a:ea typeface="Arial"/>
                <a:cs typeface="Arial"/>
              </a:rPr>
              <a:t>When evidence is too thin or stale, the system asks for better information instead of guessing.</a:t>
            </a:r>
          </a:p>
        </p:txBody>
      </p:sp>
    </p:spTree>
    <p:extLst>
      <p:ext uri="{BB962C8B-B14F-4D97-AF65-F5344CB8AC3E}">
        <p14:creationId xmlns:p14="http://schemas.microsoft.com/office/powerpoint/2010/main" val="2134324625"/>
      </p:ext>
    </p:extLst>
  </p:cSld>
</p:sld>
</file>

<file path=ppt/slides/slide3.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38" name="slide-3-index">
            <a:extLst xmlns:a="http://schemas.openxmlformats.org/drawingml/2006/main">
              <a:ext uri="{FF2B5EF4-FFF2-40B4-BE49-F238E27FC236}">
                <a16:creationId xmlns:a16="http://schemas.microsoft.com/office/drawing/2014/main" id="{0D03C210-7F2E-4DC0-A5CD-509C7ED65484}"/>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03</a:t>
            </a:r>
          </a:p>
        </p:txBody>
      </p:sp>
      <p:sp>
        <p:nvSpPr>
          <p:cNvPr id="2" name="slide-3-title">
            <a:extLst xmlns:a="http://schemas.openxmlformats.org/drawingml/2006/main">
              <a:ext uri="{FF2B5EF4-FFF2-40B4-BE49-F238E27FC236}">
                <a16:creationId xmlns:a16="http://schemas.microsoft.com/office/drawing/2014/main" id="{B72F8D12-FC00-4C64-A128-2D5A3B6E3CBF}"/>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One case moves through a bounded review</a:t>
            </a:r>
          </a:p>
        </p:txBody>
      </p:sp>
      <p:sp>
        <p:nvSpPr>
          <p:cNvPr id="3" name="slide-3-subtitle">
            <a:extLst xmlns:a="http://schemas.openxmlformats.org/drawingml/2006/main">
              <a:ext uri="{FF2B5EF4-FFF2-40B4-BE49-F238E27FC236}">
                <a16:creationId xmlns:a16="http://schemas.microsoft.com/office/drawing/2014/main" id="{9C136127-1D3D-4141-9F0E-B3CB956BE538}"/>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Each claim keeps its evidence, owner and review status.</a:t>
            </a:r>
          </a:p>
        </p:txBody>
      </p:sp>
      <p:sp>
        <p:nvSpPr>
          <p:cNvPr id="4" name="slide-3-header-rule">
            <a:extLst xmlns:a="http://schemas.openxmlformats.org/drawingml/2006/main">
              <a:ext uri="{FF2B5EF4-FFF2-40B4-BE49-F238E27FC236}">
                <a16:creationId xmlns:a16="http://schemas.microsoft.com/office/drawing/2014/main" id="{A2A34F08-8BB7-4D8A-8FB2-0C47A07BC70B}"/>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workflow-stage-1">
            <a:extLst xmlns:a="http://schemas.openxmlformats.org/drawingml/2006/main">
              <a:ext uri="{FF2B5EF4-FFF2-40B4-BE49-F238E27FC236}">
                <a16:creationId xmlns:a16="http://schemas.microsoft.com/office/drawing/2014/main" id="{1EB34888-95D3-48EB-9E5F-25DD25DCF5EF}"/>
              </a:ext>
            </a:extLst>
          </p:cNvPr>
          <p:cNvSpPr>
            <a:spLocks xmlns:a="http://schemas.openxmlformats.org/drawingml/2006/main" noGrp="1"/>
          </p:cNvSpPr>
          <p:nvPr/>
        </p:nvSpPr>
        <p:spPr>
          <a:xfrm xmlns:a="http://schemas.openxmlformats.org/drawingml/2006/main">
            <a:off x="742950" y="2647950"/>
            <a:ext cx="1657350" cy="1743075"/>
          </a:xfrm>
          <a:prstGeom xmlns:a="http://schemas.openxmlformats.org/drawingml/2006/main" prst="rect">
            <a:avLst/>
          </a:prstGeom>
          <a:solidFill xmlns:a="http://schemas.openxmlformats.org/drawingml/2006/main">
            <a:srgbClr val="F4F2E9"/>
          </a:solidFill>
          <a:ln xmlns:a="http://schemas.openxmlformats.org/drawingml/2006/main" w="0">
            <a:noFill/>
            <a:prstDash val="solid"/>
          </a:ln>
        </p:spPr>
      </p:sp>
      <p:sp>
        <p:nvSpPr>
          <p:cNvPr id="6" name="workflow-stage-1-accent">
            <a:extLst xmlns:a="http://schemas.openxmlformats.org/drawingml/2006/main">
              <a:ext uri="{FF2B5EF4-FFF2-40B4-BE49-F238E27FC236}">
                <a16:creationId xmlns:a16="http://schemas.microsoft.com/office/drawing/2014/main" id="{56D2647D-1DB5-415E-824D-3BD418916FA5}"/>
              </a:ext>
            </a:extLst>
          </p:cNvPr>
          <p:cNvSpPr>
            <a:spLocks xmlns:a="http://schemas.openxmlformats.org/drawingml/2006/main" noGrp="1"/>
          </p:cNvSpPr>
          <p:nvPr/>
        </p:nvSpPr>
        <p:spPr>
          <a:xfrm xmlns:a="http://schemas.openxmlformats.org/drawingml/2006/main">
            <a:off x="7429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7" name="workflow-stage-1-number">
            <a:extLst xmlns:a="http://schemas.openxmlformats.org/drawingml/2006/main">
              <a:ext uri="{FF2B5EF4-FFF2-40B4-BE49-F238E27FC236}">
                <a16:creationId xmlns:a16="http://schemas.microsoft.com/office/drawing/2014/main" id="{002A672A-EBEA-4158-8D8F-9D91064CDBFE}"/>
              </a:ext>
            </a:extLst>
          </p:cNvPr>
          <p:cNvSpPr>
            <a:spLocks xmlns:a="http://schemas.openxmlformats.org/drawingml/2006/main" noGrp="1"/>
          </p:cNvSpPr>
          <p:nvPr/>
        </p:nvSpPr>
        <p:spPr>
          <a:xfrm xmlns:a="http://schemas.openxmlformats.org/drawingml/2006/main">
            <a:off x="8953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01</a:t>
            </a:r>
          </a:p>
        </p:txBody>
      </p:sp>
      <p:sp>
        <p:nvSpPr>
          <p:cNvPr id="8" name="workflow-stage-1-title">
            <a:extLst xmlns:a="http://schemas.openxmlformats.org/drawingml/2006/main">
              <a:ext uri="{FF2B5EF4-FFF2-40B4-BE49-F238E27FC236}">
                <a16:creationId xmlns:a16="http://schemas.microsoft.com/office/drawing/2014/main" id="{7BAFD360-55BC-46F3-AF2B-C13385382F7F}"/>
              </a:ext>
            </a:extLst>
          </p:cNvPr>
          <p:cNvSpPr>
            <a:spLocks xmlns:a="http://schemas.openxmlformats.org/drawingml/2006/main" noGrp="1"/>
          </p:cNvSpPr>
          <p:nvPr/>
        </p:nvSpPr>
        <p:spPr>
          <a:xfrm xmlns:a="http://schemas.openxmlformats.org/drawingml/2006/main">
            <a:off x="8953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Farmer</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request</a:t>
            </a:r>
          </a:p>
        </p:txBody>
      </p:sp>
      <p:sp>
        <p:nvSpPr>
          <p:cNvPr id="9" name="workflow-stage-1-body">
            <a:extLst xmlns:a="http://schemas.openxmlformats.org/drawingml/2006/main">
              <a:ext uri="{FF2B5EF4-FFF2-40B4-BE49-F238E27FC236}">
                <a16:creationId xmlns:a16="http://schemas.microsoft.com/office/drawing/2014/main" id="{90767A64-A954-49EC-A5E1-26995B4BD4BF}"/>
              </a:ext>
            </a:extLst>
          </p:cNvPr>
          <p:cNvSpPr>
            <a:spLocks xmlns:a="http://schemas.openxmlformats.org/drawingml/2006/main" noGrp="1"/>
          </p:cNvSpPr>
          <p:nvPr/>
        </p:nvSpPr>
        <p:spPr>
          <a:xfrm xmlns:a="http://schemas.openxmlformats.org/drawingml/2006/main">
            <a:off x="8953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County · bags</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storage · offer</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cash need</a:t>
            </a:r>
          </a:p>
        </p:txBody>
      </p:sp>
      <p:sp>
        <p:nvSpPr>
          <p:cNvPr id="10" name="workflow-arrow-1">
            <a:extLst xmlns:a="http://schemas.openxmlformats.org/drawingml/2006/main">
              <a:ext uri="{FF2B5EF4-FFF2-40B4-BE49-F238E27FC236}">
                <a16:creationId xmlns:a16="http://schemas.microsoft.com/office/drawing/2014/main" id="{39DE975F-CE36-4FCD-A56A-3F4DAD4F89DC}"/>
              </a:ext>
            </a:extLst>
          </p:cNvPr>
          <p:cNvSpPr>
            <a:spLocks xmlns:a="http://schemas.openxmlformats.org/drawingml/2006/main" noGrp="1"/>
          </p:cNvSpPr>
          <p:nvPr/>
        </p:nvSpPr>
        <p:spPr>
          <a:xfrm xmlns:a="http://schemas.openxmlformats.org/drawingml/2006/main">
            <a:off x="24669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11" name="workflow-stage-2">
            <a:extLst xmlns:a="http://schemas.openxmlformats.org/drawingml/2006/main">
              <a:ext uri="{FF2B5EF4-FFF2-40B4-BE49-F238E27FC236}">
                <a16:creationId xmlns:a16="http://schemas.microsoft.com/office/drawing/2014/main" id="{34F8B1D5-7425-4B22-AC66-4C3FB3C8D0A8}"/>
              </a:ext>
            </a:extLst>
          </p:cNvPr>
          <p:cNvSpPr>
            <a:spLocks xmlns:a="http://schemas.openxmlformats.org/drawingml/2006/main" noGrp="1"/>
          </p:cNvSpPr>
          <p:nvPr/>
        </p:nvSpPr>
        <p:spPr>
          <a:xfrm xmlns:a="http://schemas.openxmlformats.org/drawingml/2006/main">
            <a:off x="2876550" y="2647950"/>
            <a:ext cx="1657350" cy="1743075"/>
          </a:xfrm>
          <a:prstGeom xmlns:a="http://schemas.openxmlformats.org/drawingml/2006/main" prst="rect">
            <a:avLst/>
          </a:prstGeom>
          <a:solidFill xmlns:a="http://schemas.openxmlformats.org/drawingml/2006/main">
            <a:srgbClr val="E6EEE4"/>
          </a:solidFill>
          <a:ln xmlns:a="http://schemas.openxmlformats.org/drawingml/2006/main" w="0">
            <a:noFill/>
            <a:prstDash val="solid"/>
          </a:ln>
        </p:spPr>
      </p:sp>
      <p:sp>
        <p:nvSpPr>
          <p:cNvPr id="12" name="workflow-stage-2-accent">
            <a:extLst xmlns:a="http://schemas.openxmlformats.org/drawingml/2006/main">
              <a:ext uri="{FF2B5EF4-FFF2-40B4-BE49-F238E27FC236}">
                <a16:creationId xmlns:a16="http://schemas.microsoft.com/office/drawing/2014/main" id="{5F9E2D24-425B-4CBF-9299-334BE28DDE90}"/>
              </a:ext>
            </a:extLst>
          </p:cNvPr>
          <p:cNvSpPr>
            <a:spLocks xmlns:a="http://schemas.openxmlformats.org/drawingml/2006/main" noGrp="1"/>
          </p:cNvSpPr>
          <p:nvPr/>
        </p:nvSpPr>
        <p:spPr>
          <a:xfrm xmlns:a="http://schemas.openxmlformats.org/drawingml/2006/main">
            <a:off x="2876550" y="2647950"/>
            <a:ext cx="1657350" cy="47625"/>
          </a:xfrm>
          <a:prstGeom xmlns:a="http://schemas.openxmlformats.org/drawingml/2006/main" prst="rect">
            <a:avLst/>
          </a:prstGeom>
          <a:solidFill xmlns:a="http://schemas.openxmlformats.org/drawingml/2006/main">
            <a:srgbClr val="44724E"/>
          </a:solidFill>
          <a:ln xmlns:a="http://schemas.openxmlformats.org/drawingml/2006/main" w="0">
            <a:noFill/>
            <a:prstDash val="solid"/>
          </a:ln>
        </p:spPr>
      </p:sp>
      <p:sp>
        <p:nvSpPr>
          <p:cNvPr id="13" name="workflow-stage-2-number">
            <a:extLst xmlns:a="http://schemas.openxmlformats.org/drawingml/2006/main">
              <a:ext uri="{FF2B5EF4-FFF2-40B4-BE49-F238E27FC236}">
                <a16:creationId xmlns:a16="http://schemas.microsoft.com/office/drawing/2014/main" id="{76C02507-C36C-4366-B4BC-F8FC0506A0AE}"/>
              </a:ext>
            </a:extLst>
          </p:cNvPr>
          <p:cNvSpPr>
            <a:spLocks xmlns:a="http://schemas.openxmlformats.org/drawingml/2006/main" noGrp="1"/>
          </p:cNvSpPr>
          <p:nvPr/>
        </p:nvSpPr>
        <p:spPr>
          <a:xfrm xmlns:a="http://schemas.openxmlformats.org/drawingml/2006/main">
            <a:off x="30289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44724E"/>
                </a:solidFill>
                <a:latin typeface="Arial"/>
                <a:ea typeface="Arial"/>
                <a:cs typeface="Arial"/>
              </a:defRPr>
            </a:defPPr>
            <a:lvl1pPr algn="l">
              <a:defRPr sz="975" b="1">
                <a:solidFill>
                  <a:srgbClr val="44724E"/>
                </a:solidFill>
                <a:latin typeface="Arial"/>
                <a:ea typeface="Arial"/>
                <a:cs typeface="Arial"/>
              </a:defRPr>
            </a:lvl1pPr>
            <a:lvl2pPr algn="l">
              <a:defRPr sz="975" b="1">
                <a:solidFill>
                  <a:srgbClr val="44724E"/>
                </a:solidFill>
                <a:latin typeface="Arial"/>
                <a:ea typeface="Arial"/>
                <a:cs typeface="Arial"/>
              </a:defRPr>
            </a:lvl2pPr>
            <a:lvl3pPr algn="l">
              <a:defRPr sz="975" b="1">
                <a:solidFill>
                  <a:srgbClr val="44724E"/>
                </a:solidFill>
                <a:latin typeface="Arial"/>
                <a:ea typeface="Arial"/>
                <a:cs typeface="Arial"/>
              </a:defRPr>
            </a:lvl3pPr>
            <a:lvl4pPr algn="l">
              <a:defRPr sz="975" b="1">
                <a:solidFill>
                  <a:srgbClr val="44724E"/>
                </a:solidFill>
                <a:latin typeface="Arial"/>
                <a:ea typeface="Arial"/>
                <a:cs typeface="Arial"/>
              </a:defRPr>
            </a:lvl4pPr>
            <a:lvl5pPr algn="l">
              <a:defRPr sz="975" b="1">
                <a:solidFill>
                  <a:srgbClr val="44724E"/>
                </a:solidFill>
                <a:latin typeface="Arial"/>
                <a:ea typeface="Arial"/>
                <a:cs typeface="Arial"/>
              </a:defRPr>
            </a:lvl5pPr>
            <a:lvl6pPr algn="l">
              <a:defRPr sz="975" b="1">
                <a:solidFill>
                  <a:srgbClr val="44724E"/>
                </a:solidFill>
                <a:latin typeface="Arial"/>
                <a:ea typeface="Arial"/>
                <a:cs typeface="Arial"/>
              </a:defRPr>
            </a:lvl6pPr>
            <a:lvl7pPr algn="l">
              <a:defRPr sz="975" b="1">
                <a:solidFill>
                  <a:srgbClr val="44724E"/>
                </a:solidFill>
                <a:latin typeface="Arial"/>
                <a:ea typeface="Arial"/>
                <a:cs typeface="Arial"/>
              </a:defRPr>
            </a:lvl7pPr>
            <a:lvl8pPr algn="l">
              <a:defRPr sz="975" b="1">
                <a:solidFill>
                  <a:srgbClr val="44724E"/>
                </a:solidFill>
                <a:latin typeface="Arial"/>
                <a:ea typeface="Arial"/>
                <a:cs typeface="Arial"/>
              </a:defRPr>
            </a:lvl8pPr>
            <a:lvl9pPr algn="l">
              <a:defRPr sz="975" b="1">
                <a:solidFill>
                  <a:srgbClr val="44724E"/>
                </a:solidFill>
                <a:latin typeface="Arial"/>
                <a:ea typeface="Arial"/>
                <a:cs typeface="Arial"/>
              </a:defRPr>
            </a:lvl9pPr>
          </a:lstStyle>
          <a:p xmlns:a="http://schemas.openxmlformats.org/drawingml/2006/main">
            <a:pPr algn="l">
              <a:defRPr sz="975" b="1">
                <a:solidFill>
                  <a:srgbClr val="44724E"/>
                </a:solidFill>
                <a:latin typeface="Arial"/>
                <a:ea typeface="Arial"/>
                <a:cs typeface="Arial"/>
              </a:defRPr>
            </a:pPr>
            <a:r>
              <a:rPr sz="975" b="1">
                <a:solidFill>
                  <a:srgbClr val="44724E"/>
                </a:solidFill>
                <a:latin typeface="Arial"/>
                <a:ea typeface="Arial"/>
                <a:cs typeface="Arial"/>
              </a:rPr>
              <a:t>02</a:t>
            </a:r>
          </a:p>
        </p:txBody>
      </p:sp>
      <p:sp>
        <p:nvSpPr>
          <p:cNvPr id="14" name="workflow-stage-2-title">
            <a:extLst xmlns:a="http://schemas.openxmlformats.org/drawingml/2006/main">
              <a:ext uri="{FF2B5EF4-FFF2-40B4-BE49-F238E27FC236}">
                <a16:creationId xmlns:a16="http://schemas.microsoft.com/office/drawing/2014/main" id="{A8C5AEB4-BFE7-4949-94CC-3375502A8F4F}"/>
              </a:ext>
            </a:extLst>
          </p:cNvPr>
          <p:cNvSpPr>
            <a:spLocks xmlns:a="http://schemas.openxmlformats.org/drawingml/2006/main" noGrp="1"/>
          </p:cNvSpPr>
          <p:nvPr/>
        </p:nvSpPr>
        <p:spPr>
          <a:xfrm xmlns:a="http://schemas.openxmlformats.org/drawingml/2006/main">
            <a:off x="30289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Data &amp;</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memory</a:t>
            </a:r>
          </a:p>
        </p:txBody>
      </p:sp>
      <p:sp>
        <p:nvSpPr>
          <p:cNvPr id="15" name="workflow-stage-2-body">
            <a:extLst xmlns:a="http://schemas.openxmlformats.org/drawingml/2006/main">
              <a:ext uri="{FF2B5EF4-FFF2-40B4-BE49-F238E27FC236}">
                <a16:creationId xmlns:a16="http://schemas.microsoft.com/office/drawing/2014/main" id="{0BF24AE6-9D4B-45CF-9989-3F97A9104D8F}"/>
              </a:ext>
            </a:extLst>
          </p:cNvPr>
          <p:cNvSpPr>
            <a:spLocks xmlns:a="http://schemas.openxmlformats.org/drawingml/2006/main" noGrp="1"/>
          </p:cNvSpPr>
          <p:nvPr/>
        </p:nvSpPr>
        <p:spPr>
          <a:xfrm xmlns:a="http://schemas.openxmlformats.org/drawingml/2006/main">
            <a:off x="30289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Zetaris market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weather · rules</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H-MEM history</a:t>
            </a:r>
          </a:p>
        </p:txBody>
      </p:sp>
      <p:sp>
        <p:nvSpPr>
          <p:cNvPr id="16" name="workflow-arrow-2">
            <a:extLst xmlns:a="http://schemas.openxmlformats.org/drawingml/2006/main">
              <a:ext uri="{FF2B5EF4-FFF2-40B4-BE49-F238E27FC236}">
                <a16:creationId xmlns:a16="http://schemas.microsoft.com/office/drawing/2014/main" id="{67677EA0-C9A9-4612-B391-17DE054A93C5}"/>
              </a:ext>
            </a:extLst>
          </p:cNvPr>
          <p:cNvSpPr>
            <a:spLocks xmlns:a="http://schemas.openxmlformats.org/drawingml/2006/main" noGrp="1"/>
          </p:cNvSpPr>
          <p:nvPr/>
        </p:nvSpPr>
        <p:spPr>
          <a:xfrm xmlns:a="http://schemas.openxmlformats.org/drawingml/2006/main">
            <a:off x="46005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17" name="workflow-stage-3">
            <a:extLst xmlns:a="http://schemas.openxmlformats.org/drawingml/2006/main">
              <a:ext uri="{FF2B5EF4-FFF2-40B4-BE49-F238E27FC236}">
                <a16:creationId xmlns:a16="http://schemas.microsoft.com/office/drawing/2014/main" id="{22FF5B1A-959B-4CDA-806A-72AEF4036016}"/>
              </a:ext>
            </a:extLst>
          </p:cNvPr>
          <p:cNvSpPr>
            <a:spLocks xmlns:a="http://schemas.openxmlformats.org/drawingml/2006/main" noGrp="1"/>
          </p:cNvSpPr>
          <p:nvPr/>
        </p:nvSpPr>
        <p:spPr>
          <a:xfrm xmlns:a="http://schemas.openxmlformats.org/drawingml/2006/main">
            <a:off x="5010150" y="2647950"/>
            <a:ext cx="1657350" cy="1743075"/>
          </a:xfrm>
          <a:prstGeom xmlns:a="http://schemas.openxmlformats.org/drawingml/2006/main" prst="rect">
            <a:avLst/>
          </a:prstGeom>
          <a:solidFill xmlns:a="http://schemas.openxmlformats.org/drawingml/2006/main">
            <a:srgbClr val="E6EEE4"/>
          </a:solidFill>
          <a:ln xmlns:a="http://schemas.openxmlformats.org/drawingml/2006/main" w="0">
            <a:noFill/>
            <a:prstDash val="solid"/>
          </a:ln>
        </p:spPr>
      </p:sp>
      <p:sp>
        <p:nvSpPr>
          <p:cNvPr id="18" name="workflow-stage-3-accent">
            <a:extLst xmlns:a="http://schemas.openxmlformats.org/drawingml/2006/main">
              <a:ext uri="{FF2B5EF4-FFF2-40B4-BE49-F238E27FC236}">
                <a16:creationId xmlns:a16="http://schemas.microsoft.com/office/drawing/2014/main" id="{12CC7729-14EE-4274-AFEF-6EB7167AFF7C}"/>
              </a:ext>
            </a:extLst>
          </p:cNvPr>
          <p:cNvSpPr>
            <a:spLocks xmlns:a="http://schemas.openxmlformats.org/drawingml/2006/main" noGrp="1"/>
          </p:cNvSpPr>
          <p:nvPr/>
        </p:nvSpPr>
        <p:spPr>
          <a:xfrm xmlns:a="http://schemas.openxmlformats.org/drawingml/2006/main">
            <a:off x="5010150" y="2647950"/>
            <a:ext cx="1657350" cy="47625"/>
          </a:xfrm>
          <a:prstGeom xmlns:a="http://schemas.openxmlformats.org/drawingml/2006/main" prst="rect">
            <a:avLst/>
          </a:prstGeom>
          <a:solidFill xmlns:a="http://schemas.openxmlformats.org/drawingml/2006/main">
            <a:srgbClr val="44724E"/>
          </a:solidFill>
          <a:ln xmlns:a="http://schemas.openxmlformats.org/drawingml/2006/main" w="0">
            <a:noFill/>
            <a:prstDash val="solid"/>
          </a:ln>
        </p:spPr>
      </p:sp>
      <p:sp>
        <p:nvSpPr>
          <p:cNvPr id="19" name="workflow-stage-3-number">
            <a:extLst xmlns:a="http://schemas.openxmlformats.org/drawingml/2006/main">
              <a:ext uri="{FF2B5EF4-FFF2-40B4-BE49-F238E27FC236}">
                <a16:creationId xmlns:a16="http://schemas.microsoft.com/office/drawing/2014/main" id="{4E08885D-3820-46B1-89CB-77C1877D3F67}"/>
              </a:ext>
            </a:extLst>
          </p:cNvPr>
          <p:cNvSpPr>
            <a:spLocks xmlns:a="http://schemas.openxmlformats.org/drawingml/2006/main" noGrp="1"/>
          </p:cNvSpPr>
          <p:nvPr/>
        </p:nvSpPr>
        <p:spPr>
          <a:xfrm xmlns:a="http://schemas.openxmlformats.org/drawingml/2006/main">
            <a:off x="51625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44724E"/>
                </a:solidFill>
                <a:latin typeface="Arial"/>
                <a:ea typeface="Arial"/>
                <a:cs typeface="Arial"/>
              </a:defRPr>
            </a:defPPr>
            <a:lvl1pPr algn="l">
              <a:defRPr sz="975" b="1">
                <a:solidFill>
                  <a:srgbClr val="44724E"/>
                </a:solidFill>
                <a:latin typeface="Arial"/>
                <a:ea typeface="Arial"/>
                <a:cs typeface="Arial"/>
              </a:defRPr>
            </a:lvl1pPr>
            <a:lvl2pPr algn="l">
              <a:defRPr sz="975" b="1">
                <a:solidFill>
                  <a:srgbClr val="44724E"/>
                </a:solidFill>
                <a:latin typeface="Arial"/>
                <a:ea typeface="Arial"/>
                <a:cs typeface="Arial"/>
              </a:defRPr>
            </a:lvl2pPr>
            <a:lvl3pPr algn="l">
              <a:defRPr sz="975" b="1">
                <a:solidFill>
                  <a:srgbClr val="44724E"/>
                </a:solidFill>
                <a:latin typeface="Arial"/>
                <a:ea typeface="Arial"/>
                <a:cs typeface="Arial"/>
              </a:defRPr>
            </a:lvl3pPr>
            <a:lvl4pPr algn="l">
              <a:defRPr sz="975" b="1">
                <a:solidFill>
                  <a:srgbClr val="44724E"/>
                </a:solidFill>
                <a:latin typeface="Arial"/>
                <a:ea typeface="Arial"/>
                <a:cs typeface="Arial"/>
              </a:defRPr>
            </a:lvl4pPr>
            <a:lvl5pPr algn="l">
              <a:defRPr sz="975" b="1">
                <a:solidFill>
                  <a:srgbClr val="44724E"/>
                </a:solidFill>
                <a:latin typeface="Arial"/>
                <a:ea typeface="Arial"/>
                <a:cs typeface="Arial"/>
              </a:defRPr>
            </a:lvl5pPr>
            <a:lvl6pPr algn="l">
              <a:defRPr sz="975" b="1">
                <a:solidFill>
                  <a:srgbClr val="44724E"/>
                </a:solidFill>
                <a:latin typeface="Arial"/>
                <a:ea typeface="Arial"/>
                <a:cs typeface="Arial"/>
              </a:defRPr>
            </a:lvl6pPr>
            <a:lvl7pPr algn="l">
              <a:defRPr sz="975" b="1">
                <a:solidFill>
                  <a:srgbClr val="44724E"/>
                </a:solidFill>
                <a:latin typeface="Arial"/>
                <a:ea typeface="Arial"/>
                <a:cs typeface="Arial"/>
              </a:defRPr>
            </a:lvl7pPr>
            <a:lvl8pPr algn="l">
              <a:defRPr sz="975" b="1">
                <a:solidFill>
                  <a:srgbClr val="44724E"/>
                </a:solidFill>
                <a:latin typeface="Arial"/>
                <a:ea typeface="Arial"/>
                <a:cs typeface="Arial"/>
              </a:defRPr>
            </a:lvl8pPr>
            <a:lvl9pPr algn="l">
              <a:defRPr sz="975" b="1">
                <a:solidFill>
                  <a:srgbClr val="44724E"/>
                </a:solidFill>
                <a:latin typeface="Arial"/>
                <a:ea typeface="Arial"/>
                <a:cs typeface="Arial"/>
              </a:defRPr>
            </a:lvl9pPr>
          </a:lstStyle>
          <a:p xmlns:a="http://schemas.openxmlformats.org/drawingml/2006/main">
            <a:pPr algn="l">
              <a:defRPr sz="975" b="1">
                <a:solidFill>
                  <a:srgbClr val="44724E"/>
                </a:solidFill>
                <a:latin typeface="Arial"/>
                <a:ea typeface="Arial"/>
                <a:cs typeface="Arial"/>
              </a:defRPr>
            </a:pPr>
            <a:r>
              <a:rPr sz="975" b="1">
                <a:solidFill>
                  <a:srgbClr val="44724E"/>
                </a:solidFill>
                <a:latin typeface="Arial"/>
                <a:ea typeface="Arial"/>
                <a:cs typeface="Arial"/>
              </a:rPr>
              <a:t>03</a:t>
            </a:r>
          </a:p>
        </p:txBody>
      </p:sp>
      <p:sp>
        <p:nvSpPr>
          <p:cNvPr id="20" name="workflow-stage-3-title">
            <a:extLst xmlns:a="http://schemas.openxmlformats.org/drawingml/2006/main">
              <a:ext uri="{FF2B5EF4-FFF2-40B4-BE49-F238E27FC236}">
                <a16:creationId xmlns:a16="http://schemas.microsoft.com/office/drawing/2014/main" id="{FB72ECB0-D9A0-470D-ABCE-E67BCE1AF0D4}"/>
              </a:ext>
            </a:extLst>
          </p:cNvPr>
          <p:cNvSpPr>
            <a:spLocks xmlns:a="http://schemas.openxmlformats.org/drawingml/2006/main" noGrp="1"/>
          </p:cNvSpPr>
          <p:nvPr/>
        </p:nvSpPr>
        <p:spPr>
          <a:xfrm xmlns:a="http://schemas.openxmlformats.org/drawingml/2006/main">
            <a:off x="51625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Analyst</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agents</a:t>
            </a:r>
          </a:p>
        </p:txBody>
      </p:sp>
      <p:sp>
        <p:nvSpPr>
          <p:cNvPr id="21" name="workflow-stage-3-body">
            <a:extLst xmlns:a="http://schemas.openxmlformats.org/drawingml/2006/main">
              <a:ext uri="{FF2B5EF4-FFF2-40B4-BE49-F238E27FC236}">
                <a16:creationId xmlns:a16="http://schemas.microsoft.com/office/drawing/2014/main" id="{AC4D954B-EF14-4329-B324-736C87D0E5A4}"/>
              </a:ext>
            </a:extLst>
          </p:cNvPr>
          <p:cNvSpPr>
            <a:spLocks xmlns:a="http://schemas.openxmlformats.org/drawingml/2006/main" noGrp="1"/>
          </p:cNvSpPr>
          <p:nvPr/>
        </p:nvSpPr>
        <p:spPr>
          <a:xfrm xmlns:a="http://schemas.openxmlformats.org/drawingml/2006/main">
            <a:off x="51625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MarketAnalyst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StorageWeather</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Analyst</a:t>
            </a:r>
          </a:p>
        </p:txBody>
      </p:sp>
      <p:sp>
        <p:nvSpPr>
          <p:cNvPr id="22" name="workflow-arrow-3">
            <a:extLst xmlns:a="http://schemas.openxmlformats.org/drawingml/2006/main">
              <a:ext uri="{FF2B5EF4-FFF2-40B4-BE49-F238E27FC236}">
                <a16:creationId xmlns:a16="http://schemas.microsoft.com/office/drawing/2014/main" id="{62FA8128-61AE-42DF-A216-706156ABB287}"/>
              </a:ext>
            </a:extLst>
          </p:cNvPr>
          <p:cNvSpPr>
            <a:spLocks xmlns:a="http://schemas.openxmlformats.org/drawingml/2006/main" noGrp="1"/>
          </p:cNvSpPr>
          <p:nvPr/>
        </p:nvSpPr>
        <p:spPr>
          <a:xfrm xmlns:a="http://schemas.openxmlformats.org/drawingml/2006/main">
            <a:off x="67341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23" name="workflow-stage-4">
            <a:extLst xmlns:a="http://schemas.openxmlformats.org/drawingml/2006/main">
              <a:ext uri="{FF2B5EF4-FFF2-40B4-BE49-F238E27FC236}">
                <a16:creationId xmlns:a16="http://schemas.microsoft.com/office/drawing/2014/main" id="{D22AD104-7DC9-426E-9F92-984279822804}"/>
              </a:ext>
            </a:extLst>
          </p:cNvPr>
          <p:cNvSpPr>
            <a:spLocks xmlns:a="http://schemas.openxmlformats.org/drawingml/2006/main" noGrp="1"/>
          </p:cNvSpPr>
          <p:nvPr/>
        </p:nvSpPr>
        <p:spPr>
          <a:xfrm xmlns:a="http://schemas.openxmlformats.org/drawingml/2006/main">
            <a:off x="7143750" y="2647950"/>
            <a:ext cx="1657350" cy="1743075"/>
          </a:xfrm>
          <a:prstGeom xmlns:a="http://schemas.openxmlformats.org/drawingml/2006/main" prst="rect">
            <a:avLst/>
          </a:prstGeom>
          <a:solidFill xmlns:a="http://schemas.openxmlformats.org/drawingml/2006/main">
            <a:srgbClr val="F5EBD9"/>
          </a:solidFill>
          <a:ln xmlns:a="http://schemas.openxmlformats.org/drawingml/2006/main" w="0">
            <a:noFill/>
            <a:prstDash val="solid"/>
          </a:ln>
        </p:spPr>
      </p:sp>
      <p:sp>
        <p:nvSpPr>
          <p:cNvPr id="24" name="workflow-stage-4-accent">
            <a:extLst xmlns:a="http://schemas.openxmlformats.org/drawingml/2006/main">
              <a:ext uri="{FF2B5EF4-FFF2-40B4-BE49-F238E27FC236}">
                <a16:creationId xmlns:a16="http://schemas.microsoft.com/office/drawing/2014/main" id="{28EFE02D-1A31-42BD-9F00-30D010892052}"/>
              </a:ext>
            </a:extLst>
          </p:cNvPr>
          <p:cNvSpPr>
            <a:spLocks xmlns:a="http://schemas.openxmlformats.org/drawingml/2006/main" noGrp="1"/>
          </p:cNvSpPr>
          <p:nvPr/>
        </p:nvSpPr>
        <p:spPr>
          <a:xfrm xmlns:a="http://schemas.openxmlformats.org/drawingml/2006/main">
            <a:off x="71437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5" name="workflow-stage-4-number">
            <a:extLst xmlns:a="http://schemas.openxmlformats.org/drawingml/2006/main">
              <a:ext uri="{FF2B5EF4-FFF2-40B4-BE49-F238E27FC236}">
                <a16:creationId xmlns:a16="http://schemas.microsoft.com/office/drawing/2014/main" id="{33D793AC-25C2-4C1C-9D07-93E2FA4EF0B9}"/>
              </a:ext>
            </a:extLst>
          </p:cNvPr>
          <p:cNvSpPr>
            <a:spLocks xmlns:a="http://schemas.openxmlformats.org/drawingml/2006/main" noGrp="1"/>
          </p:cNvSpPr>
          <p:nvPr/>
        </p:nvSpPr>
        <p:spPr>
          <a:xfrm xmlns:a="http://schemas.openxmlformats.org/drawingml/2006/main">
            <a:off x="72961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04</a:t>
            </a:r>
          </a:p>
        </p:txBody>
      </p:sp>
      <p:sp>
        <p:nvSpPr>
          <p:cNvPr id="26" name="workflow-stage-4-title">
            <a:extLst xmlns:a="http://schemas.openxmlformats.org/drawingml/2006/main">
              <a:ext uri="{FF2B5EF4-FFF2-40B4-BE49-F238E27FC236}">
                <a16:creationId xmlns:a16="http://schemas.microsoft.com/office/drawing/2014/main" id="{0A2CEE6B-C100-4432-A516-191C4502312B}"/>
              </a:ext>
            </a:extLst>
          </p:cNvPr>
          <p:cNvSpPr>
            <a:spLocks xmlns:a="http://schemas.openxmlformats.org/drawingml/2006/main" noGrp="1"/>
          </p:cNvSpPr>
          <p:nvPr/>
        </p:nvSpPr>
        <p:spPr>
          <a:xfrm xmlns:a="http://schemas.openxmlformats.org/drawingml/2006/main">
            <a:off x="72961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Risk</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Critic</a:t>
            </a:r>
          </a:p>
        </p:txBody>
      </p:sp>
      <p:sp>
        <p:nvSpPr>
          <p:cNvPr id="27" name="workflow-stage-4-body">
            <a:extLst xmlns:a="http://schemas.openxmlformats.org/drawingml/2006/main">
              <a:ext uri="{FF2B5EF4-FFF2-40B4-BE49-F238E27FC236}">
                <a16:creationId xmlns:a16="http://schemas.microsoft.com/office/drawing/2014/main" id="{CB64A0BD-5006-4E98-A464-558C5DC8AEFC}"/>
              </a:ext>
            </a:extLst>
          </p:cNvPr>
          <p:cNvSpPr>
            <a:spLocks xmlns:a="http://schemas.openxmlformats.org/drawingml/2006/main" noGrp="1"/>
          </p:cNvSpPr>
          <p:nvPr/>
        </p:nvSpPr>
        <p:spPr>
          <a:xfrm xmlns:a="http://schemas.openxmlformats.org/drawingml/2006/main">
            <a:off x="72961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Freshness · coverage</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contradiction</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farmer limits</a:t>
            </a:r>
          </a:p>
        </p:txBody>
      </p:sp>
      <p:sp>
        <p:nvSpPr>
          <p:cNvPr id="28" name="workflow-arrow-4">
            <a:extLst xmlns:a="http://schemas.openxmlformats.org/drawingml/2006/main">
              <a:ext uri="{FF2B5EF4-FFF2-40B4-BE49-F238E27FC236}">
                <a16:creationId xmlns:a16="http://schemas.microsoft.com/office/drawing/2014/main" id="{621933ED-7BB5-4B79-944D-4EC0DE41DE55}"/>
              </a:ext>
            </a:extLst>
          </p:cNvPr>
          <p:cNvSpPr>
            <a:spLocks xmlns:a="http://schemas.openxmlformats.org/drawingml/2006/main" noGrp="1"/>
          </p:cNvSpPr>
          <p:nvPr/>
        </p:nvSpPr>
        <p:spPr>
          <a:xfrm xmlns:a="http://schemas.openxmlformats.org/drawingml/2006/main">
            <a:off x="88677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29" name="workflow-stage-5">
            <a:extLst xmlns:a="http://schemas.openxmlformats.org/drawingml/2006/main">
              <a:ext uri="{FF2B5EF4-FFF2-40B4-BE49-F238E27FC236}">
                <a16:creationId xmlns:a16="http://schemas.microsoft.com/office/drawing/2014/main" id="{3B1FD1FA-91BC-4F79-9DF9-1F586E2B82F8}"/>
              </a:ext>
            </a:extLst>
          </p:cNvPr>
          <p:cNvSpPr>
            <a:spLocks xmlns:a="http://schemas.openxmlformats.org/drawingml/2006/main" noGrp="1"/>
          </p:cNvSpPr>
          <p:nvPr/>
        </p:nvSpPr>
        <p:spPr>
          <a:xfrm xmlns:a="http://schemas.openxmlformats.org/drawingml/2006/main">
            <a:off x="9277350" y="2647950"/>
            <a:ext cx="1657350" cy="1743075"/>
          </a:xfrm>
          <a:prstGeom xmlns:a="http://schemas.openxmlformats.org/drawingml/2006/main" prst="rect">
            <a:avLst/>
          </a:prstGeom>
          <a:solidFill xmlns:a="http://schemas.openxmlformats.org/drawingml/2006/main">
            <a:srgbClr val="F4F2E9"/>
          </a:solidFill>
          <a:ln xmlns:a="http://schemas.openxmlformats.org/drawingml/2006/main" w="0">
            <a:noFill/>
            <a:prstDash val="solid"/>
          </a:ln>
        </p:spPr>
      </p:sp>
      <p:sp>
        <p:nvSpPr>
          <p:cNvPr id="30" name="workflow-stage-5-accent">
            <a:extLst xmlns:a="http://schemas.openxmlformats.org/drawingml/2006/main">
              <a:ext uri="{FF2B5EF4-FFF2-40B4-BE49-F238E27FC236}">
                <a16:creationId xmlns:a16="http://schemas.microsoft.com/office/drawing/2014/main" id="{AE193D02-C0A1-434E-8ACE-42206371737C}"/>
              </a:ext>
            </a:extLst>
          </p:cNvPr>
          <p:cNvSpPr>
            <a:spLocks xmlns:a="http://schemas.openxmlformats.org/drawingml/2006/main" noGrp="1"/>
          </p:cNvSpPr>
          <p:nvPr/>
        </p:nvSpPr>
        <p:spPr>
          <a:xfrm xmlns:a="http://schemas.openxmlformats.org/drawingml/2006/main">
            <a:off x="92773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31" name="workflow-stage-5-number">
            <a:extLst xmlns:a="http://schemas.openxmlformats.org/drawingml/2006/main">
              <a:ext uri="{FF2B5EF4-FFF2-40B4-BE49-F238E27FC236}">
                <a16:creationId xmlns:a16="http://schemas.microsoft.com/office/drawing/2014/main" id="{876FBA52-2A36-4CE1-B448-17B3A6294754}"/>
              </a:ext>
            </a:extLst>
          </p:cNvPr>
          <p:cNvSpPr>
            <a:spLocks xmlns:a="http://schemas.openxmlformats.org/drawingml/2006/main" noGrp="1"/>
          </p:cNvSpPr>
          <p:nvPr/>
        </p:nvSpPr>
        <p:spPr>
          <a:xfrm xmlns:a="http://schemas.openxmlformats.org/drawingml/2006/main">
            <a:off x="94297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05</a:t>
            </a:r>
          </a:p>
        </p:txBody>
      </p:sp>
      <p:sp>
        <p:nvSpPr>
          <p:cNvPr id="32" name="workflow-stage-5-title">
            <a:extLst xmlns:a="http://schemas.openxmlformats.org/drawingml/2006/main">
              <a:ext uri="{FF2B5EF4-FFF2-40B4-BE49-F238E27FC236}">
                <a16:creationId xmlns:a16="http://schemas.microsoft.com/office/drawing/2014/main" id="{B5202572-14EF-48F2-BEA7-20BBDE0B247F}"/>
              </a:ext>
            </a:extLst>
          </p:cNvPr>
          <p:cNvSpPr>
            <a:spLocks xmlns:a="http://schemas.openxmlformats.org/drawingml/2006/main" noGrp="1"/>
          </p:cNvSpPr>
          <p:nvPr/>
        </p:nvSpPr>
        <p:spPr>
          <a:xfrm xmlns:a="http://schemas.openxmlformats.org/drawingml/2006/main">
            <a:off x="94297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Computed</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comparison</a:t>
            </a:r>
          </a:p>
        </p:txBody>
      </p:sp>
      <p:sp>
        <p:nvSpPr>
          <p:cNvPr id="33" name="workflow-stage-5-body">
            <a:extLst xmlns:a="http://schemas.openxmlformats.org/drawingml/2006/main">
              <a:ext uri="{FF2B5EF4-FFF2-40B4-BE49-F238E27FC236}">
                <a16:creationId xmlns:a16="http://schemas.microsoft.com/office/drawing/2014/main" id="{A00E02C2-17E2-4FD9-B59B-AD6E32222D2C}"/>
              </a:ext>
            </a:extLst>
          </p:cNvPr>
          <p:cNvSpPr>
            <a:spLocks xmlns:a="http://schemas.openxmlformats.org/drawingml/2006/main" noGrp="1"/>
          </p:cNvSpPr>
          <p:nvPr/>
        </p:nvSpPr>
        <p:spPr>
          <a:xfrm xmlns:a="http://schemas.openxmlformats.org/drawingml/2006/main">
            <a:off x="94297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03"/>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Sell · hold · split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or no recommendation</a:t>
            </a:r>
          </a:p>
        </p:txBody>
      </p:sp>
      <p:sp>
        <p:nvSpPr>
          <p:cNvPr id="34" name="workflow-feedback-arrow">
            <a:extLst xmlns:a="http://schemas.openxmlformats.org/drawingml/2006/main">
              <a:ext uri="{FF2B5EF4-FFF2-40B4-BE49-F238E27FC236}">
                <a16:creationId xmlns:a16="http://schemas.microsoft.com/office/drawing/2014/main" id="{3D53DE79-A011-415F-8E1E-CC8E711066AF}"/>
              </a:ext>
            </a:extLst>
          </p:cNvPr>
          <p:cNvSpPr>
            <a:spLocks xmlns:a="http://schemas.openxmlformats.org/drawingml/2006/main" noGrp="1"/>
          </p:cNvSpPr>
          <p:nvPr/>
        </p:nvSpPr>
        <p:spPr>
          <a:xfrm xmlns:a="http://schemas.openxmlformats.org/drawingml/2006/main">
            <a:off x="4619625" y="4629150"/>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486C75"/>
                </a:solidFill>
                <a:latin typeface="Arial"/>
                <a:ea typeface="Arial"/>
                <a:cs typeface="Arial"/>
              </a:defRPr>
            </a:defPPr>
            <a:lvl1pPr algn="ctr">
              <a:defRPr sz="1200" b="1">
                <a:solidFill>
                  <a:srgbClr val="486C75"/>
                </a:solidFill>
                <a:latin typeface="Arial"/>
                <a:ea typeface="Arial"/>
                <a:cs typeface="Arial"/>
              </a:defRPr>
            </a:lvl1pPr>
            <a:lvl2pPr algn="ctr">
              <a:defRPr sz="1200" b="1">
                <a:solidFill>
                  <a:srgbClr val="486C75"/>
                </a:solidFill>
                <a:latin typeface="Arial"/>
                <a:ea typeface="Arial"/>
                <a:cs typeface="Arial"/>
              </a:defRPr>
            </a:lvl2pPr>
            <a:lvl3pPr algn="ctr">
              <a:defRPr sz="1200" b="1">
                <a:solidFill>
                  <a:srgbClr val="486C75"/>
                </a:solidFill>
                <a:latin typeface="Arial"/>
                <a:ea typeface="Arial"/>
                <a:cs typeface="Arial"/>
              </a:defRPr>
            </a:lvl3pPr>
            <a:lvl4pPr algn="ctr">
              <a:defRPr sz="1200" b="1">
                <a:solidFill>
                  <a:srgbClr val="486C75"/>
                </a:solidFill>
                <a:latin typeface="Arial"/>
                <a:ea typeface="Arial"/>
                <a:cs typeface="Arial"/>
              </a:defRPr>
            </a:lvl4pPr>
            <a:lvl5pPr algn="ctr">
              <a:defRPr sz="1200" b="1">
                <a:solidFill>
                  <a:srgbClr val="486C75"/>
                </a:solidFill>
                <a:latin typeface="Arial"/>
                <a:ea typeface="Arial"/>
                <a:cs typeface="Arial"/>
              </a:defRPr>
            </a:lvl5pPr>
            <a:lvl6pPr algn="ctr">
              <a:defRPr sz="1200" b="1">
                <a:solidFill>
                  <a:srgbClr val="486C75"/>
                </a:solidFill>
                <a:latin typeface="Arial"/>
                <a:ea typeface="Arial"/>
                <a:cs typeface="Arial"/>
              </a:defRPr>
            </a:lvl6pPr>
            <a:lvl7pPr algn="ctr">
              <a:defRPr sz="1200" b="1">
                <a:solidFill>
                  <a:srgbClr val="486C75"/>
                </a:solidFill>
                <a:latin typeface="Arial"/>
                <a:ea typeface="Arial"/>
                <a:cs typeface="Arial"/>
              </a:defRPr>
            </a:lvl7pPr>
            <a:lvl8pPr algn="ctr">
              <a:defRPr sz="1200" b="1">
                <a:solidFill>
                  <a:srgbClr val="486C75"/>
                </a:solidFill>
                <a:latin typeface="Arial"/>
                <a:ea typeface="Arial"/>
                <a:cs typeface="Arial"/>
              </a:defRPr>
            </a:lvl8pPr>
            <a:lvl9pPr algn="ctr">
              <a:defRPr sz="1200" b="1">
                <a:solidFill>
                  <a:srgbClr val="486C75"/>
                </a:solidFill>
                <a:latin typeface="Arial"/>
                <a:ea typeface="Arial"/>
                <a:cs typeface="Arial"/>
              </a:defRPr>
            </a:lvl9pPr>
          </a:lstStyle>
          <a:p xmlns:a="http://schemas.openxmlformats.org/drawingml/2006/main">
            <a:pPr algn="ctr">
              <a:defRPr sz="1200" b="1">
                <a:solidFill>
                  <a:srgbClr val="486C75"/>
                </a:solidFill>
                <a:latin typeface="Arial"/>
                <a:ea typeface="Arial"/>
                <a:cs typeface="Arial"/>
              </a:defRPr>
            </a:pPr>
            <a:r>
              <a:rPr sz="1200" b="1">
                <a:solidFill>
                  <a:srgbClr val="486C75"/>
                </a:solidFill>
                <a:latin typeface="Arial"/>
                <a:ea typeface="Arial"/>
                <a:cs typeface="Arial"/>
              </a:rPr>
              <a:t>←  Rejected claims return to their owning analyst  ←</a:t>
            </a:r>
          </a:p>
        </p:txBody>
      </p:sp>
      <p:sp>
        <p:nvSpPr>
          <p:cNvPr id="35" name="workflow-feedback-line">
            <a:extLst xmlns:a="http://schemas.openxmlformats.org/drawingml/2006/main">
              <a:ext uri="{FF2B5EF4-FFF2-40B4-BE49-F238E27FC236}">
                <a16:creationId xmlns:a16="http://schemas.microsoft.com/office/drawing/2014/main" id="{1187C109-BEF1-46B0-A955-4A0D6A26E2BA}"/>
              </a:ext>
            </a:extLst>
          </p:cNvPr>
          <p:cNvSpPr>
            <a:spLocks xmlns:a="http://schemas.openxmlformats.org/drawingml/2006/main" noGrp="1"/>
          </p:cNvSpPr>
          <p:nvPr/>
        </p:nvSpPr>
        <p:spPr>
          <a:xfrm xmlns:a="http://schemas.openxmlformats.org/drawingml/2006/main">
            <a:off x="5334000" y="4533900"/>
            <a:ext cx="3048000" cy="0"/>
          </a:xfrm>
          <a:prstGeom xmlns:a="http://schemas.openxmlformats.org/drawingml/2006/main" prst="line">
            <a:avLst/>
          </a:prstGeom>
          <a:noFill xmlns:a="http://schemas.openxmlformats.org/drawingml/2006/main"/>
          <a:ln xmlns:a="http://schemas.openxmlformats.org/drawingml/2006/main" w="19050">
            <a:solidFill>
              <a:srgbClr val="486C75"/>
            </a:solidFill>
            <a:prstDash val="solid"/>
          </a:ln>
        </p:spPr>
      </p:sp>
      <p:sp>
        <p:nvSpPr>
          <p:cNvPr id="36" name="workflow-bounds">
            <a:extLst xmlns:a="http://schemas.openxmlformats.org/drawingml/2006/main">
              <a:ext uri="{FF2B5EF4-FFF2-40B4-BE49-F238E27FC236}">
                <a16:creationId xmlns:a16="http://schemas.microsoft.com/office/drawing/2014/main" id="{719029DD-6CFF-4B22-BCA0-3D4DB5BFD93E}"/>
              </a:ext>
            </a:extLst>
          </p:cNvPr>
          <p:cNvSpPr>
            <a:spLocks xmlns:a="http://schemas.openxmlformats.org/drawingml/2006/main" noGrp="1"/>
          </p:cNvSpPr>
          <p:nvPr/>
        </p:nvSpPr>
        <p:spPr>
          <a:xfrm xmlns:a="http://schemas.openxmlformats.org/drawingml/2006/main">
            <a:off x="762000" y="5248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274A34"/>
                </a:solidFill>
                <a:latin typeface="Arial"/>
                <a:ea typeface="Arial"/>
                <a:cs typeface="Arial"/>
              </a:defRPr>
            </a:defPPr>
            <a:lvl1pPr algn="ctr">
              <a:defRPr sz="1275" b="1">
                <a:solidFill>
                  <a:srgbClr val="274A34"/>
                </a:solidFill>
                <a:latin typeface="Arial"/>
                <a:ea typeface="Arial"/>
                <a:cs typeface="Arial"/>
              </a:defRPr>
            </a:lvl1pPr>
            <a:lvl2pPr algn="ctr">
              <a:defRPr sz="1275" b="1">
                <a:solidFill>
                  <a:srgbClr val="274A34"/>
                </a:solidFill>
                <a:latin typeface="Arial"/>
                <a:ea typeface="Arial"/>
                <a:cs typeface="Arial"/>
              </a:defRPr>
            </a:lvl2pPr>
            <a:lvl3pPr algn="ctr">
              <a:defRPr sz="1275" b="1">
                <a:solidFill>
                  <a:srgbClr val="274A34"/>
                </a:solidFill>
                <a:latin typeface="Arial"/>
                <a:ea typeface="Arial"/>
                <a:cs typeface="Arial"/>
              </a:defRPr>
            </a:lvl3pPr>
            <a:lvl4pPr algn="ctr">
              <a:defRPr sz="1275" b="1">
                <a:solidFill>
                  <a:srgbClr val="274A34"/>
                </a:solidFill>
                <a:latin typeface="Arial"/>
                <a:ea typeface="Arial"/>
                <a:cs typeface="Arial"/>
              </a:defRPr>
            </a:lvl4pPr>
            <a:lvl5pPr algn="ctr">
              <a:defRPr sz="1275" b="1">
                <a:solidFill>
                  <a:srgbClr val="274A34"/>
                </a:solidFill>
                <a:latin typeface="Arial"/>
                <a:ea typeface="Arial"/>
                <a:cs typeface="Arial"/>
              </a:defRPr>
            </a:lvl5pPr>
            <a:lvl6pPr algn="ctr">
              <a:defRPr sz="1275" b="1">
                <a:solidFill>
                  <a:srgbClr val="274A34"/>
                </a:solidFill>
                <a:latin typeface="Arial"/>
                <a:ea typeface="Arial"/>
                <a:cs typeface="Arial"/>
              </a:defRPr>
            </a:lvl6pPr>
            <a:lvl7pPr algn="ctr">
              <a:defRPr sz="1275" b="1">
                <a:solidFill>
                  <a:srgbClr val="274A34"/>
                </a:solidFill>
                <a:latin typeface="Arial"/>
                <a:ea typeface="Arial"/>
                <a:cs typeface="Arial"/>
              </a:defRPr>
            </a:lvl7pPr>
            <a:lvl8pPr algn="ctr">
              <a:defRPr sz="1275" b="1">
                <a:solidFill>
                  <a:srgbClr val="274A34"/>
                </a:solidFill>
                <a:latin typeface="Arial"/>
                <a:ea typeface="Arial"/>
                <a:cs typeface="Arial"/>
              </a:defRPr>
            </a:lvl8pPr>
            <a:lvl9pPr algn="ctr">
              <a:defRPr sz="1275" b="1">
                <a:solidFill>
                  <a:srgbClr val="274A34"/>
                </a:solidFill>
                <a:latin typeface="Arial"/>
                <a:ea typeface="Arial"/>
                <a:cs typeface="Arial"/>
              </a:defRPr>
            </a:lvl9pPr>
          </a:lstStyle>
          <a:p xmlns:a="http://schemas.openxmlformats.org/drawingml/2006/main">
            <a:pPr algn="ctr">
              <a:defRPr sz="1275" b="1">
                <a:solidFill>
                  <a:srgbClr val="274A34"/>
                </a:solidFill>
                <a:latin typeface="Arial"/>
                <a:ea typeface="Arial"/>
                <a:cs typeface="Arial"/>
              </a:defRPr>
            </a:pPr>
            <a:r>
              <a:rPr sz="1275" b="1">
                <a:solidFill>
                  <a:srgbClr val="274A34"/>
                </a:solidFill>
                <a:latin typeface="Arial"/>
                <a:ea typeface="Arial"/>
                <a:cs typeface="Arial"/>
              </a:rPr>
              <a:t>At most 2 revisions · 2 refreshes · 3 review rounds</a:t>
            </a:r>
          </a:p>
        </p:txBody>
      </p:sp>
      <p:sp>
        <p:nvSpPr>
          <p:cNvPr id="37" name="workflow-outcome">
            <a:extLst xmlns:a="http://schemas.openxmlformats.org/drawingml/2006/main">
              <a:ext uri="{FF2B5EF4-FFF2-40B4-BE49-F238E27FC236}">
                <a16:creationId xmlns:a16="http://schemas.microsoft.com/office/drawing/2014/main" id="{08EED269-9F2A-4A55-85E4-3FD7C95D9B75}"/>
              </a:ext>
            </a:extLst>
          </p:cNvPr>
          <p:cNvSpPr>
            <a:spLocks xmlns:a="http://schemas.openxmlformats.org/drawingml/2006/main" noGrp="1"/>
          </p:cNvSpPr>
          <p:nvPr/>
        </p:nvSpPr>
        <p:spPr>
          <a:xfrm xmlns:a="http://schemas.openxmlformats.org/drawingml/2006/main">
            <a:off x="1104900" y="5724525"/>
            <a:ext cx="9982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69766B"/>
                </a:solidFill>
                <a:latin typeface="Arial"/>
                <a:ea typeface="Arial"/>
                <a:cs typeface="Arial"/>
              </a:defRPr>
            </a:defPPr>
            <a:lvl1pPr algn="ctr">
              <a:defRPr sz="1200" b="0">
                <a:solidFill>
                  <a:srgbClr val="69766B"/>
                </a:solidFill>
                <a:latin typeface="Arial"/>
                <a:ea typeface="Arial"/>
                <a:cs typeface="Arial"/>
              </a:defRPr>
            </a:lvl1pPr>
            <a:lvl2pPr algn="ctr">
              <a:defRPr sz="1200" b="0">
                <a:solidFill>
                  <a:srgbClr val="69766B"/>
                </a:solidFill>
                <a:latin typeface="Arial"/>
                <a:ea typeface="Arial"/>
                <a:cs typeface="Arial"/>
              </a:defRPr>
            </a:lvl2pPr>
            <a:lvl3pPr algn="ctr">
              <a:defRPr sz="1200" b="0">
                <a:solidFill>
                  <a:srgbClr val="69766B"/>
                </a:solidFill>
                <a:latin typeface="Arial"/>
                <a:ea typeface="Arial"/>
                <a:cs typeface="Arial"/>
              </a:defRPr>
            </a:lvl3pPr>
            <a:lvl4pPr algn="ctr">
              <a:defRPr sz="1200" b="0">
                <a:solidFill>
                  <a:srgbClr val="69766B"/>
                </a:solidFill>
                <a:latin typeface="Arial"/>
                <a:ea typeface="Arial"/>
                <a:cs typeface="Arial"/>
              </a:defRPr>
            </a:lvl4pPr>
            <a:lvl5pPr algn="ctr">
              <a:defRPr sz="1200" b="0">
                <a:solidFill>
                  <a:srgbClr val="69766B"/>
                </a:solidFill>
                <a:latin typeface="Arial"/>
                <a:ea typeface="Arial"/>
                <a:cs typeface="Arial"/>
              </a:defRPr>
            </a:lvl5pPr>
            <a:lvl6pPr algn="ctr">
              <a:defRPr sz="1200" b="0">
                <a:solidFill>
                  <a:srgbClr val="69766B"/>
                </a:solidFill>
                <a:latin typeface="Arial"/>
                <a:ea typeface="Arial"/>
                <a:cs typeface="Arial"/>
              </a:defRPr>
            </a:lvl6pPr>
            <a:lvl7pPr algn="ctr">
              <a:defRPr sz="1200" b="0">
                <a:solidFill>
                  <a:srgbClr val="69766B"/>
                </a:solidFill>
                <a:latin typeface="Arial"/>
                <a:ea typeface="Arial"/>
                <a:cs typeface="Arial"/>
              </a:defRPr>
            </a:lvl7pPr>
            <a:lvl8pPr algn="ctr">
              <a:defRPr sz="1200" b="0">
                <a:solidFill>
                  <a:srgbClr val="69766B"/>
                </a:solidFill>
                <a:latin typeface="Arial"/>
                <a:ea typeface="Arial"/>
                <a:cs typeface="Arial"/>
              </a:defRPr>
            </a:lvl8pPr>
            <a:lvl9pPr algn="ctr">
              <a:defRPr sz="1200" b="0">
                <a:solidFill>
                  <a:srgbClr val="69766B"/>
                </a:solidFill>
                <a:latin typeface="Arial"/>
                <a:ea typeface="Arial"/>
                <a:cs typeface="Arial"/>
              </a:defRPr>
            </a:lvl9pPr>
          </a:lstStyle>
          <a:p xmlns:a="http://schemas.openxmlformats.org/drawingml/2006/main">
            <a:pPr algn="ctr">
              <a:defRPr sz="1200" b="0">
                <a:solidFill>
                  <a:srgbClr val="69766B"/>
                </a:solidFill>
                <a:latin typeface="Arial"/>
                <a:ea typeface="Arial"/>
                <a:cs typeface="Arial"/>
              </a:defRPr>
            </a:pPr>
            <a:r>
              <a:rPr sz="1200" b="0">
                <a:solidFill>
                  <a:srgbClr val="69766B"/>
                </a:solidFill>
                <a:latin typeface="Arial"/>
                <a:ea typeface="Arial"/>
                <a:cs typeface="Arial"/>
              </a:rPr>
              <a:t>The planner compares the options with a fixed-seed expected-value simulation and records the trace.</a:t>
            </a:r>
          </a:p>
        </p:txBody>
      </p:sp>
    </p:spTree>
    <p:extLst>
      <p:ext uri="{BB962C8B-B14F-4D97-AF65-F5344CB8AC3E}">
        <p14:creationId xmlns:p14="http://schemas.microsoft.com/office/powerpoint/2010/main" val="19882219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3" name="slide-4-index">
            <a:extLst xmlns:a="http://schemas.openxmlformats.org/drawingml/2006/main">
              <a:ext uri="{FF2B5EF4-FFF2-40B4-BE49-F238E27FC236}">
                <a16:creationId xmlns:a16="http://schemas.microsoft.com/office/drawing/2014/main" id="{2CAF20EB-DE68-4E11-8371-3602049DB8C5}"/>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04</a:t>
            </a:r>
          </a:p>
        </p:txBody>
      </p:sp>
      <p:sp>
        <p:nvSpPr>
          <p:cNvPr id="2" name="slide-4-title">
            <a:extLst xmlns:a="http://schemas.openxmlformats.org/drawingml/2006/main">
              <a:ext uri="{FF2B5EF4-FFF2-40B4-BE49-F238E27FC236}">
                <a16:creationId xmlns:a16="http://schemas.microsoft.com/office/drawing/2014/main" id="{6BF62521-50CA-4205-B026-76EA3E04C3C6}"/>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The system can say ‘not enough evidence’</a:t>
            </a:r>
          </a:p>
        </p:txBody>
      </p:sp>
      <p:sp>
        <p:nvSpPr>
          <p:cNvPr id="3" name="slide-4-subtitle">
            <a:extLst xmlns:a="http://schemas.openxmlformats.org/drawingml/2006/main">
              <a:ext uri="{FF2B5EF4-FFF2-40B4-BE49-F238E27FC236}">
                <a16:creationId xmlns:a16="http://schemas.microsoft.com/office/drawing/2014/main" id="{11C4E815-F852-49A6-9AC9-76D1E3EC8D4F}"/>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Freshness and coverage are part of the decision, not footnotes.</a:t>
            </a:r>
          </a:p>
        </p:txBody>
      </p:sp>
      <p:sp>
        <p:nvSpPr>
          <p:cNvPr id="4" name="slide-4-header-rule">
            <a:extLst xmlns:a="http://schemas.openxmlformats.org/drawingml/2006/main">
              <a:ext uri="{FF2B5EF4-FFF2-40B4-BE49-F238E27FC236}">
                <a16:creationId xmlns:a16="http://schemas.microsoft.com/office/drawing/2014/main" id="{4457FC18-3C17-4B2B-B8EB-D34FD2F2AD7C}"/>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guardrail-1-index">
            <a:extLst xmlns:a="http://schemas.openxmlformats.org/drawingml/2006/main">
              <a:ext uri="{FF2B5EF4-FFF2-40B4-BE49-F238E27FC236}">
                <a16:creationId xmlns:a16="http://schemas.microsoft.com/office/drawing/2014/main" id="{ACEE295B-BC02-4CB5-8B87-106474575A8D}"/>
              </a:ext>
            </a:extLst>
          </p:cNvPr>
          <p:cNvSpPr>
            <a:spLocks xmlns:a="http://schemas.openxmlformats.org/drawingml/2006/main" noGrp="1"/>
          </p:cNvSpPr>
          <p:nvPr/>
        </p:nvSpPr>
        <p:spPr>
          <a:xfrm xmlns:a="http://schemas.openxmlformats.org/drawingml/2006/main">
            <a:off x="781050" y="250507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A</a:t>
            </a:r>
          </a:p>
        </p:txBody>
      </p:sp>
      <p:sp>
        <p:nvSpPr>
          <p:cNvPr id="6" name="guardrail-1-title">
            <a:extLst xmlns:a="http://schemas.openxmlformats.org/drawingml/2006/main">
              <a:ext uri="{FF2B5EF4-FFF2-40B4-BE49-F238E27FC236}">
                <a16:creationId xmlns:a16="http://schemas.microsoft.com/office/drawing/2014/main" id="{801F70A0-A0AB-4A51-BE70-E61B642C1D36}"/>
              </a:ext>
            </a:extLst>
          </p:cNvPr>
          <p:cNvSpPr>
            <a:spLocks xmlns:a="http://schemas.openxmlformats.org/drawingml/2006/main" noGrp="1"/>
          </p:cNvSpPr>
          <p:nvPr/>
        </p:nvSpPr>
        <p:spPr>
          <a:xfrm xmlns:a="http://schemas.openxmlformats.org/drawingml/2006/main">
            <a:off x="1228725" y="24860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Freshness gate</a:t>
            </a:r>
          </a:p>
        </p:txBody>
      </p:sp>
      <p:sp>
        <p:nvSpPr>
          <p:cNvPr id="7" name="guardrail-1-body">
            <a:extLst xmlns:a="http://schemas.openxmlformats.org/drawingml/2006/main">
              <a:ext uri="{FF2B5EF4-FFF2-40B4-BE49-F238E27FC236}">
                <a16:creationId xmlns:a16="http://schemas.microsoft.com/office/drawing/2014/main" id="{B313945F-7ABD-4713-A0D9-A29A94DDC3DB}"/>
              </a:ext>
            </a:extLst>
          </p:cNvPr>
          <p:cNvSpPr>
            <a:spLocks xmlns:a="http://schemas.openxmlformats.org/drawingml/2006/main" noGrp="1"/>
          </p:cNvSpPr>
          <p:nvPr/>
        </p:nvSpPr>
        <p:spPr>
          <a:xfrm xmlns:a="http://schemas.openxmlformats.org/drawingml/2006/main">
            <a:off x="1228725" y="28384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Price and forecast claims older than the configured 3-day limit are rejected and sent for refresh.</a:t>
            </a:r>
          </a:p>
        </p:txBody>
      </p:sp>
      <p:sp>
        <p:nvSpPr>
          <p:cNvPr id="8" name="guardrail-1-rule">
            <a:extLst xmlns:a="http://schemas.openxmlformats.org/drawingml/2006/main">
              <a:ext uri="{FF2B5EF4-FFF2-40B4-BE49-F238E27FC236}">
                <a16:creationId xmlns:a16="http://schemas.microsoft.com/office/drawing/2014/main" id="{41A5D711-1434-4A0B-B06F-A955CA19460C}"/>
              </a:ext>
            </a:extLst>
          </p:cNvPr>
          <p:cNvSpPr>
            <a:spLocks xmlns:a="http://schemas.openxmlformats.org/drawingml/2006/main" noGrp="1"/>
          </p:cNvSpPr>
          <p:nvPr/>
        </p:nvSpPr>
        <p:spPr>
          <a:xfrm xmlns:a="http://schemas.openxmlformats.org/drawingml/2006/main">
            <a:off x="781050" y="341947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guardrail-2-index">
            <a:extLst xmlns:a="http://schemas.openxmlformats.org/drawingml/2006/main">
              <a:ext uri="{FF2B5EF4-FFF2-40B4-BE49-F238E27FC236}">
                <a16:creationId xmlns:a16="http://schemas.microsoft.com/office/drawing/2014/main" id="{6C6AA132-35F8-4780-B15B-F76948F4C96A}"/>
              </a:ext>
            </a:extLst>
          </p:cNvPr>
          <p:cNvSpPr>
            <a:spLocks xmlns:a="http://schemas.openxmlformats.org/drawingml/2006/main" noGrp="1"/>
          </p:cNvSpPr>
          <p:nvPr/>
        </p:nvSpPr>
        <p:spPr>
          <a:xfrm xmlns:a="http://schemas.openxmlformats.org/drawingml/2006/main">
            <a:off x="781050" y="35242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B</a:t>
            </a:r>
          </a:p>
        </p:txBody>
      </p:sp>
      <p:sp>
        <p:nvSpPr>
          <p:cNvPr id="10" name="guardrail-2-title">
            <a:extLst xmlns:a="http://schemas.openxmlformats.org/drawingml/2006/main">
              <a:ext uri="{FF2B5EF4-FFF2-40B4-BE49-F238E27FC236}">
                <a16:creationId xmlns:a16="http://schemas.microsoft.com/office/drawing/2014/main" id="{BBB62074-61A1-4E26-B420-8AEE267959BA}"/>
              </a:ext>
            </a:extLst>
          </p:cNvPr>
          <p:cNvSpPr>
            <a:spLocks xmlns:a="http://schemas.openxmlformats.org/drawingml/2006/main" noGrp="1"/>
          </p:cNvSpPr>
          <p:nvPr/>
        </p:nvSpPr>
        <p:spPr>
          <a:xfrm xmlns:a="http://schemas.openxmlformats.org/drawingml/2006/main">
            <a:off x="1228725" y="3505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County coverage gate</a:t>
            </a:r>
          </a:p>
        </p:txBody>
      </p:sp>
      <p:sp>
        <p:nvSpPr>
          <p:cNvPr id="11" name="guardrail-2-body">
            <a:extLst xmlns:a="http://schemas.openxmlformats.org/drawingml/2006/main">
              <a:ext uri="{FF2B5EF4-FFF2-40B4-BE49-F238E27FC236}">
                <a16:creationId xmlns:a16="http://schemas.microsoft.com/office/drawing/2014/main" id="{72A8687D-19BD-40BF-8108-3748A75A7FED}"/>
              </a:ext>
            </a:extLst>
          </p:cNvPr>
          <p:cNvSpPr>
            <a:spLocks xmlns:a="http://schemas.openxmlformats.org/drawingml/2006/main" noGrp="1"/>
          </p:cNvSpPr>
          <p:nvPr/>
        </p:nvSpPr>
        <p:spPr>
          <a:xfrm xmlns:a="http://schemas.openxmlformats.org/drawingml/2006/main">
            <a:off x="1228725" y="3857625"/>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Fewer than 3 fresh white-maize quotes blocks an action and asks which market or offer to use.</a:t>
            </a:r>
          </a:p>
        </p:txBody>
      </p:sp>
      <p:sp>
        <p:nvSpPr>
          <p:cNvPr id="12" name="guardrail-2-rule">
            <a:extLst xmlns:a="http://schemas.openxmlformats.org/drawingml/2006/main">
              <a:ext uri="{FF2B5EF4-FFF2-40B4-BE49-F238E27FC236}">
                <a16:creationId xmlns:a16="http://schemas.microsoft.com/office/drawing/2014/main" id="{6B18813F-5EF2-499B-83BA-96F9EB527B66}"/>
              </a:ext>
            </a:extLst>
          </p:cNvPr>
          <p:cNvSpPr>
            <a:spLocks xmlns:a="http://schemas.openxmlformats.org/drawingml/2006/main" noGrp="1"/>
          </p:cNvSpPr>
          <p:nvPr/>
        </p:nvSpPr>
        <p:spPr>
          <a:xfrm xmlns:a="http://schemas.openxmlformats.org/drawingml/2006/main">
            <a:off x="781050" y="4438650"/>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guardrail-3-index">
            <a:extLst xmlns:a="http://schemas.openxmlformats.org/drawingml/2006/main">
              <a:ext uri="{FF2B5EF4-FFF2-40B4-BE49-F238E27FC236}">
                <a16:creationId xmlns:a16="http://schemas.microsoft.com/office/drawing/2014/main" id="{E9C41B74-28DA-4EAE-ABF0-061F765D1619}"/>
              </a:ext>
            </a:extLst>
          </p:cNvPr>
          <p:cNvSpPr>
            <a:spLocks xmlns:a="http://schemas.openxmlformats.org/drawingml/2006/main" noGrp="1"/>
          </p:cNvSpPr>
          <p:nvPr/>
        </p:nvSpPr>
        <p:spPr>
          <a:xfrm xmlns:a="http://schemas.openxmlformats.org/drawingml/2006/main">
            <a:off x="781050" y="454342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C</a:t>
            </a:r>
          </a:p>
        </p:txBody>
      </p:sp>
      <p:sp>
        <p:nvSpPr>
          <p:cNvPr id="14" name="guardrail-3-title">
            <a:extLst xmlns:a="http://schemas.openxmlformats.org/drawingml/2006/main">
              <a:ext uri="{FF2B5EF4-FFF2-40B4-BE49-F238E27FC236}">
                <a16:creationId xmlns:a16="http://schemas.microsoft.com/office/drawing/2014/main" id="{59A7FA90-8090-4EC0-A9D7-833FFCBD3BBD}"/>
              </a:ext>
            </a:extLst>
          </p:cNvPr>
          <p:cNvSpPr>
            <a:spLocks xmlns:a="http://schemas.openxmlformats.org/drawingml/2006/main" noGrp="1"/>
          </p:cNvSpPr>
          <p:nvPr/>
        </p:nvSpPr>
        <p:spPr>
          <a:xfrm xmlns:a="http://schemas.openxmlformats.org/drawingml/2006/main">
            <a:off x="1228725" y="45243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Risk review</a:t>
            </a:r>
          </a:p>
        </p:txBody>
      </p:sp>
      <p:sp>
        <p:nvSpPr>
          <p:cNvPr id="15" name="guardrail-3-body">
            <a:extLst xmlns:a="http://schemas.openxmlformats.org/drawingml/2006/main">
              <a:ext uri="{FF2B5EF4-FFF2-40B4-BE49-F238E27FC236}">
                <a16:creationId xmlns:a16="http://schemas.microsoft.com/office/drawing/2014/main" id="{AB153803-0295-418B-89B4-042DB3BA2341}"/>
              </a:ext>
            </a:extLst>
          </p:cNvPr>
          <p:cNvSpPr>
            <a:spLocks xmlns:a="http://schemas.openxmlformats.org/drawingml/2006/main" noGrp="1"/>
          </p:cNvSpPr>
          <p:nvPr/>
        </p:nvSpPr>
        <p:spPr>
          <a:xfrm xmlns:a="http://schemas.openxmlformats.org/drawingml/2006/main">
            <a:off x="1228725" y="48768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The critic checks outliers, contradictions, maize type, missing evidence and farmer limits.</a:t>
            </a:r>
          </a:p>
        </p:txBody>
      </p:sp>
      <p:sp>
        <p:nvSpPr>
          <p:cNvPr id="16" name="abstain-panel">
            <a:extLst xmlns:a="http://schemas.openxmlformats.org/drawingml/2006/main">
              <a:ext uri="{FF2B5EF4-FFF2-40B4-BE49-F238E27FC236}">
                <a16:creationId xmlns:a16="http://schemas.microsoft.com/office/drawing/2014/main" id="{B90C2399-1A94-46E6-A801-E6FA91B16FDB}"/>
              </a:ext>
            </a:extLst>
          </p:cNvPr>
          <p:cNvSpPr>
            <a:spLocks xmlns:a="http://schemas.openxmlformats.org/drawingml/2006/main" noGrp="1"/>
          </p:cNvSpPr>
          <p:nvPr/>
        </p:nvSpPr>
        <p:spPr>
          <a:xfrm xmlns:a="http://schemas.openxmlformats.org/drawingml/2006/main">
            <a:off x="6429375" y="2600325"/>
            <a:ext cx="4981575" cy="2724150"/>
          </a:xfrm>
          <a:prstGeom xmlns:a="http://schemas.openxmlformats.org/drawingml/2006/main" prst="rect">
            <a:avLst/>
          </a:prstGeom>
          <a:solidFill xmlns:a="http://schemas.openxmlformats.org/drawingml/2006/main">
            <a:srgbClr val="183525"/>
          </a:solidFill>
          <a:ln xmlns:a="http://schemas.openxmlformats.org/drawingml/2006/main" w="0">
            <a:noFill/>
            <a:prstDash val="solid"/>
          </a:ln>
        </p:spPr>
      </p:sp>
      <p:sp>
        <p:nvSpPr>
          <p:cNvPr id="17" name="abstain-label">
            <a:extLst xmlns:a="http://schemas.openxmlformats.org/drawingml/2006/main">
              <a:ext uri="{FF2B5EF4-FFF2-40B4-BE49-F238E27FC236}">
                <a16:creationId xmlns:a16="http://schemas.microsoft.com/office/drawing/2014/main" id="{8EB2D0DE-69BE-4E5F-9D78-5267AEDED1DE}"/>
              </a:ext>
            </a:extLst>
          </p:cNvPr>
          <p:cNvSpPr>
            <a:spLocks xmlns:a="http://schemas.openxmlformats.org/drawingml/2006/main" noGrp="1"/>
          </p:cNvSpPr>
          <p:nvPr/>
        </p:nvSpPr>
        <p:spPr>
          <a:xfrm xmlns:a="http://schemas.openxmlformats.org/drawingml/2006/main">
            <a:off x="6762750" y="29146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D9C99F"/>
                </a:solidFill>
                <a:latin typeface="Arial"/>
                <a:ea typeface="Arial"/>
                <a:cs typeface="Arial"/>
              </a:defRPr>
            </a:defPPr>
            <a:lvl1pPr algn="l">
              <a:defRPr sz="900" b="1">
                <a:solidFill>
                  <a:srgbClr val="D9C99F"/>
                </a:solidFill>
                <a:latin typeface="Arial"/>
                <a:ea typeface="Arial"/>
                <a:cs typeface="Arial"/>
              </a:defRPr>
            </a:lvl1pPr>
            <a:lvl2pPr algn="l">
              <a:defRPr sz="900" b="1">
                <a:solidFill>
                  <a:srgbClr val="D9C99F"/>
                </a:solidFill>
                <a:latin typeface="Arial"/>
                <a:ea typeface="Arial"/>
                <a:cs typeface="Arial"/>
              </a:defRPr>
            </a:lvl2pPr>
            <a:lvl3pPr algn="l">
              <a:defRPr sz="900" b="1">
                <a:solidFill>
                  <a:srgbClr val="D9C99F"/>
                </a:solidFill>
                <a:latin typeface="Arial"/>
                <a:ea typeface="Arial"/>
                <a:cs typeface="Arial"/>
              </a:defRPr>
            </a:lvl3pPr>
            <a:lvl4pPr algn="l">
              <a:defRPr sz="900" b="1">
                <a:solidFill>
                  <a:srgbClr val="D9C99F"/>
                </a:solidFill>
                <a:latin typeface="Arial"/>
                <a:ea typeface="Arial"/>
                <a:cs typeface="Arial"/>
              </a:defRPr>
            </a:lvl4pPr>
            <a:lvl5pPr algn="l">
              <a:defRPr sz="900" b="1">
                <a:solidFill>
                  <a:srgbClr val="D9C99F"/>
                </a:solidFill>
                <a:latin typeface="Arial"/>
                <a:ea typeface="Arial"/>
                <a:cs typeface="Arial"/>
              </a:defRPr>
            </a:lvl5pPr>
            <a:lvl6pPr algn="l">
              <a:defRPr sz="900" b="1">
                <a:solidFill>
                  <a:srgbClr val="D9C99F"/>
                </a:solidFill>
                <a:latin typeface="Arial"/>
                <a:ea typeface="Arial"/>
                <a:cs typeface="Arial"/>
              </a:defRPr>
            </a:lvl6pPr>
            <a:lvl7pPr algn="l">
              <a:defRPr sz="900" b="1">
                <a:solidFill>
                  <a:srgbClr val="D9C99F"/>
                </a:solidFill>
                <a:latin typeface="Arial"/>
                <a:ea typeface="Arial"/>
                <a:cs typeface="Arial"/>
              </a:defRPr>
            </a:lvl7pPr>
            <a:lvl8pPr algn="l">
              <a:defRPr sz="900" b="1">
                <a:solidFill>
                  <a:srgbClr val="D9C99F"/>
                </a:solidFill>
                <a:latin typeface="Arial"/>
                <a:ea typeface="Arial"/>
                <a:cs typeface="Arial"/>
              </a:defRPr>
            </a:lvl8pPr>
            <a:lvl9pPr algn="l">
              <a:defRPr sz="900" b="1">
                <a:solidFill>
                  <a:srgbClr val="D9C99F"/>
                </a:solidFill>
                <a:latin typeface="Arial"/>
                <a:ea typeface="Arial"/>
                <a:cs typeface="Arial"/>
              </a:defRPr>
            </a:lvl9pPr>
          </a:lstStyle>
          <a:p xmlns:a="http://schemas.openxmlformats.org/drawingml/2006/main">
            <a:pPr algn="l">
              <a:defRPr sz="900" b="1">
                <a:solidFill>
                  <a:srgbClr val="D9C99F"/>
                </a:solidFill>
                <a:latin typeface="Arial"/>
                <a:ea typeface="Arial"/>
                <a:cs typeface="Arial"/>
              </a:defRPr>
            </a:pPr>
            <a:r>
              <a:rPr sz="900" b="1">
                <a:solidFill>
                  <a:srgbClr val="D9C99F"/>
                </a:solidFill>
                <a:latin typeface="Arial"/>
                <a:ea typeface="Arial"/>
                <a:cs typeface="Arial"/>
              </a:rPr>
              <a:t>WHEN REVIEW CANNOT APPROVE</a:t>
            </a:r>
          </a:p>
        </p:txBody>
      </p:sp>
      <p:sp>
        <p:nvSpPr>
          <p:cNvPr id="18" name="abstain-title">
            <a:extLst xmlns:a="http://schemas.openxmlformats.org/drawingml/2006/main">
              <a:ext uri="{FF2B5EF4-FFF2-40B4-BE49-F238E27FC236}">
                <a16:creationId xmlns:a16="http://schemas.microsoft.com/office/drawing/2014/main" id="{A3D22B19-51D9-4EFF-A52D-D0EDE1D449FE}"/>
              </a:ext>
            </a:extLst>
          </p:cNvPr>
          <p:cNvSpPr>
            <a:spLocks xmlns:a="http://schemas.openxmlformats.org/drawingml/2006/main" noGrp="1"/>
          </p:cNvSpPr>
          <p:nvPr/>
        </p:nvSpPr>
        <p:spPr>
          <a:xfrm xmlns:a="http://schemas.openxmlformats.org/drawingml/2006/main">
            <a:off x="6762750" y="333375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0">
                <a:solidFill>
                  <a:srgbClr val="FFFEFA"/>
                </a:solidFill>
                <a:latin typeface="Georgia"/>
                <a:ea typeface="Georgia"/>
                <a:cs typeface="Georgia"/>
              </a:defRPr>
            </a:defPPr>
            <a:lvl1pPr algn="l">
              <a:defRPr sz="2625" b="0">
                <a:solidFill>
                  <a:srgbClr val="FFFEFA"/>
                </a:solidFill>
                <a:latin typeface="Georgia"/>
                <a:ea typeface="Georgia"/>
                <a:cs typeface="Georgia"/>
              </a:defRPr>
            </a:lvl1pPr>
            <a:lvl2pPr algn="l">
              <a:defRPr sz="2625" b="0">
                <a:solidFill>
                  <a:srgbClr val="FFFEFA"/>
                </a:solidFill>
                <a:latin typeface="Georgia"/>
                <a:ea typeface="Georgia"/>
                <a:cs typeface="Georgia"/>
              </a:defRPr>
            </a:lvl2pPr>
            <a:lvl3pPr algn="l">
              <a:defRPr sz="2625" b="0">
                <a:solidFill>
                  <a:srgbClr val="FFFEFA"/>
                </a:solidFill>
                <a:latin typeface="Georgia"/>
                <a:ea typeface="Georgia"/>
                <a:cs typeface="Georgia"/>
              </a:defRPr>
            </a:lvl3pPr>
            <a:lvl4pPr algn="l">
              <a:defRPr sz="2625" b="0">
                <a:solidFill>
                  <a:srgbClr val="FFFEFA"/>
                </a:solidFill>
                <a:latin typeface="Georgia"/>
                <a:ea typeface="Georgia"/>
                <a:cs typeface="Georgia"/>
              </a:defRPr>
            </a:lvl4pPr>
            <a:lvl5pPr algn="l">
              <a:defRPr sz="2625" b="0">
                <a:solidFill>
                  <a:srgbClr val="FFFEFA"/>
                </a:solidFill>
                <a:latin typeface="Georgia"/>
                <a:ea typeface="Georgia"/>
                <a:cs typeface="Georgia"/>
              </a:defRPr>
            </a:lvl5pPr>
            <a:lvl6pPr algn="l">
              <a:defRPr sz="2625" b="0">
                <a:solidFill>
                  <a:srgbClr val="FFFEFA"/>
                </a:solidFill>
                <a:latin typeface="Georgia"/>
                <a:ea typeface="Georgia"/>
                <a:cs typeface="Georgia"/>
              </a:defRPr>
            </a:lvl6pPr>
            <a:lvl7pPr algn="l">
              <a:defRPr sz="2625" b="0">
                <a:solidFill>
                  <a:srgbClr val="FFFEFA"/>
                </a:solidFill>
                <a:latin typeface="Georgia"/>
                <a:ea typeface="Georgia"/>
                <a:cs typeface="Georgia"/>
              </a:defRPr>
            </a:lvl7pPr>
            <a:lvl8pPr algn="l">
              <a:defRPr sz="2625" b="0">
                <a:solidFill>
                  <a:srgbClr val="FFFEFA"/>
                </a:solidFill>
                <a:latin typeface="Georgia"/>
                <a:ea typeface="Georgia"/>
                <a:cs typeface="Georgia"/>
              </a:defRPr>
            </a:lvl8pPr>
            <a:lvl9pPr algn="l">
              <a:defRPr sz="2625" b="0">
                <a:solidFill>
                  <a:srgbClr val="FFFEFA"/>
                </a:solidFill>
                <a:latin typeface="Georgia"/>
                <a:ea typeface="Georgia"/>
                <a:cs typeface="Georgia"/>
              </a:defRPr>
            </a:lvl9pPr>
          </a:lstStyle>
          <a:p xmlns:a="http://schemas.openxmlformats.org/drawingml/2006/main">
            <a:pPr algn="l">
              <a:defRPr sz="2625" b="0">
                <a:solidFill>
                  <a:srgbClr val="FFFEFA"/>
                </a:solidFill>
                <a:latin typeface="Georgia"/>
                <a:ea typeface="Georgia"/>
                <a:cs typeface="Georgia"/>
              </a:defRPr>
            </a:pPr>
            <a:r>
              <a:rPr sz="2625" b="0">
                <a:solidFill>
                  <a:srgbClr val="FFFEFA"/>
                </a:solidFill>
                <a:latin typeface="Georgia"/>
                <a:ea typeface="Georgia"/>
                <a:cs typeface="Georgia"/>
              </a:rPr>
              <a:t>Ask before advising</a:t>
            </a:r>
          </a:p>
        </p:txBody>
      </p:sp>
      <p:sp>
        <p:nvSpPr>
          <p:cNvPr id="19" name="abstain-copy">
            <a:extLst xmlns:a="http://schemas.openxmlformats.org/drawingml/2006/main">
              <a:ext uri="{FF2B5EF4-FFF2-40B4-BE49-F238E27FC236}">
                <a16:creationId xmlns:a16="http://schemas.microsoft.com/office/drawing/2014/main" id="{68C7017A-F82C-484A-8E00-EE6EFED591E3}"/>
              </a:ext>
            </a:extLst>
          </p:cNvPr>
          <p:cNvSpPr>
            <a:spLocks xmlns:a="http://schemas.openxmlformats.org/drawingml/2006/main" noGrp="1"/>
          </p:cNvSpPr>
          <p:nvPr/>
        </p:nvSpPr>
        <p:spPr>
          <a:xfrm xmlns:a="http://schemas.openxmlformats.org/drawingml/2006/main">
            <a:off x="6762750" y="4057650"/>
            <a:ext cx="4191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7E0D5"/>
                </a:solidFill>
                <a:latin typeface="Arial"/>
                <a:ea typeface="Arial"/>
                <a:cs typeface="Arial"/>
              </a:defRPr>
            </a:defPPr>
            <a:lvl1pPr algn="l">
              <a:defRPr sz="1425" b="0">
                <a:solidFill>
                  <a:srgbClr val="D7E0D5"/>
                </a:solidFill>
                <a:latin typeface="Arial"/>
                <a:ea typeface="Arial"/>
                <a:cs typeface="Arial"/>
              </a:defRPr>
            </a:lvl1pPr>
            <a:lvl2pPr algn="l">
              <a:defRPr sz="1425" b="0">
                <a:solidFill>
                  <a:srgbClr val="D7E0D5"/>
                </a:solidFill>
                <a:latin typeface="Arial"/>
                <a:ea typeface="Arial"/>
                <a:cs typeface="Arial"/>
              </a:defRPr>
            </a:lvl2pPr>
            <a:lvl3pPr algn="l">
              <a:defRPr sz="1425" b="0">
                <a:solidFill>
                  <a:srgbClr val="D7E0D5"/>
                </a:solidFill>
                <a:latin typeface="Arial"/>
                <a:ea typeface="Arial"/>
                <a:cs typeface="Arial"/>
              </a:defRPr>
            </a:lvl3pPr>
            <a:lvl4pPr algn="l">
              <a:defRPr sz="1425" b="0">
                <a:solidFill>
                  <a:srgbClr val="D7E0D5"/>
                </a:solidFill>
                <a:latin typeface="Arial"/>
                <a:ea typeface="Arial"/>
                <a:cs typeface="Arial"/>
              </a:defRPr>
            </a:lvl4pPr>
            <a:lvl5pPr algn="l">
              <a:defRPr sz="1425" b="0">
                <a:solidFill>
                  <a:srgbClr val="D7E0D5"/>
                </a:solidFill>
                <a:latin typeface="Arial"/>
                <a:ea typeface="Arial"/>
                <a:cs typeface="Arial"/>
              </a:defRPr>
            </a:lvl5pPr>
            <a:lvl6pPr algn="l">
              <a:defRPr sz="1425" b="0">
                <a:solidFill>
                  <a:srgbClr val="D7E0D5"/>
                </a:solidFill>
                <a:latin typeface="Arial"/>
                <a:ea typeface="Arial"/>
                <a:cs typeface="Arial"/>
              </a:defRPr>
            </a:lvl6pPr>
            <a:lvl7pPr algn="l">
              <a:defRPr sz="1425" b="0">
                <a:solidFill>
                  <a:srgbClr val="D7E0D5"/>
                </a:solidFill>
                <a:latin typeface="Arial"/>
                <a:ea typeface="Arial"/>
                <a:cs typeface="Arial"/>
              </a:defRPr>
            </a:lvl7pPr>
            <a:lvl8pPr algn="l">
              <a:defRPr sz="1425" b="0">
                <a:solidFill>
                  <a:srgbClr val="D7E0D5"/>
                </a:solidFill>
                <a:latin typeface="Arial"/>
                <a:ea typeface="Arial"/>
                <a:cs typeface="Arial"/>
              </a:defRPr>
            </a:lvl8pPr>
            <a:lvl9pPr algn="l">
              <a:defRPr sz="1425" b="0">
                <a:solidFill>
                  <a:srgbClr val="D7E0D5"/>
                </a:solidFill>
                <a:latin typeface="Arial"/>
                <a:ea typeface="Arial"/>
                <a:cs typeface="Arial"/>
              </a:defRPr>
            </a:lvl9pPr>
          </a:lstStyle>
          <a:p xmlns:a="http://schemas.openxmlformats.org/drawingml/2006/main">
            <a:pPr algn="l">
              <a:defRPr sz="1425" b="0">
                <a:solidFill>
                  <a:srgbClr val="D7E0D5"/>
                </a:solidFill>
                <a:latin typeface="Arial"/>
                <a:ea typeface="Arial"/>
                <a:cs typeface="Arial"/>
              </a:defRPr>
            </a:pPr>
            <a:r>
              <a:rPr sz="1425" b="0">
                <a:solidFill>
                  <a:srgbClr val="D7E0D5"/>
                </a:solidFill>
                <a:latin typeface="Arial"/>
                <a:ea typeface="Arial"/>
                <a:cs typeface="Arial"/>
              </a:rPr>
              <a:t>Return no recommendation, name the evidence gap and ask the farmer which input should be corrected.</a:t>
            </a:r>
          </a:p>
        </p:txBody>
      </p:sp>
      <p:sp>
        <p:nvSpPr>
          <p:cNvPr id="20" name="abstain-rule">
            <a:extLst xmlns:a="http://schemas.openxmlformats.org/drawingml/2006/main">
              <a:ext uri="{FF2B5EF4-FFF2-40B4-BE49-F238E27FC236}">
                <a16:creationId xmlns:a16="http://schemas.microsoft.com/office/drawing/2014/main" id="{27C6A714-6D85-4A6D-A4A2-A49420857654}"/>
              </a:ext>
            </a:extLst>
          </p:cNvPr>
          <p:cNvSpPr>
            <a:spLocks xmlns:a="http://schemas.openxmlformats.org/drawingml/2006/main" noGrp="1"/>
          </p:cNvSpPr>
          <p:nvPr/>
        </p:nvSpPr>
        <p:spPr>
          <a:xfrm xmlns:a="http://schemas.openxmlformats.org/drawingml/2006/main">
            <a:off x="6762750" y="5010150"/>
            <a:ext cx="4238625"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21" name="abstain-computed">
            <a:extLst xmlns:a="http://schemas.openxmlformats.org/drawingml/2006/main">
              <a:ext uri="{FF2B5EF4-FFF2-40B4-BE49-F238E27FC236}">
                <a16:creationId xmlns:a16="http://schemas.microsoft.com/office/drawing/2014/main" id="{9CE7A537-61E7-4364-9EB4-FE2B8336D69B}"/>
              </a:ext>
            </a:extLst>
          </p:cNvPr>
          <p:cNvSpPr>
            <a:spLocks xmlns:a="http://schemas.openxmlformats.org/drawingml/2006/main" noGrp="1"/>
          </p:cNvSpPr>
          <p:nvPr/>
        </p:nvSpPr>
        <p:spPr>
          <a:xfrm xmlns:a="http://schemas.openxmlformats.org/drawingml/2006/main">
            <a:off x="6762750" y="5133975"/>
            <a:ext cx="423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D9C99F"/>
                </a:solidFill>
                <a:latin typeface="Arial"/>
                <a:ea typeface="Arial"/>
                <a:cs typeface="Arial"/>
              </a:defRPr>
            </a:defPPr>
            <a:lvl1pPr algn="l">
              <a:defRPr sz="975" b="0">
                <a:solidFill>
                  <a:srgbClr val="D9C99F"/>
                </a:solidFill>
                <a:latin typeface="Arial"/>
                <a:ea typeface="Arial"/>
                <a:cs typeface="Arial"/>
              </a:defRPr>
            </a:lvl1pPr>
            <a:lvl2pPr algn="l">
              <a:defRPr sz="975" b="0">
                <a:solidFill>
                  <a:srgbClr val="D9C99F"/>
                </a:solidFill>
                <a:latin typeface="Arial"/>
                <a:ea typeface="Arial"/>
                <a:cs typeface="Arial"/>
              </a:defRPr>
            </a:lvl2pPr>
            <a:lvl3pPr algn="l">
              <a:defRPr sz="975" b="0">
                <a:solidFill>
                  <a:srgbClr val="D9C99F"/>
                </a:solidFill>
                <a:latin typeface="Arial"/>
                <a:ea typeface="Arial"/>
                <a:cs typeface="Arial"/>
              </a:defRPr>
            </a:lvl3pPr>
            <a:lvl4pPr algn="l">
              <a:defRPr sz="975" b="0">
                <a:solidFill>
                  <a:srgbClr val="D9C99F"/>
                </a:solidFill>
                <a:latin typeface="Arial"/>
                <a:ea typeface="Arial"/>
                <a:cs typeface="Arial"/>
              </a:defRPr>
            </a:lvl4pPr>
            <a:lvl5pPr algn="l">
              <a:defRPr sz="975" b="0">
                <a:solidFill>
                  <a:srgbClr val="D9C99F"/>
                </a:solidFill>
                <a:latin typeface="Arial"/>
                <a:ea typeface="Arial"/>
                <a:cs typeface="Arial"/>
              </a:defRPr>
            </a:lvl5pPr>
            <a:lvl6pPr algn="l">
              <a:defRPr sz="975" b="0">
                <a:solidFill>
                  <a:srgbClr val="D9C99F"/>
                </a:solidFill>
                <a:latin typeface="Arial"/>
                <a:ea typeface="Arial"/>
                <a:cs typeface="Arial"/>
              </a:defRPr>
            </a:lvl6pPr>
            <a:lvl7pPr algn="l">
              <a:defRPr sz="975" b="0">
                <a:solidFill>
                  <a:srgbClr val="D9C99F"/>
                </a:solidFill>
                <a:latin typeface="Arial"/>
                <a:ea typeface="Arial"/>
                <a:cs typeface="Arial"/>
              </a:defRPr>
            </a:lvl7pPr>
            <a:lvl8pPr algn="l">
              <a:defRPr sz="975" b="0">
                <a:solidFill>
                  <a:srgbClr val="D9C99F"/>
                </a:solidFill>
                <a:latin typeface="Arial"/>
                <a:ea typeface="Arial"/>
                <a:cs typeface="Arial"/>
              </a:defRPr>
            </a:lvl8pPr>
            <a:lvl9pPr algn="l">
              <a:defRPr sz="975" b="0">
                <a:solidFill>
                  <a:srgbClr val="D9C99F"/>
                </a:solidFill>
                <a:latin typeface="Arial"/>
                <a:ea typeface="Arial"/>
                <a:cs typeface="Arial"/>
              </a:defRPr>
            </a:lvl9pPr>
          </a:lstStyle>
          <a:p xmlns:a="http://schemas.openxmlformats.org/drawingml/2006/main">
            <a:pPr algn="l">
              <a:defRPr sz="975" b="0">
                <a:solidFill>
                  <a:srgbClr val="D9C99F"/>
                </a:solidFill>
                <a:latin typeface="Arial"/>
                <a:ea typeface="Arial"/>
                <a:cs typeface="Arial"/>
              </a:defRPr>
            </a:pPr>
            <a:r>
              <a:rPr sz="975" b="0">
                <a:solidFill>
                  <a:srgbClr val="D9C99F"/>
                </a:solidFill>
                <a:latin typeface="Arial"/>
                <a:ea typeface="Arial"/>
                <a:cs typeface="Arial"/>
              </a:rPr>
              <a:t>Model wording cannot change the computed action.</a:t>
            </a:r>
          </a:p>
        </p:txBody>
      </p:sp>
      <p:sp>
        <p:nvSpPr>
          <p:cNvPr id="22" name="guardrail-caption">
            <a:extLst xmlns:a="http://schemas.openxmlformats.org/drawingml/2006/main">
              <a:ext uri="{FF2B5EF4-FFF2-40B4-BE49-F238E27FC236}">
                <a16:creationId xmlns:a16="http://schemas.microsoft.com/office/drawing/2014/main" id="{11F778F3-57F0-4E56-9A99-962AED7BF087}"/>
              </a:ext>
            </a:extLst>
          </p:cNvPr>
          <p:cNvSpPr>
            <a:spLocks xmlns:a="http://schemas.openxmlformats.org/drawingml/2006/main" noGrp="1"/>
          </p:cNvSpPr>
          <p:nvPr/>
        </p:nvSpPr>
        <p:spPr>
          <a:xfrm xmlns:a="http://schemas.openxmlformats.org/drawingml/2006/main">
            <a:off x="6429375" y="5553075"/>
            <a:ext cx="49815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082"/>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Expected value uses a fixed-seed simulation over the cleaned price band and storage-loss distribution. Cash needs reduce the value of options that do not raise cash today.</a:t>
            </a:r>
          </a:p>
        </p:txBody>
      </p:sp>
    </p:spTree>
    <p:extLst>
      <p:ext uri="{BB962C8B-B14F-4D97-AF65-F5344CB8AC3E}">
        <p14:creationId xmlns:p14="http://schemas.microsoft.com/office/powerpoint/2010/main" val="410333913"/>
      </p:ext>
    </p:extLst>
  </p:cSld>
</p:sld>
</file>

<file path=ppt/slides/slide5.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8" name="slide-5-index">
            <a:extLst xmlns:a="http://schemas.openxmlformats.org/drawingml/2006/main">
              <a:ext uri="{FF2B5EF4-FFF2-40B4-BE49-F238E27FC236}">
                <a16:creationId xmlns:a16="http://schemas.microsoft.com/office/drawing/2014/main" id="{96A9705A-80FB-46FE-8573-D7B7863EBA6D}"/>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05</a:t>
            </a:r>
          </a:p>
        </p:txBody>
      </p:sp>
      <p:sp>
        <p:nvSpPr>
          <p:cNvPr id="2" name="slide-5-title">
            <a:extLst xmlns:a="http://schemas.openxmlformats.org/drawingml/2006/main">
              <a:ext uri="{FF2B5EF4-FFF2-40B4-BE49-F238E27FC236}">
                <a16:creationId xmlns:a16="http://schemas.microsoft.com/office/drawing/2014/main" id="{EE4EE31F-9D12-4C1D-B830-DA6A229790F2}"/>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One request, a decision record</a:t>
            </a:r>
          </a:p>
        </p:txBody>
      </p:sp>
      <p:sp>
        <p:nvSpPr>
          <p:cNvPr id="3" name="slide-5-subtitle">
            <a:extLst xmlns:a="http://schemas.openxmlformats.org/drawingml/2006/main">
              <a:ext uri="{FF2B5EF4-FFF2-40B4-BE49-F238E27FC236}">
                <a16:creationId xmlns:a16="http://schemas.microsoft.com/office/drawing/2014/main" id="{C3BBAE16-A7B7-4197-BA68-9DD21D8DBFD5}"/>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UI sends the same fields the service validates and shows the returned evidence.</a:t>
            </a:r>
          </a:p>
        </p:txBody>
      </p:sp>
      <p:sp>
        <p:nvSpPr>
          <p:cNvPr id="4" name="slide-5-header-rule">
            <a:extLst xmlns:a="http://schemas.openxmlformats.org/drawingml/2006/main">
              <a:ext uri="{FF2B5EF4-FFF2-40B4-BE49-F238E27FC236}">
                <a16:creationId xmlns:a16="http://schemas.microsoft.com/office/drawing/2014/main" id="{A39853F3-19F3-4F29-8C0D-B87EEE2F8F4F}"/>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product-input-eyebrow">
            <a:extLst xmlns:a="http://schemas.openxmlformats.org/drawingml/2006/main">
              <a:ext uri="{FF2B5EF4-FFF2-40B4-BE49-F238E27FC236}">
                <a16:creationId xmlns:a16="http://schemas.microsoft.com/office/drawing/2014/main" id="{50BDE59F-2EFF-404F-AAFA-3320203B5D49}"/>
              </a:ext>
            </a:extLst>
          </p:cNvPr>
          <p:cNvSpPr>
            <a:spLocks xmlns:a="http://schemas.openxmlformats.org/drawingml/2006/main" noGrp="1"/>
          </p:cNvSpPr>
          <p:nvPr/>
        </p:nvSpPr>
        <p:spPr>
          <a:xfrm xmlns:a="http://schemas.openxmlformats.org/drawingml/2006/main">
            <a:off x="781050" y="247650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FARMER INPUT</a:t>
            </a:r>
          </a:p>
        </p:txBody>
      </p:sp>
      <p:sp>
        <p:nvSpPr>
          <p:cNvPr id="6" name="product-input-title">
            <a:extLst xmlns:a="http://schemas.openxmlformats.org/drawingml/2006/main">
              <a:ext uri="{FF2B5EF4-FFF2-40B4-BE49-F238E27FC236}">
                <a16:creationId xmlns:a16="http://schemas.microsoft.com/office/drawing/2014/main" id="{2FB09B5B-71E6-4391-B9EA-724D01649B48}"/>
              </a:ext>
            </a:extLst>
          </p:cNvPr>
          <p:cNvSpPr>
            <a:spLocks xmlns:a="http://schemas.openxmlformats.org/drawingml/2006/main" noGrp="1"/>
          </p:cNvSpPr>
          <p:nvPr/>
        </p:nvSpPr>
        <p:spPr>
          <a:xfrm xmlns:a="http://schemas.openxmlformats.org/drawingml/2006/main">
            <a:off x="781050" y="2819400"/>
            <a:ext cx="4143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183525"/>
                </a:solidFill>
                <a:latin typeface="Georgia"/>
                <a:ea typeface="Georgia"/>
                <a:cs typeface="Georgia"/>
              </a:defRPr>
            </a:defPPr>
            <a:lvl1pPr algn="l">
              <a:defRPr sz="2250" b="0">
                <a:solidFill>
                  <a:srgbClr val="183525"/>
                </a:solidFill>
                <a:latin typeface="Georgia"/>
                <a:ea typeface="Georgia"/>
                <a:cs typeface="Georgia"/>
              </a:defRPr>
            </a:lvl1pPr>
            <a:lvl2pPr algn="l">
              <a:defRPr sz="2250" b="0">
                <a:solidFill>
                  <a:srgbClr val="183525"/>
                </a:solidFill>
                <a:latin typeface="Georgia"/>
                <a:ea typeface="Georgia"/>
                <a:cs typeface="Georgia"/>
              </a:defRPr>
            </a:lvl2pPr>
            <a:lvl3pPr algn="l">
              <a:defRPr sz="2250" b="0">
                <a:solidFill>
                  <a:srgbClr val="183525"/>
                </a:solidFill>
                <a:latin typeface="Georgia"/>
                <a:ea typeface="Georgia"/>
                <a:cs typeface="Georgia"/>
              </a:defRPr>
            </a:lvl3pPr>
            <a:lvl4pPr algn="l">
              <a:defRPr sz="2250" b="0">
                <a:solidFill>
                  <a:srgbClr val="183525"/>
                </a:solidFill>
                <a:latin typeface="Georgia"/>
                <a:ea typeface="Georgia"/>
                <a:cs typeface="Georgia"/>
              </a:defRPr>
            </a:lvl4pPr>
            <a:lvl5pPr algn="l">
              <a:defRPr sz="2250" b="0">
                <a:solidFill>
                  <a:srgbClr val="183525"/>
                </a:solidFill>
                <a:latin typeface="Georgia"/>
                <a:ea typeface="Georgia"/>
                <a:cs typeface="Georgia"/>
              </a:defRPr>
            </a:lvl5pPr>
            <a:lvl6pPr algn="l">
              <a:defRPr sz="2250" b="0">
                <a:solidFill>
                  <a:srgbClr val="183525"/>
                </a:solidFill>
                <a:latin typeface="Georgia"/>
                <a:ea typeface="Georgia"/>
                <a:cs typeface="Georgia"/>
              </a:defRPr>
            </a:lvl6pPr>
            <a:lvl7pPr algn="l">
              <a:defRPr sz="2250" b="0">
                <a:solidFill>
                  <a:srgbClr val="183525"/>
                </a:solidFill>
                <a:latin typeface="Georgia"/>
                <a:ea typeface="Georgia"/>
                <a:cs typeface="Georgia"/>
              </a:defRPr>
            </a:lvl7pPr>
            <a:lvl8pPr algn="l">
              <a:defRPr sz="2250" b="0">
                <a:solidFill>
                  <a:srgbClr val="183525"/>
                </a:solidFill>
                <a:latin typeface="Georgia"/>
                <a:ea typeface="Georgia"/>
                <a:cs typeface="Georgia"/>
              </a:defRPr>
            </a:lvl8pPr>
            <a:lvl9pPr algn="l">
              <a:defRPr sz="2250" b="0">
                <a:solidFill>
                  <a:srgbClr val="183525"/>
                </a:solidFill>
                <a:latin typeface="Georgia"/>
                <a:ea typeface="Georgia"/>
                <a:cs typeface="Georgia"/>
              </a:defRPr>
            </a:lvl9pPr>
          </a:lstStyle>
          <a:p xmlns:a="http://schemas.openxmlformats.org/drawingml/2006/main">
            <a:pPr algn="l">
              <a:defRPr sz="2250" b="0">
                <a:solidFill>
                  <a:srgbClr val="183525"/>
                </a:solidFill>
                <a:latin typeface="Georgia"/>
                <a:ea typeface="Georgia"/>
                <a:cs typeface="Georgia"/>
              </a:defRPr>
            </a:pPr>
            <a:r>
              <a:rPr sz="2250" b="0">
                <a:solidFill>
                  <a:srgbClr val="183525"/>
                </a:solidFill>
                <a:latin typeface="Georgia"/>
                <a:ea typeface="Georgia"/>
                <a:cs typeface="Georgia"/>
              </a:rPr>
              <a:t>Describe the lot</a:t>
            </a:r>
          </a:p>
        </p:txBody>
      </p:sp>
      <p:sp>
        <p:nvSpPr>
          <p:cNvPr id="7" name="product-input-copy">
            <a:extLst xmlns:a="http://schemas.openxmlformats.org/drawingml/2006/main">
              <a:ext uri="{FF2B5EF4-FFF2-40B4-BE49-F238E27FC236}">
                <a16:creationId xmlns:a16="http://schemas.microsoft.com/office/drawing/2014/main" id="{E2FFBA2F-60C8-4EF5-9F7A-1B4F671C29CC}"/>
              </a:ext>
            </a:extLst>
          </p:cNvPr>
          <p:cNvSpPr>
            <a:spLocks xmlns:a="http://schemas.openxmlformats.org/drawingml/2006/main" noGrp="1"/>
          </p:cNvSpPr>
          <p:nvPr/>
        </p:nvSpPr>
        <p:spPr>
          <a:xfrm xmlns:a="http://schemas.openxmlformats.org/drawingml/2006/main">
            <a:off x="781050" y="3448050"/>
            <a:ext cx="3857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Farmer record ID</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County and number of 90 kg bags</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Storage type</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Optional buyer offer and cash need</a:t>
            </a:r>
          </a:p>
        </p:txBody>
      </p:sp>
      <p:sp>
        <p:nvSpPr>
          <p:cNvPr id="8" name="product-mid-rule">
            <a:extLst xmlns:a="http://schemas.openxmlformats.org/drawingml/2006/main">
              <a:ext uri="{FF2B5EF4-FFF2-40B4-BE49-F238E27FC236}">
                <a16:creationId xmlns:a16="http://schemas.microsoft.com/office/drawing/2014/main" id="{32A5C8B7-F7AB-4C90-B21F-FE9B23625F85}"/>
              </a:ext>
            </a:extLst>
          </p:cNvPr>
          <p:cNvSpPr>
            <a:spLocks xmlns:a="http://schemas.openxmlformats.org/drawingml/2006/main" noGrp="1"/>
          </p:cNvSpPr>
          <p:nvPr/>
        </p:nvSpPr>
        <p:spPr>
          <a:xfrm xmlns:a="http://schemas.openxmlformats.org/drawingml/2006/main">
            <a:off x="5372100" y="2447925"/>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product-output-eyebrow">
            <a:extLst xmlns:a="http://schemas.openxmlformats.org/drawingml/2006/main">
              <a:ext uri="{FF2B5EF4-FFF2-40B4-BE49-F238E27FC236}">
                <a16:creationId xmlns:a16="http://schemas.microsoft.com/office/drawing/2014/main" id="{BFBB99D1-D249-4B29-B9AA-5D3DBF5920CB}"/>
              </a:ext>
            </a:extLst>
          </p:cNvPr>
          <p:cNvSpPr>
            <a:spLocks xmlns:a="http://schemas.openxmlformats.org/drawingml/2006/main" noGrp="1"/>
          </p:cNvSpPr>
          <p:nvPr/>
        </p:nvSpPr>
        <p:spPr>
          <a:xfrm xmlns:a="http://schemas.openxmlformats.org/drawingml/2006/main">
            <a:off x="5876925" y="24765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RETURNED BY THE SERVICE</a:t>
            </a:r>
          </a:p>
        </p:txBody>
      </p:sp>
      <p:sp>
        <p:nvSpPr>
          <p:cNvPr id="10" name="product-output-title">
            <a:extLst xmlns:a="http://schemas.openxmlformats.org/drawingml/2006/main">
              <a:ext uri="{FF2B5EF4-FFF2-40B4-BE49-F238E27FC236}">
                <a16:creationId xmlns:a16="http://schemas.microsoft.com/office/drawing/2014/main" id="{8B5C2949-9232-46B5-B2E6-69E7C8CA1CE6}"/>
              </a:ext>
            </a:extLst>
          </p:cNvPr>
          <p:cNvSpPr>
            <a:spLocks xmlns:a="http://schemas.openxmlformats.org/drawingml/2006/main" noGrp="1"/>
          </p:cNvSpPr>
          <p:nvPr/>
        </p:nvSpPr>
        <p:spPr>
          <a:xfrm xmlns:a="http://schemas.openxmlformats.org/drawingml/2006/main">
            <a:off x="5876925" y="2819400"/>
            <a:ext cx="50958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183525"/>
                </a:solidFill>
                <a:latin typeface="Georgia"/>
                <a:ea typeface="Georgia"/>
                <a:cs typeface="Georgia"/>
              </a:defRPr>
            </a:defPPr>
            <a:lvl1pPr algn="l">
              <a:defRPr sz="2250" b="0">
                <a:solidFill>
                  <a:srgbClr val="183525"/>
                </a:solidFill>
                <a:latin typeface="Georgia"/>
                <a:ea typeface="Georgia"/>
                <a:cs typeface="Georgia"/>
              </a:defRPr>
            </a:lvl1pPr>
            <a:lvl2pPr algn="l">
              <a:defRPr sz="2250" b="0">
                <a:solidFill>
                  <a:srgbClr val="183525"/>
                </a:solidFill>
                <a:latin typeface="Georgia"/>
                <a:ea typeface="Georgia"/>
                <a:cs typeface="Georgia"/>
              </a:defRPr>
            </a:lvl2pPr>
            <a:lvl3pPr algn="l">
              <a:defRPr sz="2250" b="0">
                <a:solidFill>
                  <a:srgbClr val="183525"/>
                </a:solidFill>
                <a:latin typeface="Georgia"/>
                <a:ea typeface="Georgia"/>
                <a:cs typeface="Georgia"/>
              </a:defRPr>
            </a:lvl3pPr>
            <a:lvl4pPr algn="l">
              <a:defRPr sz="2250" b="0">
                <a:solidFill>
                  <a:srgbClr val="183525"/>
                </a:solidFill>
                <a:latin typeface="Georgia"/>
                <a:ea typeface="Georgia"/>
                <a:cs typeface="Georgia"/>
              </a:defRPr>
            </a:lvl4pPr>
            <a:lvl5pPr algn="l">
              <a:defRPr sz="2250" b="0">
                <a:solidFill>
                  <a:srgbClr val="183525"/>
                </a:solidFill>
                <a:latin typeface="Georgia"/>
                <a:ea typeface="Georgia"/>
                <a:cs typeface="Georgia"/>
              </a:defRPr>
            </a:lvl5pPr>
            <a:lvl6pPr algn="l">
              <a:defRPr sz="2250" b="0">
                <a:solidFill>
                  <a:srgbClr val="183525"/>
                </a:solidFill>
                <a:latin typeface="Georgia"/>
                <a:ea typeface="Georgia"/>
                <a:cs typeface="Georgia"/>
              </a:defRPr>
            </a:lvl6pPr>
            <a:lvl7pPr algn="l">
              <a:defRPr sz="2250" b="0">
                <a:solidFill>
                  <a:srgbClr val="183525"/>
                </a:solidFill>
                <a:latin typeface="Georgia"/>
                <a:ea typeface="Georgia"/>
                <a:cs typeface="Georgia"/>
              </a:defRPr>
            </a:lvl7pPr>
            <a:lvl8pPr algn="l">
              <a:defRPr sz="2250" b="0">
                <a:solidFill>
                  <a:srgbClr val="183525"/>
                </a:solidFill>
                <a:latin typeface="Georgia"/>
                <a:ea typeface="Georgia"/>
                <a:cs typeface="Georgia"/>
              </a:defRPr>
            </a:lvl8pPr>
            <a:lvl9pPr algn="l">
              <a:defRPr sz="2250" b="0">
                <a:solidFill>
                  <a:srgbClr val="183525"/>
                </a:solidFill>
                <a:latin typeface="Georgia"/>
                <a:ea typeface="Georgia"/>
                <a:cs typeface="Georgia"/>
              </a:defRPr>
            </a:lvl9pPr>
          </a:lstStyle>
          <a:p xmlns:a="http://schemas.openxmlformats.org/drawingml/2006/main">
            <a:pPr algn="l">
              <a:defRPr sz="2250" b="0">
                <a:solidFill>
                  <a:srgbClr val="183525"/>
                </a:solidFill>
                <a:latin typeface="Georgia"/>
                <a:ea typeface="Georgia"/>
                <a:cs typeface="Georgia"/>
              </a:defRPr>
            </a:pPr>
            <a:r>
              <a:rPr sz="2250" b="0">
                <a:solidFill>
                  <a:srgbClr val="183525"/>
                </a:solidFill>
                <a:latin typeface="Georgia"/>
                <a:ea typeface="Georgia"/>
                <a:cs typeface="Georgia"/>
              </a:rPr>
              <a:t>See how it reached the answer</a:t>
            </a:r>
          </a:p>
        </p:txBody>
      </p:sp>
      <p:sp>
        <p:nvSpPr>
          <p:cNvPr id="11" name="product-output-01-number">
            <a:extLst xmlns:a="http://schemas.openxmlformats.org/drawingml/2006/main">
              <a:ext uri="{FF2B5EF4-FFF2-40B4-BE49-F238E27FC236}">
                <a16:creationId xmlns:a16="http://schemas.microsoft.com/office/drawing/2014/main" id="{8EB94B6C-8BC7-46A8-88F3-21D764C7B6FE}"/>
              </a:ext>
            </a:extLst>
          </p:cNvPr>
          <p:cNvSpPr>
            <a:spLocks xmlns:a="http://schemas.openxmlformats.org/drawingml/2006/main" noGrp="1"/>
          </p:cNvSpPr>
          <p:nvPr/>
        </p:nvSpPr>
        <p:spPr>
          <a:xfrm xmlns:a="http://schemas.openxmlformats.org/drawingml/2006/main">
            <a:off x="5886450" y="348615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01</a:t>
            </a:r>
          </a:p>
        </p:txBody>
      </p:sp>
      <p:sp>
        <p:nvSpPr>
          <p:cNvPr id="12" name="product-output-01-title">
            <a:extLst xmlns:a="http://schemas.openxmlformats.org/drawingml/2006/main">
              <a:ext uri="{FF2B5EF4-FFF2-40B4-BE49-F238E27FC236}">
                <a16:creationId xmlns:a16="http://schemas.microsoft.com/office/drawing/2014/main" id="{2E6D7AD0-80CF-454E-87FF-2E1BADE03BE3}"/>
              </a:ext>
            </a:extLst>
          </p:cNvPr>
          <p:cNvSpPr>
            <a:spLocks xmlns:a="http://schemas.openxmlformats.org/drawingml/2006/main" noGrp="1"/>
          </p:cNvSpPr>
          <p:nvPr/>
        </p:nvSpPr>
        <p:spPr>
          <a:xfrm xmlns:a="http://schemas.openxmlformats.org/drawingml/2006/main">
            <a:off x="6315075" y="3486150"/>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Decision values</a:t>
            </a:r>
          </a:p>
        </p:txBody>
      </p:sp>
      <p:sp>
        <p:nvSpPr>
          <p:cNvPr id="13" name="product-output-01-body">
            <a:extLst xmlns:a="http://schemas.openxmlformats.org/drawingml/2006/main">
              <a:ext uri="{FF2B5EF4-FFF2-40B4-BE49-F238E27FC236}">
                <a16:creationId xmlns:a16="http://schemas.microsoft.com/office/drawing/2014/main" id="{5FB949A1-C4C6-4C82-BFD8-81D675D1BAE6}"/>
              </a:ext>
            </a:extLst>
          </p:cNvPr>
          <p:cNvSpPr>
            <a:spLocks xmlns:a="http://schemas.openxmlformats.org/drawingml/2006/main" noGrp="1"/>
          </p:cNvSpPr>
          <p:nvPr/>
        </p:nvSpPr>
        <p:spPr>
          <a:xfrm xmlns:a="http://schemas.openxmlformats.org/drawingml/2006/main">
            <a:off x="8105775" y="34861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Modeled sell, hold and split values</a:t>
            </a:r>
          </a:p>
        </p:txBody>
      </p:sp>
      <p:sp>
        <p:nvSpPr>
          <p:cNvPr id="14" name="product-output-01-rule">
            <a:extLst xmlns:a="http://schemas.openxmlformats.org/drawingml/2006/main">
              <a:ext uri="{FF2B5EF4-FFF2-40B4-BE49-F238E27FC236}">
                <a16:creationId xmlns:a16="http://schemas.microsoft.com/office/drawing/2014/main" id="{85C9EA75-6DB6-40DE-BD85-194D583940AF}"/>
              </a:ext>
            </a:extLst>
          </p:cNvPr>
          <p:cNvSpPr>
            <a:spLocks xmlns:a="http://schemas.openxmlformats.org/drawingml/2006/main" noGrp="1"/>
          </p:cNvSpPr>
          <p:nvPr/>
        </p:nvSpPr>
        <p:spPr>
          <a:xfrm xmlns:a="http://schemas.openxmlformats.org/drawingml/2006/main">
            <a:off x="5886450" y="3905250"/>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5" name="product-output-02-number">
            <a:extLst xmlns:a="http://schemas.openxmlformats.org/drawingml/2006/main">
              <a:ext uri="{FF2B5EF4-FFF2-40B4-BE49-F238E27FC236}">
                <a16:creationId xmlns:a16="http://schemas.microsoft.com/office/drawing/2014/main" id="{225B3E1A-1F9C-463E-BCF2-B9FFEC75567E}"/>
              </a:ext>
            </a:extLst>
          </p:cNvPr>
          <p:cNvSpPr>
            <a:spLocks xmlns:a="http://schemas.openxmlformats.org/drawingml/2006/main" noGrp="1"/>
          </p:cNvSpPr>
          <p:nvPr/>
        </p:nvSpPr>
        <p:spPr>
          <a:xfrm xmlns:a="http://schemas.openxmlformats.org/drawingml/2006/main">
            <a:off x="5886450" y="408622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02</a:t>
            </a:r>
          </a:p>
        </p:txBody>
      </p:sp>
      <p:sp>
        <p:nvSpPr>
          <p:cNvPr id="16" name="product-output-02-title">
            <a:extLst xmlns:a="http://schemas.openxmlformats.org/drawingml/2006/main">
              <a:ext uri="{FF2B5EF4-FFF2-40B4-BE49-F238E27FC236}">
                <a16:creationId xmlns:a16="http://schemas.microsoft.com/office/drawing/2014/main" id="{A084E838-F9D0-4A2E-97CA-563AE9A48890}"/>
              </a:ext>
            </a:extLst>
          </p:cNvPr>
          <p:cNvSpPr>
            <a:spLocks xmlns:a="http://schemas.openxmlformats.org/drawingml/2006/main" noGrp="1"/>
          </p:cNvSpPr>
          <p:nvPr/>
        </p:nvSpPr>
        <p:spPr>
          <a:xfrm xmlns:a="http://schemas.openxmlformats.org/drawingml/2006/main">
            <a:off x="6315075" y="4086225"/>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Price band</a:t>
            </a:r>
          </a:p>
        </p:txBody>
      </p:sp>
      <p:sp>
        <p:nvSpPr>
          <p:cNvPr id="17" name="product-output-02-body">
            <a:extLst xmlns:a="http://schemas.openxmlformats.org/drawingml/2006/main">
              <a:ext uri="{FF2B5EF4-FFF2-40B4-BE49-F238E27FC236}">
                <a16:creationId xmlns:a16="http://schemas.microsoft.com/office/drawing/2014/main" id="{D7A89DEE-49C8-4E5D-BC60-5EB57E947E6F}"/>
              </a:ext>
            </a:extLst>
          </p:cNvPr>
          <p:cNvSpPr>
            <a:spLocks xmlns:a="http://schemas.openxmlformats.org/drawingml/2006/main" noGrp="1"/>
          </p:cNvSpPr>
          <p:nvPr/>
        </p:nvSpPr>
        <p:spPr>
          <a:xfrm xmlns:a="http://schemas.openxmlformats.org/drawingml/2006/main">
            <a:off x="8105775" y="40862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P10, P50 and P90 per 90 kg bag</a:t>
            </a:r>
          </a:p>
        </p:txBody>
      </p:sp>
      <p:sp>
        <p:nvSpPr>
          <p:cNvPr id="18" name="product-output-02-rule">
            <a:extLst xmlns:a="http://schemas.openxmlformats.org/drawingml/2006/main">
              <a:ext uri="{FF2B5EF4-FFF2-40B4-BE49-F238E27FC236}">
                <a16:creationId xmlns:a16="http://schemas.microsoft.com/office/drawing/2014/main" id="{9148A417-4B5C-49B6-BC92-6B409393811E}"/>
              </a:ext>
            </a:extLst>
          </p:cNvPr>
          <p:cNvSpPr>
            <a:spLocks xmlns:a="http://schemas.openxmlformats.org/drawingml/2006/main" noGrp="1"/>
          </p:cNvSpPr>
          <p:nvPr/>
        </p:nvSpPr>
        <p:spPr>
          <a:xfrm xmlns:a="http://schemas.openxmlformats.org/drawingml/2006/main">
            <a:off x="5886450" y="4505325"/>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9" name="product-output-03-number">
            <a:extLst xmlns:a="http://schemas.openxmlformats.org/drawingml/2006/main">
              <a:ext uri="{FF2B5EF4-FFF2-40B4-BE49-F238E27FC236}">
                <a16:creationId xmlns:a16="http://schemas.microsoft.com/office/drawing/2014/main" id="{A888C284-A3FD-4334-85C3-D8456D30997B}"/>
              </a:ext>
            </a:extLst>
          </p:cNvPr>
          <p:cNvSpPr>
            <a:spLocks xmlns:a="http://schemas.openxmlformats.org/drawingml/2006/main" noGrp="1"/>
          </p:cNvSpPr>
          <p:nvPr/>
        </p:nvSpPr>
        <p:spPr>
          <a:xfrm xmlns:a="http://schemas.openxmlformats.org/drawingml/2006/main">
            <a:off x="5886450" y="468630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03</a:t>
            </a:r>
          </a:p>
        </p:txBody>
      </p:sp>
      <p:sp>
        <p:nvSpPr>
          <p:cNvPr id="20" name="product-output-03-title">
            <a:extLst xmlns:a="http://schemas.openxmlformats.org/drawingml/2006/main">
              <a:ext uri="{FF2B5EF4-FFF2-40B4-BE49-F238E27FC236}">
                <a16:creationId xmlns:a16="http://schemas.microsoft.com/office/drawing/2014/main" id="{5A0A2464-709F-4AB2-A30C-C58CA2E74CC7}"/>
              </a:ext>
            </a:extLst>
          </p:cNvPr>
          <p:cNvSpPr>
            <a:spLocks xmlns:a="http://schemas.openxmlformats.org/drawingml/2006/main" noGrp="1"/>
          </p:cNvSpPr>
          <p:nvPr/>
        </p:nvSpPr>
        <p:spPr>
          <a:xfrm xmlns:a="http://schemas.openxmlformats.org/drawingml/2006/main">
            <a:off x="6315075" y="4686300"/>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Evidence</a:t>
            </a:r>
          </a:p>
        </p:txBody>
      </p:sp>
      <p:sp>
        <p:nvSpPr>
          <p:cNvPr id="21" name="product-output-03-body">
            <a:extLst xmlns:a="http://schemas.openxmlformats.org/drawingml/2006/main">
              <a:ext uri="{FF2B5EF4-FFF2-40B4-BE49-F238E27FC236}">
                <a16:creationId xmlns:a16="http://schemas.microsoft.com/office/drawing/2014/main" id="{4A58E7C1-7026-423A-A44C-DDBEA985CC40}"/>
              </a:ext>
            </a:extLst>
          </p:cNvPr>
          <p:cNvSpPr>
            <a:spLocks xmlns:a="http://schemas.openxmlformats.org/drawingml/2006/main" noGrp="1"/>
          </p:cNvSpPr>
          <p:nvPr/>
        </p:nvSpPr>
        <p:spPr>
          <a:xfrm xmlns:a="http://schemas.openxmlformats.org/drawingml/2006/main">
            <a:off x="8105775" y="4686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Source, date and freshness</a:t>
            </a:r>
          </a:p>
        </p:txBody>
      </p:sp>
      <p:sp>
        <p:nvSpPr>
          <p:cNvPr id="22" name="product-output-03-rule">
            <a:extLst xmlns:a="http://schemas.openxmlformats.org/drawingml/2006/main">
              <a:ext uri="{FF2B5EF4-FFF2-40B4-BE49-F238E27FC236}">
                <a16:creationId xmlns:a16="http://schemas.microsoft.com/office/drawing/2014/main" id="{9E1BB3CB-1078-4727-9CE8-C7A59B02DBD8}"/>
              </a:ext>
            </a:extLst>
          </p:cNvPr>
          <p:cNvSpPr>
            <a:spLocks xmlns:a="http://schemas.openxmlformats.org/drawingml/2006/main" noGrp="1"/>
          </p:cNvSpPr>
          <p:nvPr/>
        </p:nvSpPr>
        <p:spPr>
          <a:xfrm xmlns:a="http://schemas.openxmlformats.org/drawingml/2006/main">
            <a:off x="5886450" y="5105400"/>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23" name="product-output-04-number">
            <a:extLst xmlns:a="http://schemas.openxmlformats.org/drawingml/2006/main">
              <a:ext uri="{FF2B5EF4-FFF2-40B4-BE49-F238E27FC236}">
                <a16:creationId xmlns:a16="http://schemas.microsoft.com/office/drawing/2014/main" id="{D81A543C-9F89-435B-9953-B648EDA989AF}"/>
              </a:ext>
            </a:extLst>
          </p:cNvPr>
          <p:cNvSpPr>
            <a:spLocks xmlns:a="http://schemas.openxmlformats.org/drawingml/2006/main" noGrp="1"/>
          </p:cNvSpPr>
          <p:nvPr/>
        </p:nvSpPr>
        <p:spPr>
          <a:xfrm xmlns:a="http://schemas.openxmlformats.org/drawingml/2006/main">
            <a:off x="5886450" y="528637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04</a:t>
            </a:r>
          </a:p>
        </p:txBody>
      </p:sp>
      <p:sp>
        <p:nvSpPr>
          <p:cNvPr id="24" name="product-output-04-title">
            <a:extLst xmlns:a="http://schemas.openxmlformats.org/drawingml/2006/main">
              <a:ext uri="{FF2B5EF4-FFF2-40B4-BE49-F238E27FC236}">
                <a16:creationId xmlns:a16="http://schemas.microsoft.com/office/drawing/2014/main" id="{431BE996-C724-4CCD-8987-8134768A73AA}"/>
              </a:ext>
            </a:extLst>
          </p:cNvPr>
          <p:cNvSpPr>
            <a:spLocks xmlns:a="http://schemas.openxmlformats.org/drawingml/2006/main" noGrp="1"/>
          </p:cNvSpPr>
          <p:nvPr/>
        </p:nvSpPr>
        <p:spPr>
          <a:xfrm xmlns:a="http://schemas.openxmlformats.org/drawingml/2006/main">
            <a:off x="6315075" y="5286375"/>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Review record</a:t>
            </a:r>
          </a:p>
        </p:txBody>
      </p:sp>
      <p:sp>
        <p:nvSpPr>
          <p:cNvPr id="25" name="product-output-04-body">
            <a:extLst xmlns:a="http://schemas.openxmlformats.org/drawingml/2006/main">
              <a:ext uri="{FF2B5EF4-FFF2-40B4-BE49-F238E27FC236}">
                <a16:creationId xmlns:a16="http://schemas.microsoft.com/office/drawing/2014/main" id="{79A0751A-D24F-4030-B772-FAA2F8DD7504}"/>
              </a:ext>
            </a:extLst>
          </p:cNvPr>
          <p:cNvSpPr>
            <a:spLocks xmlns:a="http://schemas.openxmlformats.org/drawingml/2006/main" noGrp="1"/>
          </p:cNvSpPr>
          <p:nvPr/>
        </p:nvSpPr>
        <p:spPr>
          <a:xfrm xmlns:a="http://schemas.openxmlformats.org/drawingml/2006/main">
            <a:off x="8105775" y="52863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Agent trace, limitations and recheck timing</a:t>
            </a:r>
          </a:p>
        </p:txBody>
      </p:sp>
      <p:sp>
        <p:nvSpPr>
          <p:cNvPr id="26" name="product-disclaimer-mark">
            <a:extLst xmlns:a="http://schemas.openxmlformats.org/drawingml/2006/main">
              <a:ext uri="{FF2B5EF4-FFF2-40B4-BE49-F238E27FC236}">
                <a16:creationId xmlns:a16="http://schemas.microsoft.com/office/drawing/2014/main" id="{59496B59-C840-4B46-A489-15EAB47A1BDE}"/>
              </a:ext>
            </a:extLst>
          </p:cNvPr>
          <p:cNvSpPr>
            <a:spLocks xmlns:a="http://schemas.openxmlformats.org/drawingml/2006/main" noGrp="1"/>
          </p:cNvSpPr>
          <p:nvPr/>
        </p:nvSpPr>
        <p:spPr>
          <a:xfrm xmlns:a="http://schemas.openxmlformats.org/drawingml/2006/main">
            <a:off x="781050" y="5629275"/>
            <a:ext cx="38100" cy="400050"/>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7" name="product-disclaimer">
            <a:extLst xmlns:a="http://schemas.openxmlformats.org/drawingml/2006/main">
              <a:ext uri="{FF2B5EF4-FFF2-40B4-BE49-F238E27FC236}">
                <a16:creationId xmlns:a16="http://schemas.microsoft.com/office/drawing/2014/main" id="{AB5E2B59-0680-47C7-90CD-505806C9E1AD}"/>
              </a:ext>
            </a:extLst>
          </p:cNvPr>
          <p:cNvSpPr>
            <a:spLocks xmlns:a="http://schemas.openxmlformats.org/drawingml/2006/main" noGrp="1"/>
          </p:cNvSpPr>
          <p:nvPr/>
        </p:nvSpPr>
        <p:spPr>
          <a:xfrm xmlns:a="http://schemas.openxmlformats.org/drawingml/2006/main">
            <a:off x="962025" y="5610225"/>
            <a:ext cx="10096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Decision support only. Modeled values are scenarios, not realized earnings. No trade is placed; sample records are labeled.</a:t>
            </a:r>
          </a:p>
        </p:txBody>
      </p:sp>
    </p:spTree>
    <p:extLst>
      <p:ext uri="{BB962C8B-B14F-4D97-AF65-F5344CB8AC3E}">
        <p14:creationId xmlns:p14="http://schemas.microsoft.com/office/powerpoint/2010/main" val="775405434"/>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3" name="slide-6-index">
            <a:extLst xmlns:a="http://schemas.openxmlformats.org/drawingml/2006/main">
              <a:ext uri="{FF2B5EF4-FFF2-40B4-BE49-F238E27FC236}">
                <a16:creationId xmlns:a16="http://schemas.microsoft.com/office/drawing/2014/main" id="{D185F5A3-6089-4559-82D5-B415A1CC60A0}"/>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06</a:t>
            </a:r>
          </a:p>
        </p:txBody>
      </p:sp>
      <p:sp>
        <p:nvSpPr>
          <p:cNvPr id="2" name="slide-6-title">
            <a:extLst xmlns:a="http://schemas.openxmlformats.org/drawingml/2006/main">
              <a:ext uri="{FF2B5EF4-FFF2-40B4-BE49-F238E27FC236}">
                <a16:creationId xmlns:a16="http://schemas.microsoft.com/office/drawing/2014/main" id="{A673F6F2-7559-4846-B2B0-D69E2941754E}"/>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Sponsor tools support the working loop</a:t>
            </a:r>
          </a:p>
        </p:txBody>
      </p:sp>
      <p:sp>
        <p:nvSpPr>
          <p:cNvPr id="3" name="slide-6-subtitle">
            <a:extLst xmlns:a="http://schemas.openxmlformats.org/drawingml/2006/main">
              <a:ext uri="{FF2B5EF4-FFF2-40B4-BE49-F238E27FC236}">
                <a16:creationId xmlns:a16="http://schemas.microsoft.com/office/drawing/2014/main" id="{649507A4-16E3-4C4B-9625-C4E9DF6C182F}"/>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distinctive part is how evidence, memory and review govern the recommendation.</a:t>
            </a:r>
          </a:p>
        </p:txBody>
      </p:sp>
      <p:sp>
        <p:nvSpPr>
          <p:cNvPr id="4" name="slide-6-header-rule">
            <a:extLst xmlns:a="http://schemas.openxmlformats.org/drawingml/2006/main">
              <a:ext uri="{FF2B5EF4-FFF2-40B4-BE49-F238E27FC236}">
                <a16:creationId xmlns:a16="http://schemas.microsoft.com/office/drawing/2014/main" id="{C1D716A6-2BCD-42B8-827D-90E9579EEFEB}"/>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tech-1-mark">
            <a:extLst xmlns:a="http://schemas.openxmlformats.org/drawingml/2006/main">
              <a:ext uri="{FF2B5EF4-FFF2-40B4-BE49-F238E27FC236}">
                <a16:creationId xmlns:a16="http://schemas.microsoft.com/office/drawing/2014/main" id="{20833136-C24C-4F66-94B6-D34E7AEEF33F}"/>
              </a:ext>
            </a:extLst>
          </p:cNvPr>
          <p:cNvSpPr>
            <a:spLocks xmlns:a="http://schemas.openxmlformats.org/drawingml/2006/main" noGrp="1"/>
          </p:cNvSpPr>
          <p:nvPr/>
        </p:nvSpPr>
        <p:spPr>
          <a:xfrm xmlns:a="http://schemas.openxmlformats.org/drawingml/2006/main">
            <a:off x="790575" y="240030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44724E"/>
                </a:solidFill>
                <a:latin typeface="Arial"/>
                <a:ea typeface="Arial"/>
                <a:cs typeface="Arial"/>
              </a:defRPr>
            </a:defPPr>
            <a:lvl1pPr algn="l">
              <a:defRPr sz="825" b="1">
                <a:solidFill>
                  <a:srgbClr val="44724E"/>
                </a:solidFill>
                <a:latin typeface="Arial"/>
                <a:ea typeface="Arial"/>
                <a:cs typeface="Arial"/>
              </a:defRPr>
            </a:lvl1pPr>
            <a:lvl2pPr algn="l">
              <a:defRPr sz="825" b="1">
                <a:solidFill>
                  <a:srgbClr val="44724E"/>
                </a:solidFill>
                <a:latin typeface="Arial"/>
                <a:ea typeface="Arial"/>
                <a:cs typeface="Arial"/>
              </a:defRPr>
            </a:lvl2pPr>
            <a:lvl3pPr algn="l">
              <a:defRPr sz="825" b="1">
                <a:solidFill>
                  <a:srgbClr val="44724E"/>
                </a:solidFill>
                <a:latin typeface="Arial"/>
                <a:ea typeface="Arial"/>
                <a:cs typeface="Arial"/>
              </a:defRPr>
            </a:lvl3pPr>
            <a:lvl4pPr algn="l">
              <a:defRPr sz="825" b="1">
                <a:solidFill>
                  <a:srgbClr val="44724E"/>
                </a:solidFill>
                <a:latin typeface="Arial"/>
                <a:ea typeface="Arial"/>
                <a:cs typeface="Arial"/>
              </a:defRPr>
            </a:lvl4pPr>
            <a:lvl5pPr algn="l">
              <a:defRPr sz="825" b="1">
                <a:solidFill>
                  <a:srgbClr val="44724E"/>
                </a:solidFill>
                <a:latin typeface="Arial"/>
                <a:ea typeface="Arial"/>
                <a:cs typeface="Arial"/>
              </a:defRPr>
            </a:lvl5pPr>
            <a:lvl6pPr algn="l">
              <a:defRPr sz="825" b="1">
                <a:solidFill>
                  <a:srgbClr val="44724E"/>
                </a:solidFill>
                <a:latin typeface="Arial"/>
                <a:ea typeface="Arial"/>
                <a:cs typeface="Arial"/>
              </a:defRPr>
            </a:lvl6pPr>
            <a:lvl7pPr algn="l">
              <a:defRPr sz="825" b="1">
                <a:solidFill>
                  <a:srgbClr val="44724E"/>
                </a:solidFill>
                <a:latin typeface="Arial"/>
                <a:ea typeface="Arial"/>
                <a:cs typeface="Arial"/>
              </a:defRPr>
            </a:lvl7pPr>
            <a:lvl8pPr algn="l">
              <a:defRPr sz="825" b="1">
                <a:solidFill>
                  <a:srgbClr val="44724E"/>
                </a:solidFill>
                <a:latin typeface="Arial"/>
                <a:ea typeface="Arial"/>
                <a:cs typeface="Arial"/>
              </a:defRPr>
            </a:lvl8pPr>
            <a:lvl9pPr algn="l">
              <a:defRPr sz="825" b="1">
                <a:solidFill>
                  <a:srgbClr val="44724E"/>
                </a:solidFill>
                <a:latin typeface="Arial"/>
                <a:ea typeface="Arial"/>
                <a:cs typeface="Arial"/>
              </a:defRPr>
            </a:lvl9pPr>
          </a:lstStyle>
          <a:p xmlns:a="http://schemas.openxmlformats.org/drawingml/2006/main">
            <a:pPr algn="l">
              <a:defRPr sz="825" b="1">
                <a:solidFill>
                  <a:srgbClr val="44724E"/>
                </a:solidFill>
                <a:latin typeface="Arial"/>
                <a:ea typeface="Arial"/>
                <a:cs typeface="Arial"/>
              </a:defRPr>
            </a:pPr>
            <a:r>
              <a:rPr sz="825" b="1">
                <a:solidFill>
                  <a:srgbClr val="44724E"/>
                </a:solidFill>
                <a:latin typeface="Arial"/>
                <a:ea typeface="Arial"/>
                <a:cs typeface="Arial"/>
              </a:rPr>
              <a:t>LIVE SQL</a:t>
            </a:r>
          </a:p>
        </p:txBody>
      </p:sp>
      <p:sp>
        <p:nvSpPr>
          <p:cNvPr id="6" name="tech-1-title">
            <a:extLst xmlns:a="http://schemas.openxmlformats.org/drawingml/2006/main">
              <a:ext uri="{FF2B5EF4-FFF2-40B4-BE49-F238E27FC236}">
                <a16:creationId xmlns:a16="http://schemas.microsoft.com/office/drawing/2014/main" id="{E32C69E6-328A-47C6-B6DF-FE2BDE79F54C}"/>
              </a:ext>
            </a:extLst>
          </p:cNvPr>
          <p:cNvSpPr>
            <a:spLocks xmlns:a="http://schemas.openxmlformats.org/drawingml/2006/main" noGrp="1"/>
          </p:cNvSpPr>
          <p:nvPr/>
        </p:nvSpPr>
        <p:spPr>
          <a:xfrm xmlns:a="http://schemas.openxmlformats.org/drawingml/2006/main">
            <a:off x="790575" y="26574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Zetaris</a:t>
            </a:r>
          </a:p>
        </p:txBody>
      </p:sp>
      <p:sp>
        <p:nvSpPr>
          <p:cNvPr id="7" name="tech-1-body">
            <a:extLst xmlns:a="http://schemas.openxmlformats.org/drawingml/2006/main">
              <a:ext uri="{FF2B5EF4-FFF2-40B4-BE49-F238E27FC236}">
                <a16:creationId xmlns:a16="http://schemas.microsoft.com/office/drawing/2014/main" id="{FAB3AF97-3FA4-4579-94D5-B307454D2387}"/>
              </a:ext>
            </a:extLst>
          </p:cNvPr>
          <p:cNvSpPr>
            <a:spLocks xmlns:a="http://schemas.openxmlformats.org/drawingml/2006/main" noGrp="1"/>
          </p:cNvSpPr>
          <p:nvPr/>
        </p:nvSpPr>
        <p:spPr>
          <a:xfrm xmlns:a="http://schemas.openxmlformats.org/drawingml/2006/main">
            <a:off x="3352800" y="2438400"/>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Typed SQL reads prices, weather, news, storage rules and farmer history from the five maize views.</a:t>
            </a:r>
          </a:p>
        </p:txBody>
      </p:sp>
      <p:sp>
        <p:nvSpPr>
          <p:cNvPr id="8" name="tech-1-rule">
            <a:extLst xmlns:a="http://schemas.openxmlformats.org/drawingml/2006/main">
              <a:ext uri="{FF2B5EF4-FFF2-40B4-BE49-F238E27FC236}">
                <a16:creationId xmlns:a16="http://schemas.microsoft.com/office/drawing/2014/main" id="{D8251A4A-8EDE-422F-8264-45149F368E33}"/>
              </a:ext>
            </a:extLst>
          </p:cNvPr>
          <p:cNvSpPr>
            <a:spLocks xmlns:a="http://schemas.openxmlformats.org/drawingml/2006/main" noGrp="1"/>
          </p:cNvSpPr>
          <p:nvPr/>
        </p:nvSpPr>
        <p:spPr>
          <a:xfrm xmlns:a="http://schemas.openxmlformats.org/drawingml/2006/main">
            <a:off x="790575" y="3181350"/>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tech-2-mark">
            <a:extLst xmlns:a="http://schemas.openxmlformats.org/drawingml/2006/main">
              <a:ext uri="{FF2B5EF4-FFF2-40B4-BE49-F238E27FC236}">
                <a16:creationId xmlns:a16="http://schemas.microsoft.com/office/drawing/2014/main" id="{70063271-F864-4409-AE1B-88308349C1C1}"/>
              </a:ext>
            </a:extLst>
          </p:cNvPr>
          <p:cNvSpPr>
            <a:spLocks xmlns:a="http://schemas.openxmlformats.org/drawingml/2006/main" noGrp="1"/>
          </p:cNvSpPr>
          <p:nvPr/>
        </p:nvSpPr>
        <p:spPr>
          <a:xfrm xmlns:a="http://schemas.openxmlformats.org/drawingml/2006/main">
            <a:off x="790575" y="3324225"/>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23"/>
          </a:bodyPr>
          <a:lstStyle xmlns:a="http://schemas.openxmlformats.org/drawingml/2006/main">
            <a:defPPr algn="l">
              <a:defRPr sz="825" b="1">
                <a:solidFill>
                  <a:srgbClr val="C78A38"/>
                </a:solidFill>
                <a:latin typeface="Arial"/>
                <a:ea typeface="Arial"/>
                <a:cs typeface="Arial"/>
              </a:defRPr>
            </a:defPPr>
            <a:lvl1pPr algn="l">
              <a:defRPr sz="825" b="1">
                <a:solidFill>
                  <a:srgbClr val="C78A38"/>
                </a:solidFill>
                <a:latin typeface="Arial"/>
                <a:ea typeface="Arial"/>
                <a:cs typeface="Arial"/>
              </a:defRPr>
            </a:lvl1pPr>
            <a:lvl2pPr algn="l">
              <a:defRPr sz="825" b="1">
                <a:solidFill>
                  <a:srgbClr val="C78A38"/>
                </a:solidFill>
                <a:latin typeface="Arial"/>
                <a:ea typeface="Arial"/>
                <a:cs typeface="Arial"/>
              </a:defRPr>
            </a:lvl2pPr>
            <a:lvl3pPr algn="l">
              <a:defRPr sz="825" b="1">
                <a:solidFill>
                  <a:srgbClr val="C78A38"/>
                </a:solidFill>
                <a:latin typeface="Arial"/>
                <a:ea typeface="Arial"/>
                <a:cs typeface="Arial"/>
              </a:defRPr>
            </a:lvl3pPr>
            <a:lvl4pPr algn="l">
              <a:defRPr sz="825" b="1">
                <a:solidFill>
                  <a:srgbClr val="C78A38"/>
                </a:solidFill>
                <a:latin typeface="Arial"/>
                <a:ea typeface="Arial"/>
                <a:cs typeface="Arial"/>
              </a:defRPr>
            </a:lvl4pPr>
            <a:lvl5pPr algn="l">
              <a:defRPr sz="825" b="1">
                <a:solidFill>
                  <a:srgbClr val="C78A38"/>
                </a:solidFill>
                <a:latin typeface="Arial"/>
                <a:ea typeface="Arial"/>
                <a:cs typeface="Arial"/>
              </a:defRPr>
            </a:lvl5pPr>
            <a:lvl6pPr algn="l">
              <a:defRPr sz="825" b="1">
                <a:solidFill>
                  <a:srgbClr val="C78A38"/>
                </a:solidFill>
                <a:latin typeface="Arial"/>
                <a:ea typeface="Arial"/>
                <a:cs typeface="Arial"/>
              </a:defRPr>
            </a:lvl6pPr>
            <a:lvl7pPr algn="l">
              <a:defRPr sz="825" b="1">
                <a:solidFill>
                  <a:srgbClr val="C78A38"/>
                </a:solidFill>
                <a:latin typeface="Arial"/>
                <a:ea typeface="Arial"/>
                <a:cs typeface="Arial"/>
              </a:defRPr>
            </a:lvl7pPr>
            <a:lvl8pPr algn="l">
              <a:defRPr sz="825" b="1">
                <a:solidFill>
                  <a:srgbClr val="C78A38"/>
                </a:solidFill>
                <a:latin typeface="Arial"/>
                <a:ea typeface="Arial"/>
                <a:cs typeface="Arial"/>
              </a:defRPr>
            </a:lvl8pPr>
            <a:lvl9pPr algn="l">
              <a:defRPr sz="825" b="1">
                <a:solidFill>
                  <a:srgbClr val="C78A38"/>
                </a:solidFill>
                <a:latin typeface="Arial"/>
                <a:ea typeface="Arial"/>
                <a:cs typeface="Arial"/>
              </a:defRPr>
            </a:lvl9pPr>
          </a:lstStyle>
          <a:p xmlns:a="http://schemas.openxmlformats.org/drawingml/2006/main">
            <a:pPr algn="l">
              <a:defRPr sz="825" b="1">
                <a:solidFill>
                  <a:srgbClr val="C78A38"/>
                </a:solidFill>
                <a:latin typeface="Arial"/>
                <a:ea typeface="Arial"/>
                <a:cs typeface="Arial"/>
              </a:defRPr>
            </a:pPr>
            <a:r>
              <a:rPr sz="825" b="1">
                <a:solidFill>
                  <a:srgbClr val="C78A38"/>
                </a:solidFill>
                <a:latin typeface="Arial"/>
                <a:ea typeface="Arial"/>
                <a:cs typeface="Arial"/>
              </a:rPr>
              <a:t>REASONING RUNTIME</a:t>
            </a:r>
          </a:p>
        </p:txBody>
      </p:sp>
      <p:sp>
        <p:nvSpPr>
          <p:cNvPr id="10" name="tech-2-title">
            <a:extLst xmlns:a="http://schemas.openxmlformats.org/drawingml/2006/main">
              <a:ext uri="{FF2B5EF4-FFF2-40B4-BE49-F238E27FC236}">
                <a16:creationId xmlns:a16="http://schemas.microsoft.com/office/drawing/2014/main" id="{AE3E4508-3808-44B6-855C-15C8ED515CF5}"/>
              </a:ext>
            </a:extLst>
          </p:cNvPr>
          <p:cNvSpPr>
            <a:spLocks xmlns:a="http://schemas.openxmlformats.org/drawingml/2006/main" noGrp="1"/>
          </p:cNvSpPr>
          <p:nvPr/>
        </p:nvSpPr>
        <p:spPr>
          <a:xfrm xmlns:a="http://schemas.openxmlformats.org/drawingml/2006/main">
            <a:off x="790575" y="35814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Meterless</a:t>
            </a:r>
          </a:p>
        </p:txBody>
      </p:sp>
      <p:sp>
        <p:nvSpPr>
          <p:cNvPr id="11" name="tech-2-body">
            <a:extLst xmlns:a="http://schemas.openxmlformats.org/drawingml/2006/main">
              <a:ext uri="{FF2B5EF4-FFF2-40B4-BE49-F238E27FC236}">
                <a16:creationId xmlns:a16="http://schemas.microsoft.com/office/drawing/2014/main" id="{7FE4343F-D025-48A2-8721-81419E6A5BDE}"/>
              </a:ext>
            </a:extLst>
          </p:cNvPr>
          <p:cNvSpPr>
            <a:spLocks xmlns:a="http://schemas.openxmlformats.org/drawingml/2006/main" noGrp="1"/>
          </p:cNvSpPr>
          <p:nvPr/>
        </p:nvSpPr>
        <p:spPr>
          <a:xfrm xmlns:a="http://schemas.openxmlformats.org/drawingml/2006/main">
            <a:off x="3352800" y="3362325"/>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OpenAI-compatible chat calls supply agent wording; model and call status appear in the reasoning trace.</a:t>
            </a:r>
          </a:p>
        </p:txBody>
      </p:sp>
      <p:sp>
        <p:nvSpPr>
          <p:cNvPr id="12" name="tech-2-rule">
            <a:extLst xmlns:a="http://schemas.openxmlformats.org/drawingml/2006/main">
              <a:ext uri="{FF2B5EF4-FFF2-40B4-BE49-F238E27FC236}">
                <a16:creationId xmlns:a16="http://schemas.microsoft.com/office/drawing/2014/main" id="{BD1B84C3-F249-4C6A-8B7E-F563F7E94567}"/>
              </a:ext>
            </a:extLst>
          </p:cNvPr>
          <p:cNvSpPr>
            <a:spLocks xmlns:a="http://schemas.openxmlformats.org/drawingml/2006/main" noGrp="1"/>
          </p:cNvSpPr>
          <p:nvPr/>
        </p:nvSpPr>
        <p:spPr>
          <a:xfrm xmlns:a="http://schemas.openxmlformats.org/drawingml/2006/main">
            <a:off x="790575" y="4105275"/>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tech-3-mark">
            <a:extLst xmlns:a="http://schemas.openxmlformats.org/drawingml/2006/main">
              <a:ext uri="{FF2B5EF4-FFF2-40B4-BE49-F238E27FC236}">
                <a16:creationId xmlns:a16="http://schemas.microsoft.com/office/drawing/2014/main" id="{ED89B299-4507-40FE-96C3-87205BCA1BB2}"/>
              </a:ext>
            </a:extLst>
          </p:cNvPr>
          <p:cNvSpPr>
            <a:spLocks xmlns:a="http://schemas.openxmlformats.org/drawingml/2006/main" noGrp="1"/>
          </p:cNvSpPr>
          <p:nvPr/>
        </p:nvSpPr>
        <p:spPr>
          <a:xfrm xmlns:a="http://schemas.openxmlformats.org/drawingml/2006/main">
            <a:off x="790575" y="424815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486C75"/>
                </a:solidFill>
                <a:latin typeface="Arial"/>
                <a:ea typeface="Arial"/>
                <a:cs typeface="Arial"/>
              </a:defRPr>
            </a:defPPr>
            <a:lvl1pPr algn="l">
              <a:defRPr sz="825" b="1">
                <a:solidFill>
                  <a:srgbClr val="486C75"/>
                </a:solidFill>
                <a:latin typeface="Arial"/>
                <a:ea typeface="Arial"/>
                <a:cs typeface="Arial"/>
              </a:defRPr>
            </a:lvl1pPr>
            <a:lvl2pPr algn="l">
              <a:defRPr sz="825" b="1">
                <a:solidFill>
                  <a:srgbClr val="486C75"/>
                </a:solidFill>
                <a:latin typeface="Arial"/>
                <a:ea typeface="Arial"/>
                <a:cs typeface="Arial"/>
              </a:defRPr>
            </a:lvl2pPr>
            <a:lvl3pPr algn="l">
              <a:defRPr sz="825" b="1">
                <a:solidFill>
                  <a:srgbClr val="486C75"/>
                </a:solidFill>
                <a:latin typeface="Arial"/>
                <a:ea typeface="Arial"/>
                <a:cs typeface="Arial"/>
              </a:defRPr>
            </a:lvl3pPr>
            <a:lvl4pPr algn="l">
              <a:defRPr sz="825" b="1">
                <a:solidFill>
                  <a:srgbClr val="486C75"/>
                </a:solidFill>
                <a:latin typeface="Arial"/>
                <a:ea typeface="Arial"/>
                <a:cs typeface="Arial"/>
              </a:defRPr>
            </a:lvl4pPr>
            <a:lvl5pPr algn="l">
              <a:defRPr sz="825" b="1">
                <a:solidFill>
                  <a:srgbClr val="486C75"/>
                </a:solidFill>
                <a:latin typeface="Arial"/>
                <a:ea typeface="Arial"/>
                <a:cs typeface="Arial"/>
              </a:defRPr>
            </a:lvl5pPr>
            <a:lvl6pPr algn="l">
              <a:defRPr sz="825" b="1">
                <a:solidFill>
                  <a:srgbClr val="486C75"/>
                </a:solidFill>
                <a:latin typeface="Arial"/>
                <a:ea typeface="Arial"/>
                <a:cs typeface="Arial"/>
              </a:defRPr>
            </a:lvl6pPr>
            <a:lvl7pPr algn="l">
              <a:defRPr sz="825" b="1">
                <a:solidFill>
                  <a:srgbClr val="486C75"/>
                </a:solidFill>
                <a:latin typeface="Arial"/>
                <a:ea typeface="Arial"/>
                <a:cs typeface="Arial"/>
              </a:defRPr>
            </a:lvl7pPr>
            <a:lvl8pPr algn="l">
              <a:defRPr sz="825" b="1">
                <a:solidFill>
                  <a:srgbClr val="486C75"/>
                </a:solidFill>
                <a:latin typeface="Arial"/>
                <a:ea typeface="Arial"/>
                <a:cs typeface="Arial"/>
              </a:defRPr>
            </a:lvl8pPr>
            <a:lvl9pPr algn="l">
              <a:defRPr sz="825" b="1">
                <a:solidFill>
                  <a:srgbClr val="486C75"/>
                </a:solidFill>
                <a:latin typeface="Arial"/>
                <a:ea typeface="Arial"/>
                <a:cs typeface="Arial"/>
              </a:defRPr>
            </a:lvl9pPr>
          </a:lstStyle>
          <a:p xmlns:a="http://schemas.openxmlformats.org/drawingml/2006/main">
            <a:pPr algn="l">
              <a:defRPr sz="825" b="1">
                <a:solidFill>
                  <a:srgbClr val="486C75"/>
                </a:solidFill>
                <a:latin typeface="Arial"/>
                <a:ea typeface="Arial"/>
                <a:cs typeface="Arial"/>
              </a:defRPr>
            </a:pPr>
            <a:r>
              <a:rPr sz="825" b="1">
                <a:solidFill>
                  <a:srgbClr val="486C75"/>
                </a:solidFill>
                <a:latin typeface="Arial"/>
                <a:ea typeface="Arial"/>
                <a:cs typeface="Arial"/>
              </a:rPr>
              <a:t>MODEL PATH</a:t>
            </a:r>
          </a:p>
        </p:txBody>
      </p:sp>
      <p:sp>
        <p:nvSpPr>
          <p:cNvPr id="14" name="tech-3-title">
            <a:extLst xmlns:a="http://schemas.openxmlformats.org/drawingml/2006/main">
              <a:ext uri="{FF2B5EF4-FFF2-40B4-BE49-F238E27FC236}">
                <a16:creationId xmlns:a16="http://schemas.microsoft.com/office/drawing/2014/main" id="{EF10EA0F-0FAC-4048-BED7-2348B9D58CC0}"/>
              </a:ext>
            </a:extLst>
          </p:cNvPr>
          <p:cNvSpPr>
            <a:spLocks xmlns:a="http://schemas.openxmlformats.org/drawingml/2006/main" noGrp="1"/>
          </p:cNvSpPr>
          <p:nvPr/>
        </p:nvSpPr>
        <p:spPr>
          <a:xfrm xmlns:a="http://schemas.openxmlformats.org/drawingml/2006/main">
            <a:off x="790575" y="45053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NVIDIA Nemotron</a:t>
            </a:r>
          </a:p>
        </p:txBody>
      </p:sp>
      <p:sp>
        <p:nvSpPr>
          <p:cNvPr id="15" name="tech-3-body">
            <a:extLst xmlns:a="http://schemas.openxmlformats.org/drawingml/2006/main">
              <a:ext uri="{FF2B5EF4-FFF2-40B4-BE49-F238E27FC236}">
                <a16:creationId xmlns:a16="http://schemas.microsoft.com/office/drawing/2014/main" id="{6762DC91-6FA3-4EB3-8047-BD33E10E553F}"/>
              </a:ext>
            </a:extLst>
          </p:cNvPr>
          <p:cNvSpPr>
            <a:spLocks xmlns:a="http://schemas.openxmlformats.org/drawingml/2006/main" noGrp="1"/>
          </p:cNvSpPr>
          <p:nvPr/>
        </p:nvSpPr>
        <p:spPr>
          <a:xfrm xmlns:a="http://schemas.openxmlformats.org/drawingml/2006/main">
            <a:off x="3352800" y="4286250"/>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A selectable NVIDIA provider path exists. Confirm the actual model and lane in a successful run before claiming it in the demo.</a:t>
            </a:r>
          </a:p>
        </p:txBody>
      </p:sp>
      <p:sp>
        <p:nvSpPr>
          <p:cNvPr id="16" name="tech-3-rule">
            <a:extLst xmlns:a="http://schemas.openxmlformats.org/drawingml/2006/main">
              <a:ext uri="{FF2B5EF4-FFF2-40B4-BE49-F238E27FC236}">
                <a16:creationId xmlns:a16="http://schemas.microsoft.com/office/drawing/2014/main" id="{9ADC0B74-03B6-4496-AE13-DD6691994AD2}"/>
              </a:ext>
            </a:extLst>
          </p:cNvPr>
          <p:cNvSpPr>
            <a:spLocks xmlns:a="http://schemas.openxmlformats.org/drawingml/2006/main" noGrp="1"/>
          </p:cNvSpPr>
          <p:nvPr/>
        </p:nvSpPr>
        <p:spPr>
          <a:xfrm xmlns:a="http://schemas.openxmlformats.org/drawingml/2006/main">
            <a:off x="790575" y="5029200"/>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7" name="tech-column-rule">
            <a:extLst xmlns:a="http://schemas.openxmlformats.org/drawingml/2006/main">
              <a:ext uri="{FF2B5EF4-FFF2-40B4-BE49-F238E27FC236}">
                <a16:creationId xmlns:a16="http://schemas.microsoft.com/office/drawing/2014/main" id="{AA95557D-4337-4F3E-9F3B-DBDE1BB0ABE6}"/>
              </a:ext>
            </a:extLst>
          </p:cNvPr>
          <p:cNvSpPr>
            <a:spLocks xmlns:a="http://schemas.openxmlformats.org/drawingml/2006/main" noGrp="1"/>
          </p:cNvSpPr>
          <p:nvPr/>
        </p:nvSpPr>
        <p:spPr>
          <a:xfrm xmlns:a="http://schemas.openxmlformats.org/drawingml/2006/main">
            <a:off x="7381875" y="2428875"/>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8" name="unique-label">
            <a:extLst xmlns:a="http://schemas.openxmlformats.org/drawingml/2006/main">
              <a:ext uri="{FF2B5EF4-FFF2-40B4-BE49-F238E27FC236}">
                <a16:creationId xmlns:a16="http://schemas.microsoft.com/office/drawing/2014/main" id="{6CE247F6-1F28-4A67-8883-2D9B6013A7DA}"/>
              </a:ext>
            </a:extLst>
          </p:cNvPr>
          <p:cNvSpPr>
            <a:spLocks xmlns:a="http://schemas.openxmlformats.org/drawingml/2006/main" noGrp="1"/>
          </p:cNvSpPr>
          <p:nvPr/>
        </p:nvSpPr>
        <p:spPr>
          <a:xfrm xmlns:a="http://schemas.openxmlformats.org/drawingml/2006/main">
            <a:off x="7800975" y="2505075"/>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WHAT IS DISTINCTIVE</a:t>
            </a:r>
          </a:p>
        </p:txBody>
      </p:sp>
      <p:sp>
        <p:nvSpPr>
          <p:cNvPr id="19" name="unique-title">
            <a:extLst xmlns:a="http://schemas.openxmlformats.org/drawingml/2006/main">
              <a:ext uri="{FF2B5EF4-FFF2-40B4-BE49-F238E27FC236}">
                <a16:creationId xmlns:a16="http://schemas.microsoft.com/office/drawing/2014/main" id="{3153BDA8-DFA8-4370-AFDB-55939A76D546}"/>
              </a:ext>
            </a:extLst>
          </p:cNvPr>
          <p:cNvSpPr>
            <a:spLocks xmlns:a="http://schemas.openxmlformats.org/drawingml/2006/main" noGrp="1"/>
          </p:cNvSpPr>
          <p:nvPr/>
        </p:nvSpPr>
        <p:spPr>
          <a:xfrm xmlns:a="http://schemas.openxmlformats.org/drawingml/2006/main">
            <a:off x="7800975" y="2857500"/>
            <a:ext cx="352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a:solidFill>
                  <a:srgbClr val="183525"/>
                </a:solidFill>
                <a:latin typeface="Georgia"/>
                <a:ea typeface="Georgia"/>
                <a:cs typeface="Georgia"/>
              </a:defRPr>
            </a:defPPr>
            <a:lvl1pPr algn="l">
              <a:defRPr sz="2400" b="0">
                <a:solidFill>
                  <a:srgbClr val="183525"/>
                </a:solidFill>
                <a:latin typeface="Georgia"/>
                <a:ea typeface="Georgia"/>
                <a:cs typeface="Georgia"/>
              </a:defRPr>
            </a:lvl1pPr>
            <a:lvl2pPr algn="l">
              <a:defRPr sz="2400" b="0">
                <a:solidFill>
                  <a:srgbClr val="183525"/>
                </a:solidFill>
                <a:latin typeface="Georgia"/>
                <a:ea typeface="Georgia"/>
                <a:cs typeface="Georgia"/>
              </a:defRPr>
            </a:lvl2pPr>
            <a:lvl3pPr algn="l">
              <a:defRPr sz="2400" b="0">
                <a:solidFill>
                  <a:srgbClr val="183525"/>
                </a:solidFill>
                <a:latin typeface="Georgia"/>
                <a:ea typeface="Georgia"/>
                <a:cs typeface="Georgia"/>
              </a:defRPr>
            </a:lvl3pPr>
            <a:lvl4pPr algn="l">
              <a:defRPr sz="2400" b="0">
                <a:solidFill>
                  <a:srgbClr val="183525"/>
                </a:solidFill>
                <a:latin typeface="Georgia"/>
                <a:ea typeface="Georgia"/>
                <a:cs typeface="Georgia"/>
              </a:defRPr>
            </a:lvl4pPr>
            <a:lvl5pPr algn="l">
              <a:defRPr sz="2400" b="0">
                <a:solidFill>
                  <a:srgbClr val="183525"/>
                </a:solidFill>
                <a:latin typeface="Georgia"/>
                <a:ea typeface="Georgia"/>
                <a:cs typeface="Georgia"/>
              </a:defRPr>
            </a:lvl5pPr>
            <a:lvl6pPr algn="l">
              <a:defRPr sz="2400" b="0">
                <a:solidFill>
                  <a:srgbClr val="183525"/>
                </a:solidFill>
                <a:latin typeface="Georgia"/>
                <a:ea typeface="Georgia"/>
                <a:cs typeface="Georgia"/>
              </a:defRPr>
            </a:lvl6pPr>
            <a:lvl7pPr algn="l">
              <a:defRPr sz="2400" b="0">
                <a:solidFill>
                  <a:srgbClr val="183525"/>
                </a:solidFill>
                <a:latin typeface="Georgia"/>
                <a:ea typeface="Georgia"/>
                <a:cs typeface="Georgia"/>
              </a:defRPr>
            </a:lvl7pPr>
            <a:lvl8pPr algn="l">
              <a:defRPr sz="2400" b="0">
                <a:solidFill>
                  <a:srgbClr val="183525"/>
                </a:solidFill>
                <a:latin typeface="Georgia"/>
                <a:ea typeface="Georgia"/>
                <a:cs typeface="Georgia"/>
              </a:defRPr>
            </a:lvl8pPr>
            <a:lvl9pPr algn="l">
              <a:defRPr sz="2400" b="0">
                <a:solidFill>
                  <a:srgbClr val="183525"/>
                </a:solidFill>
                <a:latin typeface="Georgia"/>
                <a:ea typeface="Georgia"/>
                <a:cs typeface="Georgia"/>
              </a:defRPr>
            </a:lvl9pPr>
          </a:lstStyle>
          <a:p xmlns:a="http://schemas.openxmlformats.org/drawingml/2006/main">
            <a:pPr algn="l">
              <a:defRPr sz="2400" b="0">
                <a:solidFill>
                  <a:srgbClr val="183525"/>
                </a:solidFill>
                <a:latin typeface="Georgia"/>
                <a:ea typeface="Georgia"/>
                <a:cs typeface="Georgia"/>
              </a:defRPr>
            </a:pPr>
            <a:r>
              <a:rPr sz="2400" b="0">
                <a:solidFill>
                  <a:srgbClr val="183525"/>
                </a:solidFill>
                <a:latin typeface="Georgia"/>
                <a:ea typeface="Georgia"/>
                <a:cs typeface="Georgia"/>
              </a:rPr>
              <a:t>The critic can send a claim back.</a:t>
            </a:r>
          </a:p>
        </p:txBody>
      </p:sp>
      <p:sp>
        <p:nvSpPr>
          <p:cNvPr id="20" name="unique-body">
            <a:extLst xmlns:a="http://schemas.openxmlformats.org/drawingml/2006/main">
              <a:ext uri="{FF2B5EF4-FFF2-40B4-BE49-F238E27FC236}">
                <a16:creationId xmlns:a16="http://schemas.microsoft.com/office/drawing/2014/main" id="{8A3A4038-0CD7-4ECD-A099-9DE2E1A0CB3C}"/>
              </a:ext>
            </a:extLst>
          </p:cNvPr>
          <p:cNvSpPr>
            <a:spLocks xmlns:a="http://schemas.openxmlformats.org/drawingml/2006/main" noGrp="1"/>
          </p:cNvSpPr>
          <p:nvPr/>
        </p:nvSpPr>
        <p:spPr>
          <a:xfrm xmlns:a="http://schemas.openxmlformats.org/drawingml/2006/main">
            <a:off x="7800975" y="3800475"/>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A rejected claim returns to its owning analyst. Stale evidence triggers a separate refresh path. The planner stops when review limits are reached.</a:t>
            </a:r>
          </a:p>
        </p:txBody>
      </p:sp>
      <p:sp>
        <p:nvSpPr>
          <p:cNvPr id="21" name="cursor-rule">
            <a:extLst xmlns:a="http://schemas.openxmlformats.org/drawingml/2006/main">
              <a:ext uri="{FF2B5EF4-FFF2-40B4-BE49-F238E27FC236}">
                <a16:creationId xmlns:a16="http://schemas.microsoft.com/office/drawing/2014/main" id="{9C3199E3-074E-40EC-AA19-9CD4A0104E26}"/>
              </a:ext>
            </a:extLst>
          </p:cNvPr>
          <p:cNvSpPr>
            <a:spLocks xmlns:a="http://schemas.openxmlformats.org/drawingml/2006/main" noGrp="1"/>
          </p:cNvSpPr>
          <p:nvPr/>
        </p:nvSpPr>
        <p:spPr>
          <a:xfrm xmlns:a="http://schemas.openxmlformats.org/drawingml/2006/main">
            <a:off x="7800975" y="5105400"/>
            <a:ext cx="3429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22" name="cursor-line">
            <a:extLst xmlns:a="http://schemas.openxmlformats.org/drawingml/2006/main">
              <a:ext uri="{FF2B5EF4-FFF2-40B4-BE49-F238E27FC236}">
                <a16:creationId xmlns:a16="http://schemas.microsoft.com/office/drawing/2014/main" id="{6204E785-DA3C-4FE0-A82F-4A19A08470F9}"/>
              </a:ext>
            </a:extLst>
          </p:cNvPr>
          <p:cNvSpPr>
            <a:spLocks xmlns:a="http://schemas.openxmlformats.org/drawingml/2006/main" noGrp="1"/>
          </p:cNvSpPr>
          <p:nvPr/>
        </p:nvSpPr>
        <p:spPr>
          <a:xfrm xmlns:a="http://schemas.openxmlformats.org/drawingml/2006/main">
            <a:off x="7800975" y="5286375"/>
            <a:ext cx="3476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274A34"/>
                </a:solidFill>
                <a:latin typeface="Arial"/>
                <a:ea typeface="Arial"/>
                <a:cs typeface="Arial"/>
              </a:defRPr>
            </a:defPPr>
            <a:lvl1pPr algn="l">
              <a:defRPr sz="1050" b="0">
                <a:solidFill>
                  <a:srgbClr val="274A34"/>
                </a:solidFill>
                <a:latin typeface="Arial"/>
                <a:ea typeface="Arial"/>
                <a:cs typeface="Arial"/>
              </a:defRPr>
            </a:lvl1pPr>
            <a:lvl2pPr algn="l">
              <a:defRPr sz="1050" b="0">
                <a:solidFill>
                  <a:srgbClr val="274A34"/>
                </a:solidFill>
                <a:latin typeface="Arial"/>
                <a:ea typeface="Arial"/>
                <a:cs typeface="Arial"/>
              </a:defRPr>
            </a:lvl2pPr>
            <a:lvl3pPr algn="l">
              <a:defRPr sz="1050" b="0">
                <a:solidFill>
                  <a:srgbClr val="274A34"/>
                </a:solidFill>
                <a:latin typeface="Arial"/>
                <a:ea typeface="Arial"/>
                <a:cs typeface="Arial"/>
              </a:defRPr>
            </a:lvl3pPr>
            <a:lvl4pPr algn="l">
              <a:defRPr sz="1050" b="0">
                <a:solidFill>
                  <a:srgbClr val="274A34"/>
                </a:solidFill>
                <a:latin typeface="Arial"/>
                <a:ea typeface="Arial"/>
                <a:cs typeface="Arial"/>
              </a:defRPr>
            </a:lvl4pPr>
            <a:lvl5pPr algn="l">
              <a:defRPr sz="1050" b="0">
                <a:solidFill>
                  <a:srgbClr val="274A34"/>
                </a:solidFill>
                <a:latin typeface="Arial"/>
                <a:ea typeface="Arial"/>
                <a:cs typeface="Arial"/>
              </a:defRPr>
            </a:lvl5pPr>
            <a:lvl6pPr algn="l">
              <a:defRPr sz="1050" b="0">
                <a:solidFill>
                  <a:srgbClr val="274A34"/>
                </a:solidFill>
                <a:latin typeface="Arial"/>
                <a:ea typeface="Arial"/>
                <a:cs typeface="Arial"/>
              </a:defRPr>
            </a:lvl6pPr>
            <a:lvl7pPr algn="l">
              <a:defRPr sz="1050" b="0">
                <a:solidFill>
                  <a:srgbClr val="274A34"/>
                </a:solidFill>
                <a:latin typeface="Arial"/>
                <a:ea typeface="Arial"/>
                <a:cs typeface="Arial"/>
              </a:defRPr>
            </a:lvl7pPr>
            <a:lvl8pPr algn="l">
              <a:defRPr sz="1050" b="0">
                <a:solidFill>
                  <a:srgbClr val="274A34"/>
                </a:solidFill>
                <a:latin typeface="Arial"/>
                <a:ea typeface="Arial"/>
                <a:cs typeface="Arial"/>
              </a:defRPr>
            </a:lvl8pPr>
            <a:lvl9pPr algn="l">
              <a:defRPr sz="1050" b="0">
                <a:solidFill>
                  <a:srgbClr val="274A34"/>
                </a:solidFill>
                <a:latin typeface="Arial"/>
                <a:ea typeface="Arial"/>
                <a:cs typeface="Arial"/>
              </a:defRPr>
            </a:lvl9pPr>
          </a:lstStyle>
          <a:p xmlns:a="http://schemas.openxmlformats.org/drawingml/2006/main">
            <a:pPr algn="l">
              <a:defRPr sz="1050" b="0">
                <a:solidFill>
                  <a:srgbClr val="274A34"/>
                </a:solidFill>
                <a:latin typeface="Arial"/>
                <a:ea typeface="Arial"/>
                <a:cs typeface="Arial"/>
              </a:defRPr>
            </a:pPr>
            <a:r>
              <a:rPr sz="1050" b="0">
                <a:solidFill>
                  <a:srgbClr val="274A34"/>
                </a:solidFill>
                <a:latin typeface="Arial"/>
                <a:ea typeface="Arial"/>
                <a:cs typeface="Arial"/>
              </a:rPr>
              <a:t>Cursor was used during development. H-MEM keeps farmer-scoped profiles and verdict history between runs.</a:t>
            </a:r>
          </a:p>
        </p:txBody>
      </p:sp>
    </p:spTree>
    <p:extLst>
      <p:ext uri="{BB962C8B-B14F-4D97-AF65-F5344CB8AC3E}">
        <p14:creationId xmlns:p14="http://schemas.microsoft.com/office/powerpoint/2010/main" val="995793433"/>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1" name="slide-7-index">
            <a:extLst xmlns:a="http://schemas.openxmlformats.org/drawingml/2006/main">
              <a:ext uri="{FF2B5EF4-FFF2-40B4-BE49-F238E27FC236}">
                <a16:creationId xmlns:a16="http://schemas.microsoft.com/office/drawing/2014/main" id="{C2935A52-7222-49CD-8726-8BCBBEC12527}"/>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07</a:t>
            </a:r>
          </a:p>
        </p:txBody>
      </p:sp>
      <p:sp>
        <p:nvSpPr>
          <p:cNvPr id="2" name="slide-7-title">
            <a:extLst xmlns:a="http://schemas.openxmlformats.org/drawingml/2006/main">
              <a:ext uri="{FF2B5EF4-FFF2-40B4-BE49-F238E27FC236}">
                <a16:creationId xmlns:a16="http://schemas.microsoft.com/office/drawing/2014/main" id="{09690647-D6EB-4705-B871-D47CBA3FC1CA}"/>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A Kenya-first workflow with a global path</a:t>
            </a:r>
          </a:p>
        </p:txBody>
      </p:sp>
      <p:sp>
        <p:nvSpPr>
          <p:cNvPr id="3" name="slide-7-subtitle">
            <a:extLst xmlns:a="http://schemas.openxmlformats.org/drawingml/2006/main">
              <a:ext uri="{FF2B5EF4-FFF2-40B4-BE49-F238E27FC236}">
                <a16:creationId xmlns:a16="http://schemas.microsoft.com/office/drawing/2014/main" id="{8984AC81-AA20-4FF6-98E8-CC4A6172E6E9}"/>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reasoning can travel; data, thresholds and safeguards must be validated in every market.</a:t>
            </a:r>
          </a:p>
        </p:txBody>
      </p:sp>
      <p:sp>
        <p:nvSpPr>
          <p:cNvPr id="4" name="slide-7-header-rule">
            <a:extLst xmlns:a="http://schemas.openxmlformats.org/drawingml/2006/main">
              <a:ext uri="{FF2B5EF4-FFF2-40B4-BE49-F238E27FC236}">
                <a16:creationId xmlns:a16="http://schemas.microsoft.com/office/drawing/2014/main" id="{480274DE-235D-416B-ABEE-30CEAB63818C}"/>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impact-current-label">
            <a:extLst xmlns:a="http://schemas.openxmlformats.org/drawingml/2006/main">
              <a:ext uri="{FF2B5EF4-FFF2-40B4-BE49-F238E27FC236}">
                <a16:creationId xmlns:a16="http://schemas.microsoft.com/office/drawing/2014/main" id="{8A9E3242-B58A-4C3C-9ECA-83A74704C513}"/>
              </a:ext>
            </a:extLst>
          </p:cNvPr>
          <p:cNvSpPr>
            <a:spLocks xmlns:a="http://schemas.openxmlformats.org/drawingml/2006/main" noGrp="1"/>
          </p:cNvSpPr>
          <p:nvPr/>
        </p:nvSpPr>
        <p:spPr>
          <a:xfrm xmlns:a="http://schemas.openxmlformats.org/drawingml/2006/main">
            <a:off x="781050" y="24574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CURRENT PRODUCT</a:t>
            </a:r>
          </a:p>
        </p:txBody>
      </p:sp>
      <p:sp>
        <p:nvSpPr>
          <p:cNvPr id="6" name="impact-current-title">
            <a:extLst xmlns:a="http://schemas.openxmlformats.org/drawingml/2006/main">
              <a:ext uri="{FF2B5EF4-FFF2-40B4-BE49-F238E27FC236}">
                <a16:creationId xmlns:a16="http://schemas.microsoft.com/office/drawing/2014/main" id="{E43131F8-7B6F-4743-BEC5-5DF62BEB8799}"/>
              </a:ext>
            </a:extLst>
          </p:cNvPr>
          <p:cNvSpPr>
            <a:spLocks xmlns:a="http://schemas.openxmlformats.org/drawingml/2006/main" noGrp="1"/>
          </p:cNvSpPr>
          <p:nvPr/>
        </p:nvSpPr>
        <p:spPr>
          <a:xfrm xmlns:a="http://schemas.openxmlformats.org/drawingml/2006/main">
            <a:off x="781050" y="2809875"/>
            <a:ext cx="4429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a:solidFill>
                  <a:srgbClr val="183525"/>
                </a:solidFill>
                <a:latin typeface="Georgia"/>
                <a:ea typeface="Georgia"/>
                <a:cs typeface="Georgia"/>
              </a:defRPr>
            </a:defPPr>
            <a:lvl1pPr algn="l">
              <a:defRPr sz="2400" b="0">
                <a:solidFill>
                  <a:srgbClr val="183525"/>
                </a:solidFill>
                <a:latin typeface="Georgia"/>
                <a:ea typeface="Georgia"/>
                <a:cs typeface="Georgia"/>
              </a:defRPr>
            </a:lvl1pPr>
            <a:lvl2pPr algn="l">
              <a:defRPr sz="2400" b="0">
                <a:solidFill>
                  <a:srgbClr val="183525"/>
                </a:solidFill>
                <a:latin typeface="Georgia"/>
                <a:ea typeface="Georgia"/>
                <a:cs typeface="Georgia"/>
              </a:defRPr>
            </a:lvl2pPr>
            <a:lvl3pPr algn="l">
              <a:defRPr sz="2400" b="0">
                <a:solidFill>
                  <a:srgbClr val="183525"/>
                </a:solidFill>
                <a:latin typeface="Georgia"/>
                <a:ea typeface="Georgia"/>
                <a:cs typeface="Georgia"/>
              </a:defRPr>
            </a:lvl3pPr>
            <a:lvl4pPr algn="l">
              <a:defRPr sz="2400" b="0">
                <a:solidFill>
                  <a:srgbClr val="183525"/>
                </a:solidFill>
                <a:latin typeface="Georgia"/>
                <a:ea typeface="Georgia"/>
                <a:cs typeface="Georgia"/>
              </a:defRPr>
            </a:lvl4pPr>
            <a:lvl5pPr algn="l">
              <a:defRPr sz="2400" b="0">
                <a:solidFill>
                  <a:srgbClr val="183525"/>
                </a:solidFill>
                <a:latin typeface="Georgia"/>
                <a:ea typeface="Georgia"/>
                <a:cs typeface="Georgia"/>
              </a:defRPr>
            </a:lvl5pPr>
            <a:lvl6pPr algn="l">
              <a:defRPr sz="2400" b="0">
                <a:solidFill>
                  <a:srgbClr val="183525"/>
                </a:solidFill>
                <a:latin typeface="Georgia"/>
                <a:ea typeface="Georgia"/>
                <a:cs typeface="Georgia"/>
              </a:defRPr>
            </a:lvl6pPr>
            <a:lvl7pPr algn="l">
              <a:defRPr sz="2400" b="0">
                <a:solidFill>
                  <a:srgbClr val="183525"/>
                </a:solidFill>
                <a:latin typeface="Georgia"/>
                <a:ea typeface="Georgia"/>
                <a:cs typeface="Georgia"/>
              </a:defRPr>
            </a:lvl7pPr>
            <a:lvl8pPr algn="l">
              <a:defRPr sz="2400" b="0">
                <a:solidFill>
                  <a:srgbClr val="183525"/>
                </a:solidFill>
                <a:latin typeface="Georgia"/>
                <a:ea typeface="Georgia"/>
                <a:cs typeface="Georgia"/>
              </a:defRPr>
            </a:lvl8pPr>
            <a:lvl9pPr algn="l">
              <a:defRPr sz="2400" b="0">
                <a:solidFill>
                  <a:srgbClr val="183525"/>
                </a:solidFill>
                <a:latin typeface="Georgia"/>
                <a:ea typeface="Georgia"/>
                <a:cs typeface="Georgia"/>
              </a:defRPr>
            </a:lvl9pPr>
          </a:lstStyle>
          <a:p xmlns:a="http://schemas.openxmlformats.org/drawingml/2006/main">
            <a:pPr algn="l">
              <a:defRPr sz="2400" b="0">
                <a:solidFill>
                  <a:srgbClr val="183525"/>
                </a:solidFill>
                <a:latin typeface="Georgia"/>
                <a:ea typeface="Georgia"/>
                <a:cs typeface="Georgia"/>
              </a:defRPr>
            </a:pPr>
            <a:r>
              <a:rPr sz="2400" b="0">
                <a:solidFill>
                  <a:srgbClr val="183525"/>
                </a:solidFill>
                <a:latin typeface="Georgia"/>
                <a:ea typeface="Georgia"/>
                <a:cs typeface="Georgia"/>
              </a:rPr>
              <a:t>White maize in Kenya</a:t>
            </a:r>
          </a:p>
        </p:txBody>
      </p:sp>
      <p:sp>
        <p:nvSpPr>
          <p:cNvPr id="7" name="impact-current-copy">
            <a:extLst xmlns:a="http://schemas.openxmlformats.org/drawingml/2006/main">
              <a:ext uri="{FF2B5EF4-FFF2-40B4-BE49-F238E27FC236}">
                <a16:creationId xmlns:a16="http://schemas.microsoft.com/office/drawing/2014/main" id="{6CA2C8D9-4C28-4872-8850-A75C90C21304}"/>
              </a:ext>
            </a:extLst>
          </p:cNvPr>
          <p:cNvSpPr>
            <a:spLocks xmlns:a="http://schemas.openxmlformats.org/drawingml/2006/main" noGrp="1"/>
          </p:cNvSpPr>
          <p:nvPr/>
        </p:nvSpPr>
        <p:spPr>
          <a:xfrm xmlns:a="http://schemas.openxmlformats.org/drawingml/2006/main">
            <a:off x="781050" y="3562350"/>
            <a:ext cx="423862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Compare a buyer offer with local prices and storage/weather risk. The aim is clearer, reviewable decisions for farmers and extension workers.</a:t>
            </a:r>
          </a:p>
        </p:txBody>
      </p:sp>
      <p:sp>
        <p:nvSpPr>
          <p:cNvPr id="8" name="impact-column-rule">
            <a:extLst xmlns:a="http://schemas.openxmlformats.org/drawingml/2006/main">
              <a:ext uri="{FF2B5EF4-FFF2-40B4-BE49-F238E27FC236}">
                <a16:creationId xmlns:a16="http://schemas.microsoft.com/office/drawing/2014/main" id="{D8BA23FA-FE7F-4FC0-A342-FC8F202EBE12}"/>
              </a:ext>
            </a:extLst>
          </p:cNvPr>
          <p:cNvSpPr>
            <a:spLocks xmlns:a="http://schemas.openxmlformats.org/drawingml/2006/main" noGrp="1"/>
          </p:cNvSpPr>
          <p:nvPr/>
        </p:nvSpPr>
        <p:spPr>
          <a:xfrm xmlns:a="http://schemas.openxmlformats.org/drawingml/2006/main">
            <a:off x="5505450" y="2457450"/>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impact-measure-label">
            <a:extLst xmlns:a="http://schemas.openxmlformats.org/drawingml/2006/main">
              <a:ext uri="{FF2B5EF4-FFF2-40B4-BE49-F238E27FC236}">
                <a16:creationId xmlns:a16="http://schemas.microsoft.com/office/drawing/2014/main" id="{9208BFC4-D47F-43DE-B92E-0E17EFBF7ECA}"/>
              </a:ext>
            </a:extLst>
          </p:cNvPr>
          <p:cNvSpPr>
            <a:spLocks xmlns:a="http://schemas.openxmlformats.org/drawingml/2006/main" noGrp="1"/>
          </p:cNvSpPr>
          <p:nvPr/>
        </p:nvSpPr>
        <p:spPr>
          <a:xfrm xmlns:a="http://schemas.openxmlformats.org/drawingml/2006/main">
            <a:off x="5953125" y="2457450"/>
            <a:ext cx="542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MEASURE IN A FARMER PILOT</a:t>
            </a:r>
          </a:p>
        </p:txBody>
      </p:sp>
      <p:sp>
        <p:nvSpPr>
          <p:cNvPr id="10" name="impact-metric-1-label">
            <a:extLst xmlns:a="http://schemas.openxmlformats.org/drawingml/2006/main">
              <a:ext uri="{FF2B5EF4-FFF2-40B4-BE49-F238E27FC236}">
                <a16:creationId xmlns:a16="http://schemas.microsoft.com/office/drawing/2014/main" id="{97D255AE-1A2A-4277-ABB3-9E9FAB9B71BE}"/>
              </a:ext>
            </a:extLst>
          </p:cNvPr>
          <p:cNvSpPr>
            <a:spLocks xmlns:a="http://schemas.openxmlformats.org/drawingml/2006/main" noGrp="1"/>
          </p:cNvSpPr>
          <p:nvPr/>
        </p:nvSpPr>
        <p:spPr>
          <a:xfrm xmlns:a="http://schemas.openxmlformats.org/drawingml/2006/main">
            <a:off x="5962650" y="2838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74A34"/>
                </a:solidFill>
                <a:latin typeface="Arial"/>
                <a:ea typeface="Arial"/>
                <a:cs typeface="Arial"/>
              </a:defRPr>
            </a:defPPr>
            <a:lvl1pPr algn="l">
              <a:defRPr sz="1350" b="1">
                <a:solidFill>
                  <a:srgbClr val="274A34"/>
                </a:solidFill>
                <a:latin typeface="Arial"/>
                <a:ea typeface="Arial"/>
                <a:cs typeface="Arial"/>
              </a:defRPr>
            </a:lvl1pPr>
            <a:lvl2pPr algn="l">
              <a:defRPr sz="1350" b="1">
                <a:solidFill>
                  <a:srgbClr val="274A34"/>
                </a:solidFill>
                <a:latin typeface="Arial"/>
                <a:ea typeface="Arial"/>
                <a:cs typeface="Arial"/>
              </a:defRPr>
            </a:lvl2pPr>
            <a:lvl3pPr algn="l">
              <a:defRPr sz="1350" b="1">
                <a:solidFill>
                  <a:srgbClr val="274A34"/>
                </a:solidFill>
                <a:latin typeface="Arial"/>
                <a:ea typeface="Arial"/>
                <a:cs typeface="Arial"/>
              </a:defRPr>
            </a:lvl3pPr>
            <a:lvl4pPr algn="l">
              <a:defRPr sz="1350" b="1">
                <a:solidFill>
                  <a:srgbClr val="274A34"/>
                </a:solidFill>
                <a:latin typeface="Arial"/>
                <a:ea typeface="Arial"/>
                <a:cs typeface="Arial"/>
              </a:defRPr>
            </a:lvl4pPr>
            <a:lvl5pPr algn="l">
              <a:defRPr sz="1350" b="1">
                <a:solidFill>
                  <a:srgbClr val="274A34"/>
                </a:solidFill>
                <a:latin typeface="Arial"/>
                <a:ea typeface="Arial"/>
                <a:cs typeface="Arial"/>
              </a:defRPr>
            </a:lvl5pPr>
            <a:lvl6pPr algn="l">
              <a:defRPr sz="1350" b="1">
                <a:solidFill>
                  <a:srgbClr val="274A34"/>
                </a:solidFill>
                <a:latin typeface="Arial"/>
                <a:ea typeface="Arial"/>
                <a:cs typeface="Arial"/>
              </a:defRPr>
            </a:lvl6pPr>
            <a:lvl7pPr algn="l">
              <a:defRPr sz="1350" b="1">
                <a:solidFill>
                  <a:srgbClr val="274A34"/>
                </a:solidFill>
                <a:latin typeface="Arial"/>
                <a:ea typeface="Arial"/>
                <a:cs typeface="Arial"/>
              </a:defRPr>
            </a:lvl7pPr>
            <a:lvl8pPr algn="l">
              <a:defRPr sz="1350" b="1">
                <a:solidFill>
                  <a:srgbClr val="274A34"/>
                </a:solidFill>
                <a:latin typeface="Arial"/>
                <a:ea typeface="Arial"/>
                <a:cs typeface="Arial"/>
              </a:defRPr>
            </a:lvl8pPr>
            <a:lvl9pPr algn="l">
              <a:defRPr sz="1350" b="1">
                <a:solidFill>
                  <a:srgbClr val="274A34"/>
                </a:solidFill>
                <a:latin typeface="Arial"/>
                <a:ea typeface="Arial"/>
                <a:cs typeface="Arial"/>
              </a:defRPr>
            </a:lvl9pPr>
          </a:lstStyle>
          <a:p xmlns:a="http://schemas.openxmlformats.org/drawingml/2006/main">
            <a:pPr algn="l">
              <a:defRPr sz="1350" b="1">
                <a:solidFill>
                  <a:srgbClr val="274A34"/>
                </a:solidFill>
                <a:latin typeface="Arial"/>
                <a:ea typeface="Arial"/>
                <a:cs typeface="Arial"/>
              </a:defRPr>
            </a:pPr>
            <a:r>
              <a:rPr sz="1350" b="1">
                <a:solidFill>
                  <a:srgbClr val="274A34"/>
                </a:solidFill>
                <a:latin typeface="Arial"/>
                <a:ea typeface="Arial"/>
                <a:cs typeface="Arial"/>
              </a:rPr>
              <a:t>Evidence</a:t>
            </a:r>
          </a:p>
        </p:txBody>
      </p:sp>
      <p:sp>
        <p:nvSpPr>
          <p:cNvPr id="11" name="impact-metric-1-body">
            <a:extLst xmlns:a="http://schemas.openxmlformats.org/drawingml/2006/main">
              <a:ext uri="{FF2B5EF4-FFF2-40B4-BE49-F238E27FC236}">
                <a16:creationId xmlns:a16="http://schemas.microsoft.com/office/drawing/2014/main" id="{462913ED-A86E-4542-B170-A24B0F35C406}"/>
              </a:ext>
            </a:extLst>
          </p:cNvPr>
          <p:cNvSpPr>
            <a:spLocks xmlns:a="http://schemas.openxmlformats.org/drawingml/2006/main" noGrp="1"/>
          </p:cNvSpPr>
          <p:nvPr/>
        </p:nvSpPr>
        <p:spPr>
          <a:xfrm xmlns:a="http://schemas.openxmlformats.org/drawingml/2006/main">
            <a:off x="7477125" y="2838450"/>
            <a:ext cx="3848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Fresh-price and forecast coverage; abstention quality when data is weak.</a:t>
            </a:r>
          </a:p>
        </p:txBody>
      </p:sp>
      <p:sp>
        <p:nvSpPr>
          <p:cNvPr id="12" name="impact-metric-1-rule">
            <a:extLst xmlns:a="http://schemas.openxmlformats.org/drawingml/2006/main">
              <a:ext uri="{FF2B5EF4-FFF2-40B4-BE49-F238E27FC236}">
                <a16:creationId xmlns:a16="http://schemas.microsoft.com/office/drawing/2014/main" id="{3EC62A79-2616-4FD8-AA81-B39E6C2EBAF7}"/>
              </a:ext>
            </a:extLst>
          </p:cNvPr>
          <p:cNvSpPr>
            <a:spLocks xmlns:a="http://schemas.openxmlformats.org/drawingml/2006/main" noGrp="1"/>
          </p:cNvSpPr>
          <p:nvPr/>
        </p:nvSpPr>
        <p:spPr>
          <a:xfrm xmlns:a="http://schemas.openxmlformats.org/drawingml/2006/main">
            <a:off x="5962650" y="3486150"/>
            <a:ext cx="5334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impact-metric-2-label">
            <a:extLst xmlns:a="http://schemas.openxmlformats.org/drawingml/2006/main">
              <a:ext uri="{FF2B5EF4-FFF2-40B4-BE49-F238E27FC236}">
                <a16:creationId xmlns:a16="http://schemas.microsoft.com/office/drawing/2014/main" id="{DCE94E13-E862-4895-B0E1-502969FC1B41}"/>
              </a:ext>
            </a:extLst>
          </p:cNvPr>
          <p:cNvSpPr>
            <a:spLocks xmlns:a="http://schemas.openxmlformats.org/drawingml/2006/main" noGrp="1"/>
          </p:cNvSpPr>
          <p:nvPr/>
        </p:nvSpPr>
        <p:spPr>
          <a:xfrm xmlns:a="http://schemas.openxmlformats.org/drawingml/2006/main">
            <a:off x="5962650" y="37052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74A34"/>
                </a:solidFill>
                <a:latin typeface="Arial"/>
                <a:ea typeface="Arial"/>
                <a:cs typeface="Arial"/>
              </a:defRPr>
            </a:defPPr>
            <a:lvl1pPr algn="l">
              <a:defRPr sz="1350" b="1">
                <a:solidFill>
                  <a:srgbClr val="274A34"/>
                </a:solidFill>
                <a:latin typeface="Arial"/>
                <a:ea typeface="Arial"/>
                <a:cs typeface="Arial"/>
              </a:defRPr>
            </a:lvl1pPr>
            <a:lvl2pPr algn="l">
              <a:defRPr sz="1350" b="1">
                <a:solidFill>
                  <a:srgbClr val="274A34"/>
                </a:solidFill>
                <a:latin typeface="Arial"/>
                <a:ea typeface="Arial"/>
                <a:cs typeface="Arial"/>
              </a:defRPr>
            </a:lvl2pPr>
            <a:lvl3pPr algn="l">
              <a:defRPr sz="1350" b="1">
                <a:solidFill>
                  <a:srgbClr val="274A34"/>
                </a:solidFill>
                <a:latin typeface="Arial"/>
                <a:ea typeface="Arial"/>
                <a:cs typeface="Arial"/>
              </a:defRPr>
            </a:lvl3pPr>
            <a:lvl4pPr algn="l">
              <a:defRPr sz="1350" b="1">
                <a:solidFill>
                  <a:srgbClr val="274A34"/>
                </a:solidFill>
                <a:latin typeface="Arial"/>
                <a:ea typeface="Arial"/>
                <a:cs typeface="Arial"/>
              </a:defRPr>
            </a:lvl4pPr>
            <a:lvl5pPr algn="l">
              <a:defRPr sz="1350" b="1">
                <a:solidFill>
                  <a:srgbClr val="274A34"/>
                </a:solidFill>
                <a:latin typeface="Arial"/>
                <a:ea typeface="Arial"/>
                <a:cs typeface="Arial"/>
              </a:defRPr>
            </a:lvl5pPr>
            <a:lvl6pPr algn="l">
              <a:defRPr sz="1350" b="1">
                <a:solidFill>
                  <a:srgbClr val="274A34"/>
                </a:solidFill>
                <a:latin typeface="Arial"/>
                <a:ea typeface="Arial"/>
                <a:cs typeface="Arial"/>
              </a:defRPr>
            </a:lvl6pPr>
            <a:lvl7pPr algn="l">
              <a:defRPr sz="1350" b="1">
                <a:solidFill>
                  <a:srgbClr val="274A34"/>
                </a:solidFill>
                <a:latin typeface="Arial"/>
                <a:ea typeface="Arial"/>
                <a:cs typeface="Arial"/>
              </a:defRPr>
            </a:lvl7pPr>
            <a:lvl8pPr algn="l">
              <a:defRPr sz="1350" b="1">
                <a:solidFill>
                  <a:srgbClr val="274A34"/>
                </a:solidFill>
                <a:latin typeface="Arial"/>
                <a:ea typeface="Arial"/>
                <a:cs typeface="Arial"/>
              </a:defRPr>
            </a:lvl8pPr>
            <a:lvl9pPr algn="l">
              <a:defRPr sz="1350" b="1">
                <a:solidFill>
                  <a:srgbClr val="274A34"/>
                </a:solidFill>
                <a:latin typeface="Arial"/>
                <a:ea typeface="Arial"/>
                <a:cs typeface="Arial"/>
              </a:defRPr>
            </a:lvl9pPr>
          </a:lstStyle>
          <a:p xmlns:a="http://schemas.openxmlformats.org/drawingml/2006/main">
            <a:pPr algn="l">
              <a:defRPr sz="1350" b="1">
                <a:solidFill>
                  <a:srgbClr val="274A34"/>
                </a:solidFill>
                <a:latin typeface="Arial"/>
                <a:ea typeface="Arial"/>
                <a:cs typeface="Arial"/>
              </a:defRPr>
            </a:pPr>
            <a:r>
              <a:rPr sz="1350" b="1">
                <a:solidFill>
                  <a:srgbClr val="274A34"/>
                </a:solidFill>
                <a:latin typeface="Arial"/>
                <a:ea typeface="Arial"/>
                <a:cs typeface="Arial"/>
              </a:rPr>
              <a:t>Usefulness</a:t>
            </a:r>
          </a:p>
        </p:txBody>
      </p:sp>
      <p:sp>
        <p:nvSpPr>
          <p:cNvPr id="14" name="impact-metric-2-body">
            <a:extLst xmlns:a="http://schemas.openxmlformats.org/drawingml/2006/main">
              <a:ext uri="{FF2B5EF4-FFF2-40B4-BE49-F238E27FC236}">
                <a16:creationId xmlns:a16="http://schemas.microsoft.com/office/drawing/2014/main" id="{C30B523C-8FC2-432A-BB81-B92A47F7E36F}"/>
              </a:ext>
            </a:extLst>
          </p:cNvPr>
          <p:cNvSpPr>
            <a:spLocks xmlns:a="http://schemas.openxmlformats.org/drawingml/2006/main" noGrp="1"/>
          </p:cNvSpPr>
          <p:nvPr/>
        </p:nvSpPr>
        <p:spPr>
          <a:xfrm xmlns:a="http://schemas.openxmlformats.org/drawingml/2006/main">
            <a:off x="7477125" y="3705225"/>
            <a:ext cx="3848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Time to understand options and whether users say the comparison helped.</a:t>
            </a:r>
          </a:p>
        </p:txBody>
      </p:sp>
      <p:sp>
        <p:nvSpPr>
          <p:cNvPr id="15" name="impact-metric-2-rule">
            <a:extLst xmlns:a="http://schemas.openxmlformats.org/drawingml/2006/main">
              <a:ext uri="{FF2B5EF4-FFF2-40B4-BE49-F238E27FC236}">
                <a16:creationId xmlns:a16="http://schemas.microsoft.com/office/drawing/2014/main" id="{EA0FD738-6D97-4234-AD01-ED4D66BCFBAA}"/>
              </a:ext>
            </a:extLst>
          </p:cNvPr>
          <p:cNvSpPr>
            <a:spLocks xmlns:a="http://schemas.openxmlformats.org/drawingml/2006/main" noGrp="1"/>
          </p:cNvSpPr>
          <p:nvPr/>
        </p:nvSpPr>
        <p:spPr>
          <a:xfrm xmlns:a="http://schemas.openxmlformats.org/drawingml/2006/main">
            <a:off x="5962650" y="4352925"/>
            <a:ext cx="5334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6" name="impact-metric-3-label">
            <a:extLst xmlns:a="http://schemas.openxmlformats.org/drawingml/2006/main">
              <a:ext uri="{FF2B5EF4-FFF2-40B4-BE49-F238E27FC236}">
                <a16:creationId xmlns:a16="http://schemas.microsoft.com/office/drawing/2014/main" id="{9586DEED-EE86-4A14-A262-B7DDD26E975A}"/>
              </a:ext>
            </a:extLst>
          </p:cNvPr>
          <p:cNvSpPr>
            <a:spLocks xmlns:a="http://schemas.openxmlformats.org/drawingml/2006/main" noGrp="1"/>
          </p:cNvSpPr>
          <p:nvPr/>
        </p:nvSpPr>
        <p:spPr>
          <a:xfrm xmlns:a="http://schemas.openxmlformats.org/drawingml/2006/main">
            <a:off x="5962650" y="45720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74A34"/>
                </a:solidFill>
                <a:latin typeface="Arial"/>
                <a:ea typeface="Arial"/>
                <a:cs typeface="Arial"/>
              </a:defRPr>
            </a:defPPr>
            <a:lvl1pPr algn="l">
              <a:defRPr sz="1350" b="1">
                <a:solidFill>
                  <a:srgbClr val="274A34"/>
                </a:solidFill>
                <a:latin typeface="Arial"/>
                <a:ea typeface="Arial"/>
                <a:cs typeface="Arial"/>
              </a:defRPr>
            </a:lvl1pPr>
            <a:lvl2pPr algn="l">
              <a:defRPr sz="1350" b="1">
                <a:solidFill>
                  <a:srgbClr val="274A34"/>
                </a:solidFill>
                <a:latin typeface="Arial"/>
                <a:ea typeface="Arial"/>
                <a:cs typeface="Arial"/>
              </a:defRPr>
            </a:lvl2pPr>
            <a:lvl3pPr algn="l">
              <a:defRPr sz="1350" b="1">
                <a:solidFill>
                  <a:srgbClr val="274A34"/>
                </a:solidFill>
                <a:latin typeface="Arial"/>
                <a:ea typeface="Arial"/>
                <a:cs typeface="Arial"/>
              </a:defRPr>
            </a:lvl3pPr>
            <a:lvl4pPr algn="l">
              <a:defRPr sz="1350" b="1">
                <a:solidFill>
                  <a:srgbClr val="274A34"/>
                </a:solidFill>
                <a:latin typeface="Arial"/>
                <a:ea typeface="Arial"/>
                <a:cs typeface="Arial"/>
              </a:defRPr>
            </a:lvl4pPr>
            <a:lvl5pPr algn="l">
              <a:defRPr sz="1350" b="1">
                <a:solidFill>
                  <a:srgbClr val="274A34"/>
                </a:solidFill>
                <a:latin typeface="Arial"/>
                <a:ea typeface="Arial"/>
                <a:cs typeface="Arial"/>
              </a:defRPr>
            </a:lvl5pPr>
            <a:lvl6pPr algn="l">
              <a:defRPr sz="1350" b="1">
                <a:solidFill>
                  <a:srgbClr val="274A34"/>
                </a:solidFill>
                <a:latin typeface="Arial"/>
                <a:ea typeface="Arial"/>
                <a:cs typeface="Arial"/>
              </a:defRPr>
            </a:lvl6pPr>
            <a:lvl7pPr algn="l">
              <a:defRPr sz="1350" b="1">
                <a:solidFill>
                  <a:srgbClr val="274A34"/>
                </a:solidFill>
                <a:latin typeface="Arial"/>
                <a:ea typeface="Arial"/>
                <a:cs typeface="Arial"/>
              </a:defRPr>
            </a:lvl7pPr>
            <a:lvl8pPr algn="l">
              <a:defRPr sz="1350" b="1">
                <a:solidFill>
                  <a:srgbClr val="274A34"/>
                </a:solidFill>
                <a:latin typeface="Arial"/>
                <a:ea typeface="Arial"/>
                <a:cs typeface="Arial"/>
              </a:defRPr>
            </a:lvl8pPr>
            <a:lvl9pPr algn="l">
              <a:defRPr sz="1350" b="1">
                <a:solidFill>
                  <a:srgbClr val="274A34"/>
                </a:solidFill>
                <a:latin typeface="Arial"/>
                <a:ea typeface="Arial"/>
                <a:cs typeface="Arial"/>
              </a:defRPr>
            </a:lvl9pPr>
          </a:lstStyle>
          <a:p xmlns:a="http://schemas.openxmlformats.org/drawingml/2006/main">
            <a:pPr algn="l">
              <a:defRPr sz="1350" b="1">
                <a:solidFill>
                  <a:srgbClr val="274A34"/>
                </a:solidFill>
                <a:latin typeface="Arial"/>
                <a:ea typeface="Arial"/>
                <a:cs typeface="Arial"/>
              </a:defRPr>
            </a:pPr>
            <a:r>
              <a:rPr sz="1350" b="1">
                <a:solidFill>
                  <a:srgbClr val="274A34"/>
                </a:solidFill>
                <a:latin typeface="Arial"/>
                <a:ea typeface="Arial"/>
                <a:cs typeface="Arial"/>
              </a:rPr>
              <a:t>Outcomes</a:t>
            </a:r>
          </a:p>
        </p:txBody>
      </p:sp>
      <p:sp>
        <p:nvSpPr>
          <p:cNvPr id="17" name="impact-metric-3-body">
            <a:extLst xmlns:a="http://schemas.openxmlformats.org/drawingml/2006/main">
              <a:ext uri="{FF2B5EF4-FFF2-40B4-BE49-F238E27FC236}">
                <a16:creationId xmlns:a16="http://schemas.microsoft.com/office/drawing/2014/main" id="{FFB13FEF-153C-4A40-AA73-DE3D417D0E7E}"/>
              </a:ext>
            </a:extLst>
          </p:cNvPr>
          <p:cNvSpPr>
            <a:spLocks xmlns:a="http://schemas.openxmlformats.org/drawingml/2006/main" noGrp="1"/>
          </p:cNvSpPr>
          <p:nvPr/>
        </p:nvSpPr>
        <p:spPr>
          <a:xfrm xmlns:a="http://schemas.openxmlformats.org/drawingml/2006/main">
            <a:off x="7477125" y="4572000"/>
            <a:ext cx="3848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Follow-up choices and realized results, with consent and context.</a:t>
            </a:r>
          </a:p>
        </p:txBody>
      </p:sp>
      <p:sp>
        <p:nvSpPr>
          <p:cNvPr id="18" name="impact-global-mark">
            <a:extLst xmlns:a="http://schemas.openxmlformats.org/drawingml/2006/main">
              <a:ext uri="{FF2B5EF4-FFF2-40B4-BE49-F238E27FC236}">
                <a16:creationId xmlns:a16="http://schemas.microsoft.com/office/drawing/2014/main" id="{B64B82A3-CFE0-48AF-A5B5-4A46BCC66DCE}"/>
              </a:ext>
            </a:extLst>
          </p:cNvPr>
          <p:cNvSpPr>
            <a:spLocks xmlns:a="http://schemas.openxmlformats.org/drawingml/2006/main" noGrp="1"/>
          </p:cNvSpPr>
          <p:nvPr/>
        </p:nvSpPr>
        <p:spPr>
          <a:xfrm xmlns:a="http://schemas.openxmlformats.org/drawingml/2006/main">
            <a:off x="781050" y="5305425"/>
            <a:ext cx="38100" cy="666750"/>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19" name="impact-global-label">
            <a:extLst xmlns:a="http://schemas.openxmlformats.org/drawingml/2006/main">
              <a:ext uri="{FF2B5EF4-FFF2-40B4-BE49-F238E27FC236}">
                <a16:creationId xmlns:a16="http://schemas.microsoft.com/office/drawing/2014/main" id="{61C63DA2-A7B3-42B9-B5A4-9827A973AC9C}"/>
              </a:ext>
            </a:extLst>
          </p:cNvPr>
          <p:cNvSpPr>
            <a:spLocks xmlns:a="http://schemas.openxmlformats.org/drawingml/2006/main" noGrp="1"/>
          </p:cNvSpPr>
          <p:nvPr/>
        </p:nvSpPr>
        <p:spPr>
          <a:xfrm xmlns:a="http://schemas.openxmlformats.org/drawingml/2006/main">
            <a:off x="962025" y="5314950"/>
            <a:ext cx="1666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C78A38"/>
                </a:solidFill>
                <a:latin typeface="Arial"/>
                <a:ea typeface="Arial"/>
                <a:cs typeface="Arial"/>
              </a:defRPr>
            </a:defPPr>
            <a:lvl1pPr algn="l">
              <a:defRPr sz="825" b="1">
                <a:solidFill>
                  <a:srgbClr val="C78A38"/>
                </a:solidFill>
                <a:latin typeface="Arial"/>
                <a:ea typeface="Arial"/>
                <a:cs typeface="Arial"/>
              </a:defRPr>
            </a:lvl1pPr>
            <a:lvl2pPr algn="l">
              <a:defRPr sz="825" b="1">
                <a:solidFill>
                  <a:srgbClr val="C78A38"/>
                </a:solidFill>
                <a:latin typeface="Arial"/>
                <a:ea typeface="Arial"/>
                <a:cs typeface="Arial"/>
              </a:defRPr>
            </a:lvl2pPr>
            <a:lvl3pPr algn="l">
              <a:defRPr sz="825" b="1">
                <a:solidFill>
                  <a:srgbClr val="C78A38"/>
                </a:solidFill>
                <a:latin typeface="Arial"/>
                <a:ea typeface="Arial"/>
                <a:cs typeface="Arial"/>
              </a:defRPr>
            </a:lvl3pPr>
            <a:lvl4pPr algn="l">
              <a:defRPr sz="825" b="1">
                <a:solidFill>
                  <a:srgbClr val="C78A38"/>
                </a:solidFill>
                <a:latin typeface="Arial"/>
                <a:ea typeface="Arial"/>
                <a:cs typeface="Arial"/>
              </a:defRPr>
            </a:lvl4pPr>
            <a:lvl5pPr algn="l">
              <a:defRPr sz="825" b="1">
                <a:solidFill>
                  <a:srgbClr val="C78A38"/>
                </a:solidFill>
                <a:latin typeface="Arial"/>
                <a:ea typeface="Arial"/>
                <a:cs typeface="Arial"/>
              </a:defRPr>
            </a:lvl5pPr>
            <a:lvl6pPr algn="l">
              <a:defRPr sz="825" b="1">
                <a:solidFill>
                  <a:srgbClr val="C78A38"/>
                </a:solidFill>
                <a:latin typeface="Arial"/>
                <a:ea typeface="Arial"/>
                <a:cs typeface="Arial"/>
              </a:defRPr>
            </a:lvl6pPr>
            <a:lvl7pPr algn="l">
              <a:defRPr sz="825" b="1">
                <a:solidFill>
                  <a:srgbClr val="C78A38"/>
                </a:solidFill>
                <a:latin typeface="Arial"/>
                <a:ea typeface="Arial"/>
                <a:cs typeface="Arial"/>
              </a:defRPr>
            </a:lvl7pPr>
            <a:lvl8pPr algn="l">
              <a:defRPr sz="825" b="1">
                <a:solidFill>
                  <a:srgbClr val="C78A38"/>
                </a:solidFill>
                <a:latin typeface="Arial"/>
                <a:ea typeface="Arial"/>
                <a:cs typeface="Arial"/>
              </a:defRPr>
            </a:lvl8pPr>
            <a:lvl9pPr algn="l">
              <a:defRPr sz="825" b="1">
                <a:solidFill>
                  <a:srgbClr val="C78A38"/>
                </a:solidFill>
                <a:latin typeface="Arial"/>
                <a:ea typeface="Arial"/>
                <a:cs typeface="Arial"/>
              </a:defRPr>
            </a:lvl9pPr>
          </a:lstStyle>
          <a:p xmlns:a="http://schemas.openxmlformats.org/drawingml/2006/main">
            <a:pPr algn="l">
              <a:defRPr sz="825" b="1">
                <a:solidFill>
                  <a:srgbClr val="C78A38"/>
                </a:solidFill>
                <a:latin typeface="Arial"/>
                <a:ea typeface="Arial"/>
                <a:cs typeface="Arial"/>
              </a:defRPr>
            </a:pPr>
            <a:r>
              <a:rPr sz="825" b="1">
                <a:solidFill>
                  <a:srgbClr val="C78A38"/>
                </a:solidFill>
                <a:latin typeface="Arial"/>
                <a:ea typeface="Arial"/>
                <a:cs typeface="Arial"/>
              </a:rPr>
              <a:t>TO EXPAND GLOBALLY</a:t>
            </a:r>
          </a:p>
        </p:txBody>
      </p:sp>
      <p:sp>
        <p:nvSpPr>
          <p:cNvPr id="20" name="impact-global-copy">
            <a:extLst xmlns:a="http://schemas.openxmlformats.org/drawingml/2006/main">
              <a:ext uri="{FF2B5EF4-FFF2-40B4-BE49-F238E27FC236}">
                <a16:creationId xmlns:a16="http://schemas.microsoft.com/office/drawing/2014/main" id="{F96BFF02-038C-4882-9E5C-22ED538D4A3E}"/>
              </a:ext>
            </a:extLst>
          </p:cNvPr>
          <p:cNvSpPr>
            <a:spLocks xmlns:a="http://schemas.openxmlformats.org/drawingml/2006/main" noGrp="1"/>
          </p:cNvSpPr>
          <p:nvPr/>
        </p:nvSpPr>
        <p:spPr>
          <a:xfrm xmlns:a="http://schemas.openxmlformats.org/drawingml/2006/main">
            <a:off x="2676525" y="5286375"/>
            <a:ext cx="86201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74A34"/>
                </a:solidFill>
                <a:latin typeface="Arial"/>
                <a:ea typeface="Arial"/>
                <a:cs typeface="Arial"/>
              </a:defRPr>
            </a:defPPr>
            <a:lvl1pPr algn="l">
              <a:defRPr sz="1200" b="0">
                <a:solidFill>
                  <a:srgbClr val="274A34"/>
                </a:solidFill>
                <a:latin typeface="Arial"/>
                <a:ea typeface="Arial"/>
                <a:cs typeface="Arial"/>
              </a:defRPr>
            </a:lvl1pPr>
            <a:lvl2pPr algn="l">
              <a:defRPr sz="1200" b="0">
                <a:solidFill>
                  <a:srgbClr val="274A34"/>
                </a:solidFill>
                <a:latin typeface="Arial"/>
                <a:ea typeface="Arial"/>
                <a:cs typeface="Arial"/>
              </a:defRPr>
            </a:lvl2pPr>
            <a:lvl3pPr algn="l">
              <a:defRPr sz="1200" b="0">
                <a:solidFill>
                  <a:srgbClr val="274A34"/>
                </a:solidFill>
                <a:latin typeface="Arial"/>
                <a:ea typeface="Arial"/>
                <a:cs typeface="Arial"/>
              </a:defRPr>
            </a:lvl3pPr>
            <a:lvl4pPr algn="l">
              <a:defRPr sz="1200" b="0">
                <a:solidFill>
                  <a:srgbClr val="274A34"/>
                </a:solidFill>
                <a:latin typeface="Arial"/>
                <a:ea typeface="Arial"/>
                <a:cs typeface="Arial"/>
              </a:defRPr>
            </a:lvl4pPr>
            <a:lvl5pPr algn="l">
              <a:defRPr sz="1200" b="0">
                <a:solidFill>
                  <a:srgbClr val="274A34"/>
                </a:solidFill>
                <a:latin typeface="Arial"/>
                <a:ea typeface="Arial"/>
                <a:cs typeface="Arial"/>
              </a:defRPr>
            </a:lvl5pPr>
            <a:lvl6pPr algn="l">
              <a:defRPr sz="1200" b="0">
                <a:solidFill>
                  <a:srgbClr val="274A34"/>
                </a:solidFill>
                <a:latin typeface="Arial"/>
                <a:ea typeface="Arial"/>
                <a:cs typeface="Arial"/>
              </a:defRPr>
            </a:lvl6pPr>
            <a:lvl7pPr algn="l">
              <a:defRPr sz="1200" b="0">
                <a:solidFill>
                  <a:srgbClr val="274A34"/>
                </a:solidFill>
                <a:latin typeface="Arial"/>
                <a:ea typeface="Arial"/>
                <a:cs typeface="Arial"/>
              </a:defRPr>
            </a:lvl7pPr>
            <a:lvl8pPr algn="l">
              <a:defRPr sz="1200" b="0">
                <a:solidFill>
                  <a:srgbClr val="274A34"/>
                </a:solidFill>
                <a:latin typeface="Arial"/>
                <a:ea typeface="Arial"/>
                <a:cs typeface="Arial"/>
              </a:defRPr>
            </a:lvl8pPr>
            <a:lvl9pPr algn="l">
              <a:defRPr sz="1200" b="0">
                <a:solidFill>
                  <a:srgbClr val="274A34"/>
                </a:solidFill>
                <a:latin typeface="Arial"/>
                <a:ea typeface="Arial"/>
                <a:cs typeface="Arial"/>
              </a:defRPr>
            </a:lvl9pPr>
          </a:lstStyle>
          <a:p xmlns:a="http://schemas.openxmlformats.org/drawingml/2006/main">
            <a:pPr algn="l">
              <a:defRPr sz="1200" b="0">
                <a:solidFill>
                  <a:srgbClr val="274A34"/>
                </a:solidFill>
                <a:latin typeface="Arial"/>
                <a:ea typeface="Arial"/>
                <a:cs typeface="Arial"/>
              </a:defRPr>
            </a:pPr>
            <a:r>
              <a:rPr sz="1200" b="0">
                <a:solidFill>
                  <a:srgbClr val="274A34"/>
                </a:solidFill>
                <a:latin typeface="Arial"/>
                <a:ea typeface="Arial"/>
                <a:cs typeface="Arial"/>
              </a:rPr>
              <a:t>Localize crop and grade, market feeds, units, currency, weather/storage evidence, language and privacy rules; validate with farmers before claiming outcomes.</a:t>
            </a:r>
          </a:p>
        </p:txBody>
      </p:sp>
    </p:spTree>
    <p:extLst>
      <p:ext uri="{BB962C8B-B14F-4D97-AF65-F5344CB8AC3E}">
        <p14:creationId xmlns:p14="http://schemas.microsoft.com/office/powerpoint/2010/main" val="435989272"/>
      </p:ext>
    </p:extLst>
  </p:cSld>
</p:sld>
</file>

<file path=ppt/slides/slide8.xml><?xml version="1.0" encoding="utf-8"?>
<p:sld xmlns:p="http://schemas.openxmlformats.org/presentationml/2006/main">
  <p:cSld>
    <p:bg>
      <p:bgPr>
        <a:solidFill xmlns:a="http://schemas.openxmlformats.org/drawingml/2006/main">
          <a:srgbClr val="183525"/>
        </a:solidFill>
      </p:bgPr>
    </p:bg>
    <p:spTree>
      <p:nvGrpSpPr>
        <p:cNvPr id="1" name=""/>
        <p:cNvGrpSpPr/>
        <p:nvPr/>
      </p:nvGrpSpPr>
      <p:grpSpPr>
        <a:xfrm xmlns:a="http://schemas.openxmlformats.org/drawingml/2006/main"/>
      </p:grpSpPr>
      <p:sp>
        <p:nvSpPr>
          <p:cNvPr id="24" name="status-index">
            <a:extLst xmlns:a="http://schemas.openxmlformats.org/drawingml/2006/main">
              <a:ext uri="{FF2B5EF4-FFF2-40B4-BE49-F238E27FC236}">
                <a16:creationId xmlns:a16="http://schemas.microsoft.com/office/drawing/2014/main" id="{E61029CC-E23F-4711-954C-180DCD5D3AE5}"/>
              </a:ext>
            </a:extLst>
          </p:cNvPr>
          <p:cNvSpPr>
            <a:spLocks xmlns:a="http://schemas.openxmlformats.org/drawingml/2006/main" noGrp="1"/>
          </p:cNvSpPr>
          <p:nvPr/>
        </p:nvSpPr>
        <p:spPr>
          <a:xfrm xmlns:a="http://schemas.openxmlformats.org/drawingml/2006/main">
            <a:off x="762000" y="5048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D9C99F"/>
                </a:solidFill>
                <a:latin typeface="Arial"/>
                <a:ea typeface="Arial"/>
                <a:cs typeface="Arial"/>
              </a:defRPr>
            </a:defPPr>
            <a:lvl1pPr algn="l">
              <a:defRPr sz="900" b="1">
                <a:solidFill>
                  <a:srgbClr val="D9C99F"/>
                </a:solidFill>
                <a:latin typeface="Arial"/>
                <a:ea typeface="Arial"/>
                <a:cs typeface="Arial"/>
              </a:defRPr>
            </a:lvl1pPr>
            <a:lvl2pPr algn="l">
              <a:defRPr sz="900" b="1">
                <a:solidFill>
                  <a:srgbClr val="D9C99F"/>
                </a:solidFill>
                <a:latin typeface="Arial"/>
                <a:ea typeface="Arial"/>
                <a:cs typeface="Arial"/>
              </a:defRPr>
            </a:lvl2pPr>
            <a:lvl3pPr algn="l">
              <a:defRPr sz="900" b="1">
                <a:solidFill>
                  <a:srgbClr val="D9C99F"/>
                </a:solidFill>
                <a:latin typeface="Arial"/>
                <a:ea typeface="Arial"/>
                <a:cs typeface="Arial"/>
              </a:defRPr>
            </a:lvl3pPr>
            <a:lvl4pPr algn="l">
              <a:defRPr sz="900" b="1">
                <a:solidFill>
                  <a:srgbClr val="D9C99F"/>
                </a:solidFill>
                <a:latin typeface="Arial"/>
                <a:ea typeface="Arial"/>
                <a:cs typeface="Arial"/>
              </a:defRPr>
            </a:lvl4pPr>
            <a:lvl5pPr algn="l">
              <a:defRPr sz="900" b="1">
                <a:solidFill>
                  <a:srgbClr val="D9C99F"/>
                </a:solidFill>
                <a:latin typeface="Arial"/>
                <a:ea typeface="Arial"/>
                <a:cs typeface="Arial"/>
              </a:defRPr>
            </a:lvl5pPr>
            <a:lvl6pPr algn="l">
              <a:defRPr sz="900" b="1">
                <a:solidFill>
                  <a:srgbClr val="D9C99F"/>
                </a:solidFill>
                <a:latin typeface="Arial"/>
                <a:ea typeface="Arial"/>
                <a:cs typeface="Arial"/>
              </a:defRPr>
            </a:lvl6pPr>
            <a:lvl7pPr algn="l">
              <a:defRPr sz="900" b="1">
                <a:solidFill>
                  <a:srgbClr val="D9C99F"/>
                </a:solidFill>
                <a:latin typeface="Arial"/>
                <a:ea typeface="Arial"/>
                <a:cs typeface="Arial"/>
              </a:defRPr>
            </a:lvl7pPr>
            <a:lvl8pPr algn="l">
              <a:defRPr sz="900" b="1">
                <a:solidFill>
                  <a:srgbClr val="D9C99F"/>
                </a:solidFill>
                <a:latin typeface="Arial"/>
                <a:ea typeface="Arial"/>
                <a:cs typeface="Arial"/>
              </a:defRPr>
            </a:lvl8pPr>
            <a:lvl9pPr algn="l">
              <a:defRPr sz="900" b="1">
                <a:solidFill>
                  <a:srgbClr val="D9C99F"/>
                </a:solidFill>
                <a:latin typeface="Arial"/>
                <a:ea typeface="Arial"/>
                <a:cs typeface="Arial"/>
              </a:defRPr>
            </a:lvl9pPr>
          </a:lstStyle>
          <a:p xmlns:a="http://schemas.openxmlformats.org/drawingml/2006/main">
            <a:pPr algn="l">
              <a:defRPr sz="900" b="1">
                <a:solidFill>
                  <a:srgbClr val="D9C99F"/>
                </a:solidFill>
                <a:latin typeface="Arial"/>
                <a:ea typeface="Arial"/>
                <a:cs typeface="Arial"/>
              </a:defRPr>
            </a:pPr>
            <a:r>
              <a:rPr sz="900" b="1">
                <a:solidFill>
                  <a:srgbClr val="D9C99F"/>
                </a:solidFill>
                <a:latin typeface="Arial"/>
                <a:ea typeface="Arial"/>
                <a:cs typeface="Arial"/>
              </a:rPr>
              <a:t>OPEN AGENT MAIZE   /   VALIDATION</a:t>
            </a:r>
          </a:p>
        </p:txBody>
      </p:sp>
      <p:sp>
        <p:nvSpPr>
          <p:cNvPr id="2" name="status-title">
            <a:extLst xmlns:a="http://schemas.openxmlformats.org/drawingml/2006/main">
              <a:ext uri="{FF2B5EF4-FFF2-40B4-BE49-F238E27FC236}">
                <a16:creationId xmlns:a16="http://schemas.microsoft.com/office/drawing/2014/main" id="{DC69FD9A-6E08-4D33-B542-46235388573C}"/>
              </a:ext>
            </a:extLst>
          </p:cNvPr>
          <p:cNvSpPr>
            <a:spLocks xmlns:a="http://schemas.openxmlformats.org/drawingml/2006/main" noGrp="1"/>
          </p:cNvSpPr>
          <p:nvPr/>
        </p:nvSpPr>
        <p:spPr>
          <a:xfrm xmlns:a="http://schemas.openxmlformats.org/drawingml/2006/main">
            <a:off x="742950" y="866775"/>
            <a:ext cx="104775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0">
                <a:solidFill>
                  <a:srgbClr val="FFFEFA"/>
                </a:solidFill>
                <a:latin typeface="Georgia"/>
                <a:ea typeface="Georgia"/>
                <a:cs typeface="Georgia"/>
              </a:defRPr>
            </a:defPPr>
            <a:lvl1pPr algn="l">
              <a:defRPr sz="3300" b="0">
                <a:solidFill>
                  <a:srgbClr val="FFFEFA"/>
                </a:solidFill>
                <a:latin typeface="Georgia"/>
                <a:ea typeface="Georgia"/>
                <a:cs typeface="Georgia"/>
              </a:defRPr>
            </a:lvl1pPr>
            <a:lvl2pPr algn="l">
              <a:defRPr sz="3300" b="0">
                <a:solidFill>
                  <a:srgbClr val="FFFEFA"/>
                </a:solidFill>
                <a:latin typeface="Georgia"/>
                <a:ea typeface="Georgia"/>
                <a:cs typeface="Georgia"/>
              </a:defRPr>
            </a:lvl2pPr>
            <a:lvl3pPr algn="l">
              <a:defRPr sz="3300" b="0">
                <a:solidFill>
                  <a:srgbClr val="FFFEFA"/>
                </a:solidFill>
                <a:latin typeface="Georgia"/>
                <a:ea typeface="Georgia"/>
                <a:cs typeface="Georgia"/>
              </a:defRPr>
            </a:lvl3pPr>
            <a:lvl4pPr algn="l">
              <a:defRPr sz="3300" b="0">
                <a:solidFill>
                  <a:srgbClr val="FFFEFA"/>
                </a:solidFill>
                <a:latin typeface="Georgia"/>
                <a:ea typeface="Georgia"/>
                <a:cs typeface="Georgia"/>
              </a:defRPr>
            </a:lvl4pPr>
            <a:lvl5pPr algn="l">
              <a:defRPr sz="3300" b="0">
                <a:solidFill>
                  <a:srgbClr val="FFFEFA"/>
                </a:solidFill>
                <a:latin typeface="Georgia"/>
                <a:ea typeface="Georgia"/>
                <a:cs typeface="Georgia"/>
              </a:defRPr>
            </a:lvl5pPr>
            <a:lvl6pPr algn="l">
              <a:defRPr sz="3300" b="0">
                <a:solidFill>
                  <a:srgbClr val="FFFEFA"/>
                </a:solidFill>
                <a:latin typeface="Georgia"/>
                <a:ea typeface="Georgia"/>
                <a:cs typeface="Georgia"/>
              </a:defRPr>
            </a:lvl6pPr>
            <a:lvl7pPr algn="l">
              <a:defRPr sz="3300" b="0">
                <a:solidFill>
                  <a:srgbClr val="FFFEFA"/>
                </a:solidFill>
                <a:latin typeface="Georgia"/>
                <a:ea typeface="Georgia"/>
                <a:cs typeface="Georgia"/>
              </a:defRPr>
            </a:lvl7pPr>
            <a:lvl8pPr algn="l">
              <a:defRPr sz="3300" b="0">
                <a:solidFill>
                  <a:srgbClr val="FFFEFA"/>
                </a:solidFill>
                <a:latin typeface="Georgia"/>
                <a:ea typeface="Georgia"/>
                <a:cs typeface="Georgia"/>
              </a:defRPr>
            </a:lvl8pPr>
            <a:lvl9pPr algn="l">
              <a:defRPr sz="3300" b="0">
                <a:solidFill>
                  <a:srgbClr val="FFFEFA"/>
                </a:solidFill>
                <a:latin typeface="Georgia"/>
                <a:ea typeface="Georgia"/>
                <a:cs typeface="Georgia"/>
              </a:defRPr>
            </a:lvl9pPr>
          </a:lstStyle>
          <a:p xmlns:a="http://schemas.openxmlformats.org/drawingml/2006/main">
            <a:pPr algn="l">
              <a:defRPr sz="3300" b="0">
                <a:solidFill>
                  <a:srgbClr val="FFFEFA"/>
                </a:solidFill>
                <a:latin typeface="Georgia"/>
                <a:ea typeface="Georgia"/>
                <a:cs typeface="Georgia"/>
              </a:defRPr>
            </a:pPr>
            <a:r>
              <a:rPr sz="3300" b="0">
                <a:solidFill>
                  <a:srgbClr val="FFFEFA"/>
                </a:solidFill>
                <a:latin typeface="Georgia"/>
                <a:ea typeface="Georgia"/>
                <a:cs typeface="Georgia"/>
              </a:rPr>
              <a:t>Live workflow ready for judge evaluation</a:t>
            </a:r>
          </a:p>
        </p:txBody>
      </p:sp>
      <p:sp>
        <p:nvSpPr>
          <p:cNvPr id="3" name="status-subtitle">
            <a:extLst xmlns:a="http://schemas.openxmlformats.org/drawingml/2006/main">
              <a:ext uri="{FF2B5EF4-FFF2-40B4-BE49-F238E27FC236}">
                <a16:creationId xmlns:a16="http://schemas.microsoft.com/office/drawing/2014/main" id="{D0816BB3-1512-42DC-BCAF-3496AF2BFB53}"/>
              </a:ext>
            </a:extLst>
          </p:cNvPr>
          <p:cNvSpPr>
            <a:spLocks xmlns:a="http://schemas.openxmlformats.org/drawingml/2006/main" noGrp="1"/>
          </p:cNvSpPr>
          <p:nvPr/>
        </p:nvSpPr>
        <p:spPr>
          <a:xfrm xmlns:a="http://schemas.openxmlformats.org/drawingml/2006/main">
            <a:off x="771525" y="15811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4D0C2"/>
                </a:solidFill>
                <a:latin typeface="Arial"/>
                <a:ea typeface="Arial"/>
                <a:cs typeface="Arial"/>
              </a:defRPr>
            </a:defPPr>
            <a:lvl1pPr algn="l">
              <a:defRPr sz="1350" b="0">
                <a:solidFill>
                  <a:srgbClr val="C4D0C2"/>
                </a:solidFill>
                <a:latin typeface="Arial"/>
                <a:ea typeface="Arial"/>
                <a:cs typeface="Arial"/>
              </a:defRPr>
            </a:lvl1pPr>
            <a:lvl2pPr algn="l">
              <a:defRPr sz="1350" b="0">
                <a:solidFill>
                  <a:srgbClr val="C4D0C2"/>
                </a:solidFill>
                <a:latin typeface="Arial"/>
                <a:ea typeface="Arial"/>
                <a:cs typeface="Arial"/>
              </a:defRPr>
            </a:lvl2pPr>
            <a:lvl3pPr algn="l">
              <a:defRPr sz="1350" b="0">
                <a:solidFill>
                  <a:srgbClr val="C4D0C2"/>
                </a:solidFill>
                <a:latin typeface="Arial"/>
                <a:ea typeface="Arial"/>
                <a:cs typeface="Arial"/>
              </a:defRPr>
            </a:lvl3pPr>
            <a:lvl4pPr algn="l">
              <a:defRPr sz="1350" b="0">
                <a:solidFill>
                  <a:srgbClr val="C4D0C2"/>
                </a:solidFill>
                <a:latin typeface="Arial"/>
                <a:ea typeface="Arial"/>
                <a:cs typeface="Arial"/>
              </a:defRPr>
            </a:lvl4pPr>
            <a:lvl5pPr algn="l">
              <a:defRPr sz="1350" b="0">
                <a:solidFill>
                  <a:srgbClr val="C4D0C2"/>
                </a:solidFill>
                <a:latin typeface="Arial"/>
                <a:ea typeface="Arial"/>
                <a:cs typeface="Arial"/>
              </a:defRPr>
            </a:lvl5pPr>
            <a:lvl6pPr algn="l">
              <a:defRPr sz="1350" b="0">
                <a:solidFill>
                  <a:srgbClr val="C4D0C2"/>
                </a:solidFill>
                <a:latin typeface="Arial"/>
                <a:ea typeface="Arial"/>
                <a:cs typeface="Arial"/>
              </a:defRPr>
            </a:lvl6pPr>
            <a:lvl7pPr algn="l">
              <a:defRPr sz="1350" b="0">
                <a:solidFill>
                  <a:srgbClr val="C4D0C2"/>
                </a:solidFill>
                <a:latin typeface="Arial"/>
                <a:ea typeface="Arial"/>
                <a:cs typeface="Arial"/>
              </a:defRPr>
            </a:lvl7pPr>
            <a:lvl8pPr algn="l">
              <a:defRPr sz="1350" b="0">
                <a:solidFill>
                  <a:srgbClr val="C4D0C2"/>
                </a:solidFill>
                <a:latin typeface="Arial"/>
                <a:ea typeface="Arial"/>
                <a:cs typeface="Arial"/>
              </a:defRPr>
            </a:lvl8pPr>
            <a:lvl9pPr algn="l">
              <a:defRPr sz="1350" b="0">
                <a:solidFill>
                  <a:srgbClr val="C4D0C2"/>
                </a:solidFill>
                <a:latin typeface="Arial"/>
                <a:ea typeface="Arial"/>
                <a:cs typeface="Arial"/>
              </a:defRPr>
            </a:lvl9pPr>
          </a:lstStyle>
          <a:p xmlns:a="http://schemas.openxmlformats.org/drawingml/2006/main">
            <a:pPr algn="l">
              <a:defRPr sz="1350" b="0">
                <a:solidFill>
                  <a:srgbClr val="C4D0C2"/>
                </a:solidFill>
                <a:latin typeface="Arial"/>
                <a:ea typeface="Arial"/>
                <a:cs typeface="Arial"/>
              </a:defRPr>
            </a:pPr>
            <a:r>
              <a:rPr sz="1350" b="0">
                <a:solidFill>
                  <a:srgbClr val="C4D0C2"/>
                </a:solidFill>
                <a:latin typeface="Arial"/>
                <a:ea typeface="Arial"/>
                <a:cs typeface="Arial"/>
              </a:rPr>
              <a:t>Verified Zetaris queries, traceable agent reasoning and a freshness gate that prevents unsupported advice.</a:t>
            </a:r>
          </a:p>
        </p:txBody>
      </p:sp>
      <p:sp>
        <p:nvSpPr>
          <p:cNvPr id="4" name="status-divider">
            <a:extLst xmlns:a="http://schemas.openxmlformats.org/drawingml/2006/main">
              <a:ext uri="{FF2B5EF4-FFF2-40B4-BE49-F238E27FC236}">
                <a16:creationId xmlns:a16="http://schemas.microsoft.com/office/drawing/2014/main" id="{9D470398-A436-413C-938A-F51B656B8ABC}"/>
              </a:ext>
            </a:extLst>
          </p:cNvPr>
          <p:cNvSpPr>
            <a:spLocks xmlns:a="http://schemas.openxmlformats.org/drawingml/2006/main" noGrp="1"/>
          </p:cNvSpPr>
          <p:nvPr/>
        </p:nvSpPr>
        <p:spPr>
          <a:xfrm xmlns:a="http://schemas.openxmlformats.org/drawingml/2006/main">
            <a:off x="762000" y="2133600"/>
            <a:ext cx="106680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5" name="status-1-sign">
            <a:extLst xmlns:a="http://schemas.openxmlformats.org/drawingml/2006/main">
              <a:ext uri="{FF2B5EF4-FFF2-40B4-BE49-F238E27FC236}">
                <a16:creationId xmlns:a16="http://schemas.microsoft.com/office/drawing/2014/main" id="{7F3953CA-BFA4-4A9A-9353-2F91CE76F1B8}"/>
              </a:ext>
            </a:extLst>
          </p:cNvPr>
          <p:cNvSpPr>
            <a:spLocks xmlns:a="http://schemas.openxmlformats.org/drawingml/2006/main" noGrp="1"/>
          </p:cNvSpPr>
          <p:nvPr/>
        </p:nvSpPr>
        <p:spPr>
          <a:xfrm xmlns:a="http://schemas.openxmlformats.org/drawingml/2006/main">
            <a:off x="790575" y="2343150"/>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A8D0A5"/>
                </a:solidFill>
                <a:latin typeface="Arial"/>
                <a:ea typeface="Arial"/>
                <a:cs typeface="Arial"/>
              </a:defRPr>
            </a:defPPr>
            <a:lvl1pPr algn="l">
              <a:defRPr sz="825" b="1">
                <a:solidFill>
                  <a:srgbClr val="A8D0A5"/>
                </a:solidFill>
                <a:latin typeface="Arial"/>
                <a:ea typeface="Arial"/>
                <a:cs typeface="Arial"/>
              </a:defRPr>
            </a:lvl1pPr>
            <a:lvl2pPr algn="l">
              <a:defRPr sz="825" b="1">
                <a:solidFill>
                  <a:srgbClr val="A8D0A5"/>
                </a:solidFill>
                <a:latin typeface="Arial"/>
                <a:ea typeface="Arial"/>
                <a:cs typeface="Arial"/>
              </a:defRPr>
            </a:lvl2pPr>
            <a:lvl3pPr algn="l">
              <a:defRPr sz="825" b="1">
                <a:solidFill>
                  <a:srgbClr val="A8D0A5"/>
                </a:solidFill>
                <a:latin typeface="Arial"/>
                <a:ea typeface="Arial"/>
                <a:cs typeface="Arial"/>
              </a:defRPr>
            </a:lvl3pPr>
            <a:lvl4pPr algn="l">
              <a:defRPr sz="825" b="1">
                <a:solidFill>
                  <a:srgbClr val="A8D0A5"/>
                </a:solidFill>
                <a:latin typeface="Arial"/>
                <a:ea typeface="Arial"/>
                <a:cs typeface="Arial"/>
              </a:defRPr>
            </a:lvl4pPr>
            <a:lvl5pPr algn="l">
              <a:defRPr sz="825" b="1">
                <a:solidFill>
                  <a:srgbClr val="A8D0A5"/>
                </a:solidFill>
                <a:latin typeface="Arial"/>
                <a:ea typeface="Arial"/>
                <a:cs typeface="Arial"/>
              </a:defRPr>
            </a:lvl5pPr>
            <a:lvl6pPr algn="l">
              <a:defRPr sz="825" b="1">
                <a:solidFill>
                  <a:srgbClr val="A8D0A5"/>
                </a:solidFill>
                <a:latin typeface="Arial"/>
                <a:ea typeface="Arial"/>
                <a:cs typeface="Arial"/>
              </a:defRPr>
            </a:lvl6pPr>
            <a:lvl7pPr algn="l">
              <a:defRPr sz="825" b="1">
                <a:solidFill>
                  <a:srgbClr val="A8D0A5"/>
                </a:solidFill>
                <a:latin typeface="Arial"/>
                <a:ea typeface="Arial"/>
                <a:cs typeface="Arial"/>
              </a:defRPr>
            </a:lvl7pPr>
            <a:lvl8pPr algn="l">
              <a:defRPr sz="825" b="1">
                <a:solidFill>
                  <a:srgbClr val="A8D0A5"/>
                </a:solidFill>
                <a:latin typeface="Arial"/>
                <a:ea typeface="Arial"/>
                <a:cs typeface="Arial"/>
              </a:defRPr>
            </a:lvl8pPr>
            <a:lvl9pPr algn="l">
              <a:defRPr sz="825" b="1">
                <a:solidFill>
                  <a:srgbClr val="A8D0A5"/>
                </a:solidFill>
                <a:latin typeface="Arial"/>
                <a:ea typeface="Arial"/>
                <a:cs typeface="Arial"/>
              </a:defRPr>
            </a:lvl9pPr>
          </a:lstStyle>
          <a:p xmlns:a="http://schemas.openxmlformats.org/drawingml/2006/main">
            <a:pPr algn="l">
              <a:defRPr sz="825" b="1">
                <a:solidFill>
                  <a:srgbClr val="A8D0A5"/>
                </a:solidFill>
                <a:latin typeface="Arial"/>
                <a:ea typeface="Arial"/>
                <a:cs typeface="Arial"/>
              </a:defRPr>
            </a:pPr>
            <a:r>
              <a:rPr sz="825" b="1">
                <a:solidFill>
                  <a:srgbClr val="A8D0A5"/>
                </a:solidFill>
                <a:latin typeface="Arial"/>
                <a:ea typeface="Arial"/>
                <a:cs typeface="Arial"/>
              </a:rPr>
              <a:t>PASS</a:t>
            </a:r>
          </a:p>
        </p:txBody>
      </p:sp>
      <p:sp>
        <p:nvSpPr>
          <p:cNvPr id="6" name="status-1-title">
            <a:extLst xmlns:a="http://schemas.openxmlformats.org/drawingml/2006/main">
              <a:ext uri="{FF2B5EF4-FFF2-40B4-BE49-F238E27FC236}">
                <a16:creationId xmlns:a16="http://schemas.microsoft.com/office/drawing/2014/main" id="{490DC721-57D6-4355-A12E-B3DAEAACAD9F}"/>
              </a:ext>
            </a:extLst>
          </p:cNvPr>
          <p:cNvSpPr>
            <a:spLocks xmlns:a="http://schemas.openxmlformats.org/drawingml/2006/main" noGrp="1"/>
          </p:cNvSpPr>
          <p:nvPr/>
        </p:nvSpPr>
        <p:spPr>
          <a:xfrm xmlns:a="http://schemas.openxmlformats.org/drawingml/2006/main">
            <a:off x="1924050" y="2314575"/>
            <a:ext cx="866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EFA"/>
                </a:solidFill>
                <a:latin typeface="Arial"/>
                <a:ea typeface="Arial"/>
                <a:cs typeface="Arial"/>
              </a:defRPr>
            </a:defPPr>
            <a:lvl1pPr algn="l">
              <a:defRPr sz="1275" b="1">
                <a:solidFill>
                  <a:srgbClr val="FFFEFA"/>
                </a:solidFill>
                <a:latin typeface="Arial"/>
                <a:ea typeface="Arial"/>
                <a:cs typeface="Arial"/>
              </a:defRPr>
            </a:lvl1pPr>
            <a:lvl2pPr algn="l">
              <a:defRPr sz="1275" b="1">
                <a:solidFill>
                  <a:srgbClr val="FFFEFA"/>
                </a:solidFill>
                <a:latin typeface="Arial"/>
                <a:ea typeface="Arial"/>
                <a:cs typeface="Arial"/>
              </a:defRPr>
            </a:lvl2pPr>
            <a:lvl3pPr algn="l">
              <a:defRPr sz="1275" b="1">
                <a:solidFill>
                  <a:srgbClr val="FFFEFA"/>
                </a:solidFill>
                <a:latin typeface="Arial"/>
                <a:ea typeface="Arial"/>
                <a:cs typeface="Arial"/>
              </a:defRPr>
            </a:lvl3pPr>
            <a:lvl4pPr algn="l">
              <a:defRPr sz="1275" b="1">
                <a:solidFill>
                  <a:srgbClr val="FFFEFA"/>
                </a:solidFill>
                <a:latin typeface="Arial"/>
                <a:ea typeface="Arial"/>
                <a:cs typeface="Arial"/>
              </a:defRPr>
            </a:lvl4pPr>
            <a:lvl5pPr algn="l">
              <a:defRPr sz="1275" b="1">
                <a:solidFill>
                  <a:srgbClr val="FFFEFA"/>
                </a:solidFill>
                <a:latin typeface="Arial"/>
                <a:ea typeface="Arial"/>
                <a:cs typeface="Arial"/>
              </a:defRPr>
            </a:lvl5pPr>
            <a:lvl6pPr algn="l">
              <a:defRPr sz="1275" b="1">
                <a:solidFill>
                  <a:srgbClr val="FFFEFA"/>
                </a:solidFill>
                <a:latin typeface="Arial"/>
                <a:ea typeface="Arial"/>
                <a:cs typeface="Arial"/>
              </a:defRPr>
            </a:lvl6pPr>
            <a:lvl7pPr algn="l">
              <a:defRPr sz="1275" b="1">
                <a:solidFill>
                  <a:srgbClr val="FFFEFA"/>
                </a:solidFill>
                <a:latin typeface="Arial"/>
                <a:ea typeface="Arial"/>
                <a:cs typeface="Arial"/>
              </a:defRPr>
            </a:lvl7pPr>
            <a:lvl8pPr algn="l">
              <a:defRPr sz="1275" b="1">
                <a:solidFill>
                  <a:srgbClr val="FFFEFA"/>
                </a:solidFill>
                <a:latin typeface="Arial"/>
                <a:ea typeface="Arial"/>
                <a:cs typeface="Arial"/>
              </a:defRPr>
            </a:lvl8pPr>
            <a:lvl9pPr algn="l">
              <a:defRPr sz="1275" b="1">
                <a:solidFill>
                  <a:srgbClr val="FFFEFA"/>
                </a:solidFill>
                <a:latin typeface="Arial"/>
                <a:ea typeface="Arial"/>
                <a:cs typeface="Arial"/>
              </a:defRPr>
            </a:lvl9pPr>
          </a:lstStyle>
          <a:p xmlns:a="http://schemas.openxmlformats.org/drawingml/2006/main">
            <a:pPr algn="l">
              <a:defRPr sz="1275" b="1">
                <a:solidFill>
                  <a:srgbClr val="FFFEFA"/>
                </a:solidFill>
                <a:latin typeface="Arial"/>
                <a:ea typeface="Arial"/>
                <a:cs typeface="Arial"/>
              </a:defRPr>
            </a:pPr>
            <a:r>
              <a:rPr sz="1275" b="1">
                <a:solidFill>
                  <a:srgbClr val="FFFEFA"/>
                </a:solidFill>
                <a:latin typeface="Arial"/>
                <a:ea typeface="Arial"/>
                <a:cs typeface="Arial"/>
              </a:rPr>
              <a:t>Web UI and backend respond</a:t>
            </a:r>
          </a:p>
        </p:txBody>
      </p:sp>
      <p:sp>
        <p:nvSpPr>
          <p:cNvPr id="7" name="status-1-body">
            <a:extLst xmlns:a="http://schemas.openxmlformats.org/drawingml/2006/main">
              <a:ext uri="{FF2B5EF4-FFF2-40B4-BE49-F238E27FC236}">
                <a16:creationId xmlns:a16="http://schemas.microsoft.com/office/drawing/2014/main" id="{D07CDEB2-5582-494D-979A-EA34D76D2A76}"/>
              </a:ext>
            </a:extLst>
          </p:cNvPr>
          <p:cNvSpPr>
            <a:spLocks xmlns:a="http://schemas.openxmlformats.org/drawingml/2006/main" noGrp="1"/>
          </p:cNvSpPr>
          <p:nvPr/>
        </p:nvSpPr>
        <p:spPr>
          <a:xfrm xmlns:a="http://schemas.openxmlformats.org/drawingml/2006/main">
            <a:off x="1924050" y="2581275"/>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C4D0C2"/>
                </a:solidFill>
                <a:latin typeface="Arial"/>
                <a:ea typeface="Arial"/>
                <a:cs typeface="Arial"/>
              </a:defRPr>
            </a:defPPr>
            <a:lvl1pPr algn="l">
              <a:defRPr sz="1050" b="0">
                <a:solidFill>
                  <a:srgbClr val="C4D0C2"/>
                </a:solidFill>
                <a:latin typeface="Arial"/>
                <a:ea typeface="Arial"/>
                <a:cs typeface="Arial"/>
              </a:defRPr>
            </a:lvl1pPr>
            <a:lvl2pPr algn="l">
              <a:defRPr sz="1050" b="0">
                <a:solidFill>
                  <a:srgbClr val="C4D0C2"/>
                </a:solidFill>
                <a:latin typeface="Arial"/>
                <a:ea typeface="Arial"/>
                <a:cs typeface="Arial"/>
              </a:defRPr>
            </a:lvl2pPr>
            <a:lvl3pPr algn="l">
              <a:defRPr sz="1050" b="0">
                <a:solidFill>
                  <a:srgbClr val="C4D0C2"/>
                </a:solidFill>
                <a:latin typeface="Arial"/>
                <a:ea typeface="Arial"/>
                <a:cs typeface="Arial"/>
              </a:defRPr>
            </a:lvl3pPr>
            <a:lvl4pPr algn="l">
              <a:defRPr sz="1050" b="0">
                <a:solidFill>
                  <a:srgbClr val="C4D0C2"/>
                </a:solidFill>
                <a:latin typeface="Arial"/>
                <a:ea typeface="Arial"/>
                <a:cs typeface="Arial"/>
              </a:defRPr>
            </a:lvl4pPr>
            <a:lvl5pPr algn="l">
              <a:defRPr sz="1050" b="0">
                <a:solidFill>
                  <a:srgbClr val="C4D0C2"/>
                </a:solidFill>
                <a:latin typeface="Arial"/>
                <a:ea typeface="Arial"/>
                <a:cs typeface="Arial"/>
              </a:defRPr>
            </a:lvl5pPr>
            <a:lvl6pPr algn="l">
              <a:defRPr sz="1050" b="0">
                <a:solidFill>
                  <a:srgbClr val="C4D0C2"/>
                </a:solidFill>
                <a:latin typeface="Arial"/>
                <a:ea typeface="Arial"/>
                <a:cs typeface="Arial"/>
              </a:defRPr>
            </a:lvl6pPr>
            <a:lvl7pPr algn="l">
              <a:defRPr sz="1050" b="0">
                <a:solidFill>
                  <a:srgbClr val="C4D0C2"/>
                </a:solidFill>
                <a:latin typeface="Arial"/>
                <a:ea typeface="Arial"/>
                <a:cs typeface="Arial"/>
              </a:defRPr>
            </a:lvl7pPr>
            <a:lvl8pPr algn="l">
              <a:defRPr sz="1050" b="0">
                <a:solidFill>
                  <a:srgbClr val="C4D0C2"/>
                </a:solidFill>
                <a:latin typeface="Arial"/>
                <a:ea typeface="Arial"/>
                <a:cs typeface="Arial"/>
              </a:defRPr>
            </a:lvl8pPr>
            <a:lvl9pPr algn="l">
              <a:defRPr sz="1050" b="0">
                <a:solidFill>
                  <a:srgbClr val="C4D0C2"/>
                </a:solidFill>
                <a:latin typeface="Arial"/>
                <a:ea typeface="Arial"/>
                <a:cs typeface="Arial"/>
              </a:defRPr>
            </a:lvl9pPr>
          </a:lstStyle>
          <a:p xmlns:a="http://schemas.openxmlformats.org/drawingml/2006/main">
            <a:pPr algn="l">
              <a:defRPr sz="1050" b="0">
                <a:solidFill>
                  <a:srgbClr val="C4D0C2"/>
                </a:solidFill>
                <a:latin typeface="Arial"/>
                <a:ea typeface="Arial"/>
                <a:cs typeface="Arial"/>
              </a:defRPr>
            </a:pPr>
            <a:r>
              <a:rPr sz="1050" b="0">
                <a:solidFill>
                  <a:srgbClr val="C4D0C2"/>
                </a:solidFill>
                <a:latin typeface="Arial"/>
                <a:ea typeface="Arial"/>
                <a:cs typeface="Arial"/>
              </a:rPr>
              <a:t>Fastify :8000 and React :3001 are live; UI health and API proxy return 200. 66 tests pass.</a:t>
            </a:r>
          </a:p>
        </p:txBody>
      </p:sp>
      <p:sp>
        <p:nvSpPr>
          <p:cNvPr id="8" name="status-1-rule">
            <a:extLst xmlns:a="http://schemas.openxmlformats.org/drawingml/2006/main">
              <a:ext uri="{FF2B5EF4-FFF2-40B4-BE49-F238E27FC236}">
                <a16:creationId xmlns:a16="http://schemas.microsoft.com/office/drawing/2014/main" id="{51AF9080-7407-4C85-B3B5-CE836235CEE9}"/>
              </a:ext>
            </a:extLst>
          </p:cNvPr>
          <p:cNvSpPr>
            <a:spLocks xmlns:a="http://schemas.openxmlformats.org/drawingml/2006/main" noGrp="1"/>
          </p:cNvSpPr>
          <p:nvPr/>
        </p:nvSpPr>
        <p:spPr>
          <a:xfrm xmlns:a="http://schemas.openxmlformats.org/drawingml/2006/main">
            <a:off x="1924050" y="3028950"/>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9" name="status-2-sign">
            <a:extLst xmlns:a="http://schemas.openxmlformats.org/drawingml/2006/main">
              <a:ext uri="{FF2B5EF4-FFF2-40B4-BE49-F238E27FC236}">
                <a16:creationId xmlns:a16="http://schemas.microsoft.com/office/drawing/2014/main" id="{894063BC-96B8-425D-9B53-2B501D0AA109}"/>
              </a:ext>
            </a:extLst>
          </p:cNvPr>
          <p:cNvSpPr>
            <a:spLocks xmlns:a="http://schemas.openxmlformats.org/drawingml/2006/main" noGrp="1"/>
          </p:cNvSpPr>
          <p:nvPr/>
        </p:nvSpPr>
        <p:spPr>
          <a:xfrm xmlns:a="http://schemas.openxmlformats.org/drawingml/2006/main">
            <a:off x="790575" y="31337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A8D0A5"/>
                </a:solidFill>
                <a:latin typeface="Arial"/>
                <a:ea typeface="Arial"/>
                <a:cs typeface="Arial"/>
              </a:defRPr>
            </a:defPPr>
            <a:lvl1pPr algn="l">
              <a:defRPr sz="825" b="1">
                <a:solidFill>
                  <a:srgbClr val="A8D0A5"/>
                </a:solidFill>
                <a:latin typeface="Arial"/>
                <a:ea typeface="Arial"/>
                <a:cs typeface="Arial"/>
              </a:defRPr>
            </a:lvl1pPr>
            <a:lvl2pPr algn="l">
              <a:defRPr sz="825" b="1">
                <a:solidFill>
                  <a:srgbClr val="A8D0A5"/>
                </a:solidFill>
                <a:latin typeface="Arial"/>
                <a:ea typeface="Arial"/>
                <a:cs typeface="Arial"/>
              </a:defRPr>
            </a:lvl2pPr>
            <a:lvl3pPr algn="l">
              <a:defRPr sz="825" b="1">
                <a:solidFill>
                  <a:srgbClr val="A8D0A5"/>
                </a:solidFill>
                <a:latin typeface="Arial"/>
                <a:ea typeface="Arial"/>
                <a:cs typeface="Arial"/>
              </a:defRPr>
            </a:lvl3pPr>
            <a:lvl4pPr algn="l">
              <a:defRPr sz="825" b="1">
                <a:solidFill>
                  <a:srgbClr val="A8D0A5"/>
                </a:solidFill>
                <a:latin typeface="Arial"/>
                <a:ea typeface="Arial"/>
                <a:cs typeface="Arial"/>
              </a:defRPr>
            </a:lvl4pPr>
            <a:lvl5pPr algn="l">
              <a:defRPr sz="825" b="1">
                <a:solidFill>
                  <a:srgbClr val="A8D0A5"/>
                </a:solidFill>
                <a:latin typeface="Arial"/>
                <a:ea typeface="Arial"/>
                <a:cs typeface="Arial"/>
              </a:defRPr>
            </a:lvl5pPr>
            <a:lvl6pPr algn="l">
              <a:defRPr sz="825" b="1">
                <a:solidFill>
                  <a:srgbClr val="A8D0A5"/>
                </a:solidFill>
                <a:latin typeface="Arial"/>
                <a:ea typeface="Arial"/>
                <a:cs typeface="Arial"/>
              </a:defRPr>
            </a:lvl6pPr>
            <a:lvl7pPr algn="l">
              <a:defRPr sz="825" b="1">
                <a:solidFill>
                  <a:srgbClr val="A8D0A5"/>
                </a:solidFill>
                <a:latin typeface="Arial"/>
                <a:ea typeface="Arial"/>
                <a:cs typeface="Arial"/>
              </a:defRPr>
            </a:lvl7pPr>
            <a:lvl8pPr algn="l">
              <a:defRPr sz="825" b="1">
                <a:solidFill>
                  <a:srgbClr val="A8D0A5"/>
                </a:solidFill>
                <a:latin typeface="Arial"/>
                <a:ea typeface="Arial"/>
                <a:cs typeface="Arial"/>
              </a:defRPr>
            </a:lvl8pPr>
            <a:lvl9pPr algn="l">
              <a:defRPr sz="825" b="1">
                <a:solidFill>
                  <a:srgbClr val="A8D0A5"/>
                </a:solidFill>
                <a:latin typeface="Arial"/>
                <a:ea typeface="Arial"/>
                <a:cs typeface="Arial"/>
              </a:defRPr>
            </a:lvl9pPr>
          </a:lstStyle>
          <a:p xmlns:a="http://schemas.openxmlformats.org/drawingml/2006/main">
            <a:pPr algn="l">
              <a:defRPr sz="825" b="1">
                <a:solidFill>
                  <a:srgbClr val="A8D0A5"/>
                </a:solidFill>
                <a:latin typeface="Arial"/>
                <a:ea typeface="Arial"/>
                <a:cs typeface="Arial"/>
              </a:defRPr>
            </a:pPr>
            <a:r>
              <a:rPr sz="825" b="1">
                <a:solidFill>
                  <a:srgbClr val="A8D0A5"/>
                </a:solidFill>
                <a:latin typeface="Arial"/>
                <a:ea typeface="Arial"/>
                <a:cs typeface="Arial"/>
              </a:rPr>
              <a:t>PASS</a:t>
            </a:r>
          </a:p>
        </p:txBody>
      </p:sp>
      <p:sp>
        <p:nvSpPr>
          <p:cNvPr id="10" name="status-2-title">
            <a:extLst xmlns:a="http://schemas.openxmlformats.org/drawingml/2006/main">
              <a:ext uri="{FF2B5EF4-FFF2-40B4-BE49-F238E27FC236}">
                <a16:creationId xmlns:a16="http://schemas.microsoft.com/office/drawing/2014/main" id="{86533631-0021-4B61-AB33-9644B2EB4F3C}"/>
              </a:ext>
            </a:extLst>
          </p:cNvPr>
          <p:cNvSpPr>
            <a:spLocks xmlns:a="http://schemas.openxmlformats.org/drawingml/2006/main" noGrp="1"/>
          </p:cNvSpPr>
          <p:nvPr/>
        </p:nvSpPr>
        <p:spPr>
          <a:xfrm xmlns:a="http://schemas.openxmlformats.org/drawingml/2006/main">
            <a:off x="1924050" y="3105150"/>
            <a:ext cx="866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EFA"/>
                </a:solidFill>
                <a:latin typeface="Arial"/>
                <a:ea typeface="Arial"/>
                <a:cs typeface="Arial"/>
              </a:defRPr>
            </a:defPPr>
            <a:lvl1pPr algn="l">
              <a:defRPr sz="1275" b="1">
                <a:solidFill>
                  <a:srgbClr val="FFFEFA"/>
                </a:solidFill>
                <a:latin typeface="Arial"/>
                <a:ea typeface="Arial"/>
                <a:cs typeface="Arial"/>
              </a:defRPr>
            </a:lvl1pPr>
            <a:lvl2pPr algn="l">
              <a:defRPr sz="1275" b="1">
                <a:solidFill>
                  <a:srgbClr val="FFFEFA"/>
                </a:solidFill>
                <a:latin typeface="Arial"/>
                <a:ea typeface="Arial"/>
                <a:cs typeface="Arial"/>
              </a:defRPr>
            </a:lvl2pPr>
            <a:lvl3pPr algn="l">
              <a:defRPr sz="1275" b="1">
                <a:solidFill>
                  <a:srgbClr val="FFFEFA"/>
                </a:solidFill>
                <a:latin typeface="Arial"/>
                <a:ea typeface="Arial"/>
                <a:cs typeface="Arial"/>
              </a:defRPr>
            </a:lvl3pPr>
            <a:lvl4pPr algn="l">
              <a:defRPr sz="1275" b="1">
                <a:solidFill>
                  <a:srgbClr val="FFFEFA"/>
                </a:solidFill>
                <a:latin typeface="Arial"/>
                <a:ea typeface="Arial"/>
                <a:cs typeface="Arial"/>
              </a:defRPr>
            </a:lvl4pPr>
            <a:lvl5pPr algn="l">
              <a:defRPr sz="1275" b="1">
                <a:solidFill>
                  <a:srgbClr val="FFFEFA"/>
                </a:solidFill>
                <a:latin typeface="Arial"/>
                <a:ea typeface="Arial"/>
                <a:cs typeface="Arial"/>
              </a:defRPr>
            </a:lvl5pPr>
            <a:lvl6pPr algn="l">
              <a:defRPr sz="1275" b="1">
                <a:solidFill>
                  <a:srgbClr val="FFFEFA"/>
                </a:solidFill>
                <a:latin typeface="Arial"/>
                <a:ea typeface="Arial"/>
                <a:cs typeface="Arial"/>
              </a:defRPr>
            </a:lvl6pPr>
            <a:lvl7pPr algn="l">
              <a:defRPr sz="1275" b="1">
                <a:solidFill>
                  <a:srgbClr val="FFFEFA"/>
                </a:solidFill>
                <a:latin typeface="Arial"/>
                <a:ea typeface="Arial"/>
                <a:cs typeface="Arial"/>
              </a:defRPr>
            </a:lvl7pPr>
            <a:lvl8pPr algn="l">
              <a:defRPr sz="1275" b="1">
                <a:solidFill>
                  <a:srgbClr val="FFFEFA"/>
                </a:solidFill>
                <a:latin typeface="Arial"/>
                <a:ea typeface="Arial"/>
                <a:cs typeface="Arial"/>
              </a:defRPr>
            </a:lvl8pPr>
            <a:lvl9pPr algn="l">
              <a:defRPr sz="1275" b="1">
                <a:solidFill>
                  <a:srgbClr val="FFFEFA"/>
                </a:solidFill>
                <a:latin typeface="Arial"/>
                <a:ea typeface="Arial"/>
                <a:cs typeface="Arial"/>
              </a:defRPr>
            </a:lvl9pPr>
          </a:lstStyle>
          <a:p xmlns:a="http://schemas.openxmlformats.org/drawingml/2006/main">
            <a:pPr algn="l">
              <a:defRPr sz="1275" b="1">
                <a:solidFill>
                  <a:srgbClr val="FFFEFA"/>
                </a:solidFill>
                <a:latin typeface="Arial"/>
                <a:ea typeface="Arial"/>
                <a:cs typeface="Arial"/>
              </a:defRPr>
            </a:pPr>
            <a:r>
              <a:rPr sz="1275" b="1">
                <a:solidFill>
                  <a:srgbClr val="FFFEFA"/>
                </a:solidFill>
                <a:latin typeface="Arial"/>
                <a:ea typeface="Arial"/>
                <a:cs typeface="Arial"/>
              </a:rPr>
              <a:t>Zetaris SQL is live</a:t>
            </a:r>
          </a:p>
        </p:txBody>
      </p:sp>
      <p:sp>
        <p:nvSpPr>
          <p:cNvPr id="11" name="status-2-body">
            <a:extLst xmlns:a="http://schemas.openxmlformats.org/drawingml/2006/main">
              <a:ext uri="{FF2B5EF4-FFF2-40B4-BE49-F238E27FC236}">
                <a16:creationId xmlns:a16="http://schemas.microsoft.com/office/drawing/2014/main" id="{25AFC625-CFDA-4C51-BFAD-2E87684A846B}"/>
              </a:ext>
            </a:extLst>
          </p:cNvPr>
          <p:cNvSpPr>
            <a:spLocks xmlns:a="http://schemas.openxmlformats.org/drawingml/2006/main" noGrp="1"/>
          </p:cNvSpPr>
          <p:nvPr/>
        </p:nvSpPr>
        <p:spPr>
          <a:xfrm xmlns:a="http://schemas.openxmlformats.org/drawingml/2006/main">
            <a:off x="1924050" y="337185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C4D0C2"/>
                </a:solidFill>
                <a:latin typeface="Arial"/>
                <a:ea typeface="Arial"/>
                <a:cs typeface="Arial"/>
              </a:defRPr>
            </a:defPPr>
            <a:lvl1pPr algn="l">
              <a:defRPr sz="1050" b="0">
                <a:solidFill>
                  <a:srgbClr val="C4D0C2"/>
                </a:solidFill>
                <a:latin typeface="Arial"/>
                <a:ea typeface="Arial"/>
                <a:cs typeface="Arial"/>
              </a:defRPr>
            </a:lvl1pPr>
            <a:lvl2pPr algn="l">
              <a:defRPr sz="1050" b="0">
                <a:solidFill>
                  <a:srgbClr val="C4D0C2"/>
                </a:solidFill>
                <a:latin typeface="Arial"/>
                <a:ea typeface="Arial"/>
                <a:cs typeface="Arial"/>
              </a:defRPr>
            </a:lvl2pPr>
            <a:lvl3pPr algn="l">
              <a:defRPr sz="1050" b="0">
                <a:solidFill>
                  <a:srgbClr val="C4D0C2"/>
                </a:solidFill>
                <a:latin typeface="Arial"/>
                <a:ea typeface="Arial"/>
                <a:cs typeface="Arial"/>
              </a:defRPr>
            </a:lvl3pPr>
            <a:lvl4pPr algn="l">
              <a:defRPr sz="1050" b="0">
                <a:solidFill>
                  <a:srgbClr val="C4D0C2"/>
                </a:solidFill>
                <a:latin typeface="Arial"/>
                <a:ea typeface="Arial"/>
                <a:cs typeface="Arial"/>
              </a:defRPr>
            </a:lvl4pPr>
            <a:lvl5pPr algn="l">
              <a:defRPr sz="1050" b="0">
                <a:solidFill>
                  <a:srgbClr val="C4D0C2"/>
                </a:solidFill>
                <a:latin typeface="Arial"/>
                <a:ea typeface="Arial"/>
                <a:cs typeface="Arial"/>
              </a:defRPr>
            </a:lvl5pPr>
            <a:lvl6pPr algn="l">
              <a:defRPr sz="1050" b="0">
                <a:solidFill>
                  <a:srgbClr val="C4D0C2"/>
                </a:solidFill>
                <a:latin typeface="Arial"/>
                <a:ea typeface="Arial"/>
                <a:cs typeface="Arial"/>
              </a:defRPr>
            </a:lvl6pPr>
            <a:lvl7pPr algn="l">
              <a:defRPr sz="1050" b="0">
                <a:solidFill>
                  <a:srgbClr val="C4D0C2"/>
                </a:solidFill>
                <a:latin typeface="Arial"/>
                <a:ea typeface="Arial"/>
                <a:cs typeface="Arial"/>
              </a:defRPr>
            </a:lvl7pPr>
            <a:lvl8pPr algn="l">
              <a:defRPr sz="1050" b="0">
                <a:solidFill>
                  <a:srgbClr val="C4D0C2"/>
                </a:solidFill>
                <a:latin typeface="Arial"/>
                <a:ea typeface="Arial"/>
                <a:cs typeface="Arial"/>
              </a:defRPr>
            </a:lvl8pPr>
            <a:lvl9pPr algn="l">
              <a:defRPr sz="1050" b="0">
                <a:solidFill>
                  <a:srgbClr val="C4D0C2"/>
                </a:solidFill>
                <a:latin typeface="Arial"/>
                <a:ea typeface="Arial"/>
                <a:cs typeface="Arial"/>
              </a:defRPr>
            </a:lvl9pPr>
          </a:lstStyle>
          <a:p xmlns:a="http://schemas.openxmlformats.org/drawingml/2006/main">
            <a:pPr algn="l">
              <a:defRPr sz="1050" b="0">
                <a:solidFill>
                  <a:srgbClr val="C4D0C2"/>
                </a:solidFill>
                <a:latin typeface="Arial"/>
                <a:ea typeface="Arial"/>
                <a:cs typeface="Arial"/>
              </a:defRPr>
            </a:pPr>
            <a:r>
              <a:rPr sz="1050" b="0">
                <a:solidFill>
                  <a:srgbClr val="C4D0C2"/>
                </a:solidFill>
                <a:latin typeface="Arial"/>
                <a:ea typeface="Arial"/>
                <a:cs typeface="Arial"/>
              </a:rPr>
              <a:t>All five views returned counts: prices 51 · weather 8 · news 8 · storage rules 8 · ledger 4.</a:t>
            </a:r>
          </a:p>
        </p:txBody>
      </p:sp>
      <p:sp>
        <p:nvSpPr>
          <p:cNvPr id="12" name="status-2-rule">
            <a:extLst xmlns:a="http://schemas.openxmlformats.org/drawingml/2006/main">
              <a:ext uri="{FF2B5EF4-FFF2-40B4-BE49-F238E27FC236}">
                <a16:creationId xmlns:a16="http://schemas.microsoft.com/office/drawing/2014/main" id="{34F95C6E-EAEA-462B-8A72-16A6DF212410}"/>
              </a:ext>
            </a:extLst>
          </p:cNvPr>
          <p:cNvSpPr>
            <a:spLocks xmlns:a="http://schemas.openxmlformats.org/drawingml/2006/main" noGrp="1"/>
          </p:cNvSpPr>
          <p:nvPr/>
        </p:nvSpPr>
        <p:spPr>
          <a:xfrm xmlns:a="http://schemas.openxmlformats.org/drawingml/2006/main">
            <a:off x="1924050" y="3819525"/>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13" name="status-3-sign">
            <a:extLst xmlns:a="http://schemas.openxmlformats.org/drawingml/2006/main">
              <a:ext uri="{FF2B5EF4-FFF2-40B4-BE49-F238E27FC236}">
                <a16:creationId xmlns:a16="http://schemas.microsoft.com/office/drawing/2014/main" id="{3A90A16A-AAAF-46D7-8455-4B76CC15CD3E}"/>
              </a:ext>
            </a:extLst>
          </p:cNvPr>
          <p:cNvSpPr>
            <a:spLocks xmlns:a="http://schemas.openxmlformats.org/drawingml/2006/main" noGrp="1"/>
          </p:cNvSpPr>
          <p:nvPr/>
        </p:nvSpPr>
        <p:spPr>
          <a:xfrm xmlns:a="http://schemas.openxmlformats.org/drawingml/2006/main">
            <a:off x="790575" y="3924300"/>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A8D0A5"/>
                </a:solidFill>
                <a:latin typeface="Arial"/>
                <a:ea typeface="Arial"/>
                <a:cs typeface="Arial"/>
              </a:defRPr>
            </a:defPPr>
            <a:lvl1pPr algn="l">
              <a:defRPr sz="825" b="1">
                <a:solidFill>
                  <a:srgbClr val="A8D0A5"/>
                </a:solidFill>
                <a:latin typeface="Arial"/>
                <a:ea typeface="Arial"/>
                <a:cs typeface="Arial"/>
              </a:defRPr>
            </a:lvl1pPr>
            <a:lvl2pPr algn="l">
              <a:defRPr sz="825" b="1">
                <a:solidFill>
                  <a:srgbClr val="A8D0A5"/>
                </a:solidFill>
                <a:latin typeface="Arial"/>
                <a:ea typeface="Arial"/>
                <a:cs typeface="Arial"/>
              </a:defRPr>
            </a:lvl2pPr>
            <a:lvl3pPr algn="l">
              <a:defRPr sz="825" b="1">
                <a:solidFill>
                  <a:srgbClr val="A8D0A5"/>
                </a:solidFill>
                <a:latin typeface="Arial"/>
                <a:ea typeface="Arial"/>
                <a:cs typeface="Arial"/>
              </a:defRPr>
            </a:lvl3pPr>
            <a:lvl4pPr algn="l">
              <a:defRPr sz="825" b="1">
                <a:solidFill>
                  <a:srgbClr val="A8D0A5"/>
                </a:solidFill>
                <a:latin typeface="Arial"/>
                <a:ea typeface="Arial"/>
                <a:cs typeface="Arial"/>
              </a:defRPr>
            </a:lvl4pPr>
            <a:lvl5pPr algn="l">
              <a:defRPr sz="825" b="1">
                <a:solidFill>
                  <a:srgbClr val="A8D0A5"/>
                </a:solidFill>
                <a:latin typeface="Arial"/>
                <a:ea typeface="Arial"/>
                <a:cs typeface="Arial"/>
              </a:defRPr>
            </a:lvl5pPr>
            <a:lvl6pPr algn="l">
              <a:defRPr sz="825" b="1">
                <a:solidFill>
                  <a:srgbClr val="A8D0A5"/>
                </a:solidFill>
                <a:latin typeface="Arial"/>
                <a:ea typeface="Arial"/>
                <a:cs typeface="Arial"/>
              </a:defRPr>
            </a:lvl6pPr>
            <a:lvl7pPr algn="l">
              <a:defRPr sz="825" b="1">
                <a:solidFill>
                  <a:srgbClr val="A8D0A5"/>
                </a:solidFill>
                <a:latin typeface="Arial"/>
                <a:ea typeface="Arial"/>
                <a:cs typeface="Arial"/>
              </a:defRPr>
            </a:lvl7pPr>
            <a:lvl8pPr algn="l">
              <a:defRPr sz="825" b="1">
                <a:solidFill>
                  <a:srgbClr val="A8D0A5"/>
                </a:solidFill>
                <a:latin typeface="Arial"/>
                <a:ea typeface="Arial"/>
                <a:cs typeface="Arial"/>
              </a:defRPr>
            </a:lvl8pPr>
            <a:lvl9pPr algn="l">
              <a:defRPr sz="825" b="1">
                <a:solidFill>
                  <a:srgbClr val="A8D0A5"/>
                </a:solidFill>
                <a:latin typeface="Arial"/>
                <a:ea typeface="Arial"/>
                <a:cs typeface="Arial"/>
              </a:defRPr>
            </a:lvl9pPr>
          </a:lstStyle>
          <a:p xmlns:a="http://schemas.openxmlformats.org/drawingml/2006/main">
            <a:pPr algn="l">
              <a:defRPr sz="825" b="1">
                <a:solidFill>
                  <a:srgbClr val="A8D0A5"/>
                </a:solidFill>
                <a:latin typeface="Arial"/>
                <a:ea typeface="Arial"/>
                <a:cs typeface="Arial"/>
              </a:defRPr>
            </a:pPr>
            <a:r>
              <a:rPr sz="825" b="1">
                <a:solidFill>
                  <a:srgbClr val="A8D0A5"/>
                </a:solidFill>
                <a:latin typeface="Arial"/>
                <a:ea typeface="Arial"/>
                <a:cs typeface="Arial"/>
              </a:rPr>
              <a:t>INTEGRATED</a:t>
            </a:r>
          </a:p>
        </p:txBody>
      </p:sp>
      <p:sp>
        <p:nvSpPr>
          <p:cNvPr id="14" name="status-3-title">
            <a:extLst xmlns:a="http://schemas.openxmlformats.org/drawingml/2006/main">
              <a:ext uri="{FF2B5EF4-FFF2-40B4-BE49-F238E27FC236}">
                <a16:creationId xmlns:a16="http://schemas.microsoft.com/office/drawing/2014/main" id="{FA473F8C-3597-4210-B315-601FEE75CF68}"/>
              </a:ext>
            </a:extLst>
          </p:cNvPr>
          <p:cNvSpPr>
            <a:spLocks xmlns:a="http://schemas.openxmlformats.org/drawingml/2006/main" noGrp="1"/>
          </p:cNvSpPr>
          <p:nvPr/>
        </p:nvSpPr>
        <p:spPr>
          <a:xfrm xmlns:a="http://schemas.openxmlformats.org/drawingml/2006/main">
            <a:off x="1924050" y="3895725"/>
            <a:ext cx="866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EFA"/>
                </a:solidFill>
                <a:latin typeface="Arial"/>
                <a:ea typeface="Arial"/>
                <a:cs typeface="Arial"/>
              </a:defRPr>
            </a:defPPr>
            <a:lvl1pPr algn="l">
              <a:defRPr sz="1275" b="1">
                <a:solidFill>
                  <a:srgbClr val="FFFEFA"/>
                </a:solidFill>
                <a:latin typeface="Arial"/>
                <a:ea typeface="Arial"/>
                <a:cs typeface="Arial"/>
              </a:defRPr>
            </a:lvl1pPr>
            <a:lvl2pPr algn="l">
              <a:defRPr sz="1275" b="1">
                <a:solidFill>
                  <a:srgbClr val="FFFEFA"/>
                </a:solidFill>
                <a:latin typeface="Arial"/>
                <a:ea typeface="Arial"/>
                <a:cs typeface="Arial"/>
              </a:defRPr>
            </a:lvl2pPr>
            <a:lvl3pPr algn="l">
              <a:defRPr sz="1275" b="1">
                <a:solidFill>
                  <a:srgbClr val="FFFEFA"/>
                </a:solidFill>
                <a:latin typeface="Arial"/>
                <a:ea typeface="Arial"/>
                <a:cs typeface="Arial"/>
              </a:defRPr>
            </a:lvl3pPr>
            <a:lvl4pPr algn="l">
              <a:defRPr sz="1275" b="1">
                <a:solidFill>
                  <a:srgbClr val="FFFEFA"/>
                </a:solidFill>
                <a:latin typeface="Arial"/>
                <a:ea typeface="Arial"/>
                <a:cs typeface="Arial"/>
              </a:defRPr>
            </a:lvl4pPr>
            <a:lvl5pPr algn="l">
              <a:defRPr sz="1275" b="1">
                <a:solidFill>
                  <a:srgbClr val="FFFEFA"/>
                </a:solidFill>
                <a:latin typeface="Arial"/>
                <a:ea typeface="Arial"/>
                <a:cs typeface="Arial"/>
              </a:defRPr>
            </a:lvl5pPr>
            <a:lvl6pPr algn="l">
              <a:defRPr sz="1275" b="1">
                <a:solidFill>
                  <a:srgbClr val="FFFEFA"/>
                </a:solidFill>
                <a:latin typeface="Arial"/>
                <a:ea typeface="Arial"/>
                <a:cs typeface="Arial"/>
              </a:defRPr>
            </a:lvl6pPr>
            <a:lvl7pPr algn="l">
              <a:defRPr sz="1275" b="1">
                <a:solidFill>
                  <a:srgbClr val="FFFEFA"/>
                </a:solidFill>
                <a:latin typeface="Arial"/>
                <a:ea typeface="Arial"/>
                <a:cs typeface="Arial"/>
              </a:defRPr>
            </a:lvl7pPr>
            <a:lvl8pPr algn="l">
              <a:defRPr sz="1275" b="1">
                <a:solidFill>
                  <a:srgbClr val="FFFEFA"/>
                </a:solidFill>
                <a:latin typeface="Arial"/>
                <a:ea typeface="Arial"/>
                <a:cs typeface="Arial"/>
              </a:defRPr>
            </a:lvl8pPr>
            <a:lvl9pPr algn="l">
              <a:defRPr sz="1275" b="1">
                <a:solidFill>
                  <a:srgbClr val="FFFEFA"/>
                </a:solidFill>
                <a:latin typeface="Arial"/>
                <a:ea typeface="Arial"/>
                <a:cs typeface="Arial"/>
              </a:defRPr>
            </a:lvl9pPr>
          </a:lstStyle>
          <a:p xmlns:a="http://schemas.openxmlformats.org/drawingml/2006/main">
            <a:pPr algn="l">
              <a:defRPr sz="1275" b="1">
                <a:solidFill>
                  <a:srgbClr val="FFFEFA"/>
                </a:solidFill>
                <a:latin typeface="Arial"/>
                <a:ea typeface="Arial"/>
                <a:cs typeface="Arial"/>
              </a:defRPr>
            </a:pPr>
            <a:r>
              <a:rPr sz="1275" b="1">
                <a:solidFill>
                  <a:srgbClr val="FFFEFA"/>
                </a:solidFill>
                <a:latin typeface="Arial"/>
                <a:ea typeface="Arial"/>
                <a:cs typeface="Arial"/>
              </a:rPr>
              <a:t>Meterless reasoning is part of the agent loop</a:t>
            </a:r>
          </a:p>
        </p:txBody>
      </p:sp>
      <p:sp>
        <p:nvSpPr>
          <p:cNvPr id="15" name="status-3-body">
            <a:extLst xmlns:a="http://schemas.openxmlformats.org/drawingml/2006/main">
              <a:ext uri="{FF2B5EF4-FFF2-40B4-BE49-F238E27FC236}">
                <a16:creationId xmlns:a16="http://schemas.microsoft.com/office/drawing/2014/main" id="{F1CBDD80-E86C-4EC8-8553-4199582C14B4}"/>
              </a:ext>
            </a:extLst>
          </p:cNvPr>
          <p:cNvSpPr>
            <a:spLocks xmlns:a="http://schemas.openxmlformats.org/drawingml/2006/main" noGrp="1"/>
          </p:cNvSpPr>
          <p:nvPr/>
        </p:nvSpPr>
        <p:spPr>
          <a:xfrm xmlns:a="http://schemas.openxmlformats.org/drawingml/2006/main">
            <a:off x="1924050" y="4162425"/>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C4D0C2"/>
                </a:solidFill>
                <a:latin typeface="Arial"/>
                <a:ea typeface="Arial"/>
                <a:cs typeface="Arial"/>
              </a:defRPr>
            </a:defPPr>
            <a:lvl1pPr algn="l">
              <a:defRPr sz="1050" b="0">
                <a:solidFill>
                  <a:srgbClr val="C4D0C2"/>
                </a:solidFill>
                <a:latin typeface="Arial"/>
                <a:ea typeface="Arial"/>
                <a:cs typeface="Arial"/>
              </a:defRPr>
            </a:lvl1pPr>
            <a:lvl2pPr algn="l">
              <a:defRPr sz="1050" b="0">
                <a:solidFill>
                  <a:srgbClr val="C4D0C2"/>
                </a:solidFill>
                <a:latin typeface="Arial"/>
                <a:ea typeface="Arial"/>
                <a:cs typeface="Arial"/>
              </a:defRPr>
            </a:lvl2pPr>
            <a:lvl3pPr algn="l">
              <a:defRPr sz="1050" b="0">
                <a:solidFill>
                  <a:srgbClr val="C4D0C2"/>
                </a:solidFill>
                <a:latin typeface="Arial"/>
                <a:ea typeface="Arial"/>
                <a:cs typeface="Arial"/>
              </a:defRPr>
            </a:lvl3pPr>
            <a:lvl4pPr algn="l">
              <a:defRPr sz="1050" b="0">
                <a:solidFill>
                  <a:srgbClr val="C4D0C2"/>
                </a:solidFill>
                <a:latin typeface="Arial"/>
                <a:ea typeface="Arial"/>
                <a:cs typeface="Arial"/>
              </a:defRPr>
            </a:lvl4pPr>
            <a:lvl5pPr algn="l">
              <a:defRPr sz="1050" b="0">
                <a:solidFill>
                  <a:srgbClr val="C4D0C2"/>
                </a:solidFill>
                <a:latin typeface="Arial"/>
                <a:ea typeface="Arial"/>
                <a:cs typeface="Arial"/>
              </a:defRPr>
            </a:lvl5pPr>
            <a:lvl6pPr algn="l">
              <a:defRPr sz="1050" b="0">
                <a:solidFill>
                  <a:srgbClr val="C4D0C2"/>
                </a:solidFill>
                <a:latin typeface="Arial"/>
                <a:ea typeface="Arial"/>
                <a:cs typeface="Arial"/>
              </a:defRPr>
            </a:lvl6pPr>
            <a:lvl7pPr algn="l">
              <a:defRPr sz="1050" b="0">
                <a:solidFill>
                  <a:srgbClr val="C4D0C2"/>
                </a:solidFill>
                <a:latin typeface="Arial"/>
                <a:ea typeface="Arial"/>
                <a:cs typeface="Arial"/>
              </a:defRPr>
            </a:lvl7pPr>
            <a:lvl8pPr algn="l">
              <a:defRPr sz="1050" b="0">
                <a:solidFill>
                  <a:srgbClr val="C4D0C2"/>
                </a:solidFill>
                <a:latin typeface="Arial"/>
                <a:ea typeface="Arial"/>
                <a:cs typeface="Arial"/>
              </a:defRPr>
            </a:lvl8pPr>
            <a:lvl9pPr algn="l">
              <a:defRPr sz="1050" b="0">
                <a:solidFill>
                  <a:srgbClr val="C4D0C2"/>
                </a:solidFill>
                <a:latin typeface="Arial"/>
                <a:ea typeface="Arial"/>
                <a:cs typeface="Arial"/>
              </a:defRPr>
            </a:lvl9pPr>
          </a:lstStyle>
          <a:p xmlns:a="http://schemas.openxmlformats.org/drawingml/2006/main">
            <a:pPr algn="l">
              <a:defRPr sz="1050" b="0">
                <a:solidFill>
                  <a:srgbClr val="C4D0C2"/>
                </a:solidFill>
                <a:latin typeface="Arial"/>
                <a:ea typeface="Arial"/>
                <a:cs typeface="Arial"/>
              </a:defRPr>
            </a:pPr>
            <a:r>
              <a:rPr sz="1050" b="0">
                <a:solidFill>
                  <a:srgbClr val="C4D0C2"/>
                </a:solidFill>
                <a:latin typeface="Arial"/>
                <a:ea typeface="Arial"/>
                <a:cs typeface="Arial"/>
              </a:rPr>
              <a:t>OpenAI-compatible chat supplies analyst and critic wording; provider, model and call status are trace-visible.</a:t>
            </a:r>
          </a:p>
        </p:txBody>
      </p:sp>
      <p:sp>
        <p:nvSpPr>
          <p:cNvPr id="16" name="status-3-rule">
            <a:extLst xmlns:a="http://schemas.openxmlformats.org/drawingml/2006/main">
              <a:ext uri="{FF2B5EF4-FFF2-40B4-BE49-F238E27FC236}">
                <a16:creationId xmlns:a16="http://schemas.microsoft.com/office/drawing/2014/main" id="{086F1857-A8E3-43BE-9ED7-7BB8F51BF692}"/>
              </a:ext>
            </a:extLst>
          </p:cNvPr>
          <p:cNvSpPr>
            <a:spLocks xmlns:a="http://schemas.openxmlformats.org/drawingml/2006/main" noGrp="1"/>
          </p:cNvSpPr>
          <p:nvPr/>
        </p:nvSpPr>
        <p:spPr>
          <a:xfrm xmlns:a="http://schemas.openxmlformats.org/drawingml/2006/main">
            <a:off x="1924050" y="4610100"/>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17" name="status-4-sign">
            <a:extLst xmlns:a="http://schemas.openxmlformats.org/drawingml/2006/main">
              <a:ext uri="{FF2B5EF4-FFF2-40B4-BE49-F238E27FC236}">
                <a16:creationId xmlns:a16="http://schemas.microsoft.com/office/drawing/2014/main" id="{DD971C71-09B1-44B6-BFAA-261ED15A1EF2}"/>
              </a:ext>
            </a:extLst>
          </p:cNvPr>
          <p:cNvSpPr>
            <a:spLocks xmlns:a="http://schemas.openxmlformats.org/drawingml/2006/main" noGrp="1"/>
          </p:cNvSpPr>
          <p:nvPr/>
        </p:nvSpPr>
        <p:spPr>
          <a:xfrm xmlns:a="http://schemas.openxmlformats.org/drawingml/2006/main">
            <a:off x="790575" y="471487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E5BF79"/>
                </a:solidFill>
                <a:latin typeface="Arial"/>
                <a:ea typeface="Arial"/>
                <a:cs typeface="Arial"/>
              </a:defRPr>
            </a:defPPr>
            <a:lvl1pPr algn="l">
              <a:defRPr sz="825" b="1">
                <a:solidFill>
                  <a:srgbClr val="E5BF79"/>
                </a:solidFill>
                <a:latin typeface="Arial"/>
                <a:ea typeface="Arial"/>
                <a:cs typeface="Arial"/>
              </a:defRPr>
            </a:lvl1pPr>
            <a:lvl2pPr algn="l">
              <a:defRPr sz="825" b="1">
                <a:solidFill>
                  <a:srgbClr val="E5BF79"/>
                </a:solidFill>
                <a:latin typeface="Arial"/>
                <a:ea typeface="Arial"/>
                <a:cs typeface="Arial"/>
              </a:defRPr>
            </a:lvl2pPr>
            <a:lvl3pPr algn="l">
              <a:defRPr sz="825" b="1">
                <a:solidFill>
                  <a:srgbClr val="E5BF79"/>
                </a:solidFill>
                <a:latin typeface="Arial"/>
                <a:ea typeface="Arial"/>
                <a:cs typeface="Arial"/>
              </a:defRPr>
            </a:lvl3pPr>
            <a:lvl4pPr algn="l">
              <a:defRPr sz="825" b="1">
                <a:solidFill>
                  <a:srgbClr val="E5BF79"/>
                </a:solidFill>
                <a:latin typeface="Arial"/>
                <a:ea typeface="Arial"/>
                <a:cs typeface="Arial"/>
              </a:defRPr>
            </a:lvl4pPr>
            <a:lvl5pPr algn="l">
              <a:defRPr sz="825" b="1">
                <a:solidFill>
                  <a:srgbClr val="E5BF79"/>
                </a:solidFill>
                <a:latin typeface="Arial"/>
                <a:ea typeface="Arial"/>
                <a:cs typeface="Arial"/>
              </a:defRPr>
            </a:lvl5pPr>
            <a:lvl6pPr algn="l">
              <a:defRPr sz="825" b="1">
                <a:solidFill>
                  <a:srgbClr val="E5BF79"/>
                </a:solidFill>
                <a:latin typeface="Arial"/>
                <a:ea typeface="Arial"/>
                <a:cs typeface="Arial"/>
              </a:defRPr>
            </a:lvl6pPr>
            <a:lvl7pPr algn="l">
              <a:defRPr sz="825" b="1">
                <a:solidFill>
                  <a:srgbClr val="E5BF79"/>
                </a:solidFill>
                <a:latin typeface="Arial"/>
                <a:ea typeface="Arial"/>
                <a:cs typeface="Arial"/>
              </a:defRPr>
            </a:lvl7pPr>
            <a:lvl8pPr algn="l">
              <a:defRPr sz="825" b="1">
                <a:solidFill>
                  <a:srgbClr val="E5BF79"/>
                </a:solidFill>
                <a:latin typeface="Arial"/>
                <a:ea typeface="Arial"/>
                <a:cs typeface="Arial"/>
              </a:defRPr>
            </a:lvl8pPr>
            <a:lvl9pPr algn="l">
              <a:defRPr sz="825" b="1">
                <a:solidFill>
                  <a:srgbClr val="E5BF79"/>
                </a:solidFill>
                <a:latin typeface="Arial"/>
                <a:ea typeface="Arial"/>
                <a:cs typeface="Arial"/>
              </a:defRPr>
            </a:lvl9pPr>
          </a:lstStyle>
          <a:p xmlns:a="http://schemas.openxmlformats.org/drawingml/2006/main">
            <a:pPr algn="l">
              <a:defRPr sz="825" b="1">
                <a:solidFill>
                  <a:srgbClr val="E5BF79"/>
                </a:solidFill>
                <a:latin typeface="Arial"/>
                <a:ea typeface="Arial"/>
                <a:cs typeface="Arial"/>
              </a:defRPr>
            </a:pPr>
            <a:r>
              <a:rPr sz="825" b="1">
                <a:solidFill>
                  <a:srgbClr val="E5BF79"/>
                </a:solidFill>
                <a:latin typeface="Arial"/>
                <a:ea typeface="Arial"/>
                <a:cs typeface="Arial"/>
              </a:rPr>
              <a:t>SAFETY PROOF</a:t>
            </a:r>
          </a:p>
        </p:txBody>
      </p:sp>
      <p:sp>
        <p:nvSpPr>
          <p:cNvPr id="18" name="status-4-title">
            <a:extLst xmlns:a="http://schemas.openxmlformats.org/drawingml/2006/main">
              <a:ext uri="{FF2B5EF4-FFF2-40B4-BE49-F238E27FC236}">
                <a16:creationId xmlns:a16="http://schemas.microsoft.com/office/drawing/2014/main" id="{8713A0CD-2BB9-40F1-96DB-25889525D617}"/>
              </a:ext>
            </a:extLst>
          </p:cNvPr>
          <p:cNvSpPr>
            <a:spLocks xmlns:a="http://schemas.openxmlformats.org/drawingml/2006/main" noGrp="1"/>
          </p:cNvSpPr>
          <p:nvPr/>
        </p:nvSpPr>
        <p:spPr>
          <a:xfrm xmlns:a="http://schemas.openxmlformats.org/drawingml/2006/main">
            <a:off x="1924050" y="4686300"/>
            <a:ext cx="866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EFA"/>
                </a:solidFill>
                <a:latin typeface="Arial"/>
                <a:ea typeface="Arial"/>
                <a:cs typeface="Arial"/>
              </a:defRPr>
            </a:defPPr>
            <a:lvl1pPr algn="l">
              <a:defRPr sz="1275" b="1">
                <a:solidFill>
                  <a:srgbClr val="FFFEFA"/>
                </a:solidFill>
                <a:latin typeface="Arial"/>
                <a:ea typeface="Arial"/>
                <a:cs typeface="Arial"/>
              </a:defRPr>
            </a:lvl1pPr>
            <a:lvl2pPr algn="l">
              <a:defRPr sz="1275" b="1">
                <a:solidFill>
                  <a:srgbClr val="FFFEFA"/>
                </a:solidFill>
                <a:latin typeface="Arial"/>
                <a:ea typeface="Arial"/>
                <a:cs typeface="Arial"/>
              </a:defRPr>
            </a:lvl2pPr>
            <a:lvl3pPr algn="l">
              <a:defRPr sz="1275" b="1">
                <a:solidFill>
                  <a:srgbClr val="FFFEFA"/>
                </a:solidFill>
                <a:latin typeface="Arial"/>
                <a:ea typeface="Arial"/>
                <a:cs typeface="Arial"/>
              </a:defRPr>
            </a:lvl3pPr>
            <a:lvl4pPr algn="l">
              <a:defRPr sz="1275" b="1">
                <a:solidFill>
                  <a:srgbClr val="FFFEFA"/>
                </a:solidFill>
                <a:latin typeface="Arial"/>
                <a:ea typeface="Arial"/>
                <a:cs typeface="Arial"/>
              </a:defRPr>
            </a:lvl4pPr>
            <a:lvl5pPr algn="l">
              <a:defRPr sz="1275" b="1">
                <a:solidFill>
                  <a:srgbClr val="FFFEFA"/>
                </a:solidFill>
                <a:latin typeface="Arial"/>
                <a:ea typeface="Arial"/>
                <a:cs typeface="Arial"/>
              </a:defRPr>
            </a:lvl5pPr>
            <a:lvl6pPr algn="l">
              <a:defRPr sz="1275" b="1">
                <a:solidFill>
                  <a:srgbClr val="FFFEFA"/>
                </a:solidFill>
                <a:latin typeface="Arial"/>
                <a:ea typeface="Arial"/>
                <a:cs typeface="Arial"/>
              </a:defRPr>
            </a:lvl6pPr>
            <a:lvl7pPr algn="l">
              <a:defRPr sz="1275" b="1">
                <a:solidFill>
                  <a:srgbClr val="FFFEFA"/>
                </a:solidFill>
                <a:latin typeface="Arial"/>
                <a:ea typeface="Arial"/>
                <a:cs typeface="Arial"/>
              </a:defRPr>
            </a:lvl7pPr>
            <a:lvl8pPr algn="l">
              <a:defRPr sz="1275" b="1">
                <a:solidFill>
                  <a:srgbClr val="FFFEFA"/>
                </a:solidFill>
                <a:latin typeface="Arial"/>
                <a:ea typeface="Arial"/>
                <a:cs typeface="Arial"/>
              </a:defRPr>
            </a:lvl8pPr>
            <a:lvl9pPr algn="l">
              <a:defRPr sz="1275" b="1">
                <a:solidFill>
                  <a:srgbClr val="FFFEFA"/>
                </a:solidFill>
                <a:latin typeface="Arial"/>
                <a:ea typeface="Arial"/>
                <a:cs typeface="Arial"/>
              </a:defRPr>
            </a:lvl9pPr>
          </a:lstStyle>
          <a:p xmlns:a="http://schemas.openxmlformats.org/drawingml/2006/main">
            <a:pPr algn="l">
              <a:defRPr sz="1275" b="1">
                <a:solidFill>
                  <a:srgbClr val="FFFEFA"/>
                </a:solidFill>
                <a:latin typeface="Arial"/>
                <a:ea typeface="Arial"/>
                <a:cs typeface="Arial"/>
              </a:defRPr>
            </a:pPr>
            <a:r>
              <a:rPr sz="1275" b="1">
                <a:solidFill>
                  <a:srgbClr val="FFFEFA"/>
                </a:solidFill>
                <a:latin typeface="Arial"/>
                <a:ea typeface="Arial"/>
                <a:cs typeface="Arial"/>
              </a:rPr>
              <a:t>The live agent withheld advice on stale evidence</a:t>
            </a:r>
          </a:p>
        </p:txBody>
      </p:sp>
      <p:sp>
        <p:nvSpPr>
          <p:cNvPr id="19" name="status-4-body">
            <a:extLst xmlns:a="http://schemas.openxmlformats.org/drawingml/2006/main">
              <a:ext uri="{FF2B5EF4-FFF2-40B4-BE49-F238E27FC236}">
                <a16:creationId xmlns:a16="http://schemas.microsoft.com/office/drawing/2014/main" id="{A1E3A021-4F8C-4148-8F3B-7F84C04B5B09}"/>
              </a:ext>
            </a:extLst>
          </p:cNvPr>
          <p:cNvSpPr>
            <a:spLocks xmlns:a="http://schemas.openxmlformats.org/drawingml/2006/main" noGrp="1"/>
          </p:cNvSpPr>
          <p:nvPr/>
        </p:nvSpPr>
        <p:spPr>
          <a:xfrm xmlns:a="http://schemas.openxmlformats.org/drawingml/2006/main">
            <a:off x="1924050" y="495300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C4D0C2"/>
                </a:solidFill>
                <a:latin typeface="Arial"/>
                <a:ea typeface="Arial"/>
                <a:cs typeface="Arial"/>
              </a:defRPr>
            </a:defPPr>
            <a:lvl1pPr algn="l">
              <a:defRPr sz="1050" b="0">
                <a:solidFill>
                  <a:srgbClr val="C4D0C2"/>
                </a:solidFill>
                <a:latin typeface="Arial"/>
                <a:ea typeface="Arial"/>
                <a:cs typeface="Arial"/>
              </a:defRPr>
            </a:lvl1pPr>
            <a:lvl2pPr algn="l">
              <a:defRPr sz="1050" b="0">
                <a:solidFill>
                  <a:srgbClr val="C4D0C2"/>
                </a:solidFill>
                <a:latin typeface="Arial"/>
                <a:ea typeface="Arial"/>
                <a:cs typeface="Arial"/>
              </a:defRPr>
            </a:lvl2pPr>
            <a:lvl3pPr algn="l">
              <a:defRPr sz="1050" b="0">
                <a:solidFill>
                  <a:srgbClr val="C4D0C2"/>
                </a:solidFill>
                <a:latin typeface="Arial"/>
                <a:ea typeface="Arial"/>
                <a:cs typeface="Arial"/>
              </a:defRPr>
            </a:lvl3pPr>
            <a:lvl4pPr algn="l">
              <a:defRPr sz="1050" b="0">
                <a:solidFill>
                  <a:srgbClr val="C4D0C2"/>
                </a:solidFill>
                <a:latin typeface="Arial"/>
                <a:ea typeface="Arial"/>
                <a:cs typeface="Arial"/>
              </a:defRPr>
            </a:lvl4pPr>
            <a:lvl5pPr algn="l">
              <a:defRPr sz="1050" b="0">
                <a:solidFill>
                  <a:srgbClr val="C4D0C2"/>
                </a:solidFill>
                <a:latin typeface="Arial"/>
                <a:ea typeface="Arial"/>
                <a:cs typeface="Arial"/>
              </a:defRPr>
            </a:lvl5pPr>
            <a:lvl6pPr algn="l">
              <a:defRPr sz="1050" b="0">
                <a:solidFill>
                  <a:srgbClr val="C4D0C2"/>
                </a:solidFill>
                <a:latin typeface="Arial"/>
                <a:ea typeface="Arial"/>
                <a:cs typeface="Arial"/>
              </a:defRPr>
            </a:lvl6pPr>
            <a:lvl7pPr algn="l">
              <a:defRPr sz="1050" b="0">
                <a:solidFill>
                  <a:srgbClr val="C4D0C2"/>
                </a:solidFill>
                <a:latin typeface="Arial"/>
                <a:ea typeface="Arial"/>
                <a:cs typeface="Arial"/>
              </a:defRPr>
            </a:lvl7pPr>
            <a:lvl8pPr algn="l">
              <a:defRPr sz="1050" b="0">
                <a:solidFill>
                  <a:srgbClr val="C4D0C2"/>
                </a:solidFill>
                <a:latin typeface="Arial"/>
                <a:ea typeface="Arial"/>
                <a:cs typeface="Arial"/>
              </a:defRPr>
            </a:lvl8pPr>
            <a:lvl9pPr algn="l">
              <a:defRPr sz="1050" b="0">
                <a:solidFill>
                  <a:srgbClr val="C4D0C2"/>
                </a:solidFill>
                <a:latin typeface="Arial"/>
                <a:ea typeface="Arial"/>
                <a:cs typeface="Arial"/>
              </a:defRPr>
            </a:lvl9pPr>
          </a:lstStyle>
          <a:p xmlns:a="http://schemas.openxmlformats.org/drawingml/2006/main">
            <a:pPr algn="l">
              <a:defRPr sz="1050" b="0">
                <a:solidFill>
                  <a:srgbClr val="C4D0C2"/>
                </a:solidFill>
                <a:latin typeface="Arial"/>
                <a:ea typeface="Arial"/>
                <a:cs typeface="Arial"/>
              </a:defRPr>
            </a:pPr>
            <a:r>
              <a:rPr sz="1050" b="0">
                <a:solidFill>
                  <a:srgbClr val="C4D0C2"/>
                </a:solidFill>
                <a:latin typeface="Arial"/>
                <a:ea typeface="Arial"/>
                <a:cs typeface="Arial"/>
              </a:rPr>
              <a:t>The Zetaris-backed case found prices 6 days old and news 19 days old, then returned no recommendation.</a:t>
            </a:r>
          </a:p>
        </p:txBody>
      </p:sp>
      <p:sp>
        <p:nvSpPr>
          <p:cNvPr id="20" name="next-steps-rule">
            <a:extLst xmlns:a="http://schemas.openxmlformats.org/drawingml/2006/main">
              <a:ext uri="{FF2B5EF4-FFF2-40B4-BE49-F238E27FC236}">
                <a16:creationId xmlns:a16="http://schemas.microsoft.com/office/drawing/2014/main" id="{DBC7CD70-702E-4744-B5DD-CE272320A7AF}"/>
              </a:ext>
            </a:extLst>
          </p:cNvPr>
          <p:cNvSpPr>
            <a:spLocks xmlns:a="http://schemas.openxmlformats.org/drawingml/2006/main" noGrp="1"/>
          </p:cNvSpPr>
          <p:nvPr/>
        </p:nvSpPr>
        <p:spPr>
          <a:xfrm xmlns:a="http://schemas.openxmlformats.org/drawingml/2006/main">
            <a:off x="762000" y="5534025"/>
            <a:ext cx="106680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21" name="next-steps-title">
            <a:extLst xmlns:a="http://schemas.openxmlformats.org/drawingml/2006/main">
              <a:ext uri="{FF2B5EF4-FFF2-40B4-BE49-F238E27FC236}">
                <a16:creationId xmlns:a16="http://schemas.microsoft.com/office/drawing/2014/main" id="{F41E3889-B7C8-4654-A2C8-D6BE67F7BD47}"/>
              </a:ext>
            </a:extLst>
          </p:cNvPr>
          <p:cNvSpPr>
            <a:spLocks xmlns:a="http://schemas.openxmlformats.org/drawingml/2006/main" noGrp="1"/>
          </p:cNvSpPr>
          <p:nvPr/>
        </p:nvSpPr>
        <p:spPr>
          <a:xfrm xmlns:a="http://schemas.openxmlformats.org/drawingml/2006/main">
            <a:off x="790575" y="5734050"/>
            <a:ext cx="1695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D9C99F"/>
                </a:solidFill>
                <a:latin typeface="Arial"/>
                <a:ea typeface="Arial"/>
                <a:cs typeface="Arial"/>
              </a:defRPr>
            </a:defPPr>
            <a:lvl1pPr algn="l">
              <a:defRPr sz="1125" b="1">
                <a:solidFill>
                  <a:srgbClr val="D9C99F"/>
                </a:solidFill>
                <a:latin typeface="Arial"/>
                <a:ea typeface="Arial"/>
                <a:cs typeface="Arial"/>
              </a:defRPr>
            </a:lvl1pPr>
            <a:lvl2pPr algn="l">
              <a:defRPr sz="1125" b="1">
                <a:solidFill>
                  <a:srgbClr val="D9C99F"/>
                </a:solidFill>
                <a:latin typeface="Arial"/>
                <a:ea typeface="Arial"/>
                <a:cs typeface="Arial"/>
              </a:defRPr>
            </a:lvl2pPr>
            <a:lvl3pPr algn="l">
              <a:defRPr sz="1125" b="1">
                <a:solidFill>
                  <a:srgbClr val="D9C99F"/>
                </a:solidFill>
                <a:latin typeface="Arial"/>
                <a:ea typeface="Arial"/>
                <a:cs typeface="Arial"/>
              </a:defRPr>
            </a:lvl3pPr>
            <a:lvl4pPr algn="l">
              <a:defRPr sz="1125" b="1">
                <a:solidFill>
                  <a:srgbClr val="D9C99F"/>
                </a:solidFill>
                <a:latin typeface="Arial"/>
                <a:ea typeface="Arial"/>
                <a:cs typeface="Arial"/>
              </a:defRPr>
            </a:lvl4pPr>
            <a:lvl5pPr algn="l">
              <a:defRPr sz="1125" b="1">
                <a:solidFill>
                  <a:srgbClr val="D9C99F"/>
                </a:solidFill>
                <a:latin typeface="Arial"/>
                <a:ea typeface="Arial"/>
                <a:cs typeface="Arial"/>
              </a:defRPr>
            </a:lvl5pPr>
            <a:lvl6pPr algn="l">
              <a:defRPr sz="1125" b="1">
                <a:solidFill>
                  <a:srgbClr val="D9C99F"/>
                </a:solidFill>
                <a:latin typeface="Arial"/>
                <a:ea typeface="Arial"/>
                <a:cs typeface="Arial"/>
              </a:defRPr>
            </a:lvl6pPr>
            <a:lvl7pPr algn="l">
              <a:defRPr sz="1125" b="1">
                <a:solidFill>
                  <a:srgbClr val="D9C99F"/>
                </a:solidFill>
                <a:latin typeface="Arial"/>
                <a:ea typeface="Arial"/>
                <a:cs typeface="Arial"/>
              </a:defRPr>
            </a:lvl7pPr>
            <a:lvl8pPr algn="l">
              <a:defRPr sz="1125" b="1">
                <a:solidFill>
                  <a:srgbClr val="D9C99F"/>
                </a:solidFill>
                <a:latin typeface="Arial"/>
                <a:ea typeface="Arial"/>
                <a:cs typeface="Arial"/>
              </a:defRPr>
            </a:lvl8pPr>
            <a:lvl9pPr algn="l">
              <a:defRPr sz="1125" b="1">
                <a:solidFill>
                  <a:srgbClr val="D9C99F"/>
                </a:solidFill>
                <a:latin typeface="Arial"/>
                <a:ea typeface="Arial"/>
                <a:cs typeface="Arial"/>
              </a:defRPr>
            </a:lvl9pPr>
          </a:lstStyle>
          <a:p xmlns:a="http://schemas.openxmlformats.org/drawingml/2006/main">
            <a:pPr algn="l">
              <a:defRPr sz="1125" b="1">
                <a:solidFill>
                  <a:srgbClr val="D9C99F"/>
                </a:solidFill>
                <a:latin typeface="Arial"/>
                <a:ea typeface="Arial"/>
                <a:cs typeface="Arial"/>
              </a:defRPr>
            </a:pPr>
            <a:r>
              <a:rPr sz="1125" b="1">
                <a:solidFill>
                  <a:srgbClr val="D9C99F"/>
                </a:solidFill>
                <a:latin typeface="Arial"/>
                <a:ea typeface="Arial"/>
                <a:cs typeface="Arial"/>
              </a:rPr>
              <a:t>Evaluation takeaway</a:t>
            </a:r>
          </a:p>
        </p:txBody>
      </p:sp>
      <p:sp>
        <p:nvSpPr>
          <p:cNvPr id="22" name="next-steps-copy">
            <a:extLst xmlns:a="http://schemas.openxmlformats.org/drawingml/2006/main">
              <a:ext uri="{FF2B5EF4-FFF2-40B4-BE49-F238E27FC236}">
                <a16:creationId xmlns:a16="http://schemas.microsoft.com/office/drawing/2014/main" id="{F01B2CAB-88B8-4470-9F83-FE09C6E454D3}"/>
              </a:ext>
            </a:extLst>
          </p:cNvPr>
          <p:cNvSpPr>
            <a:spLocks xmlns:a="http://schemas.openxmlformats.org/drawingml/2006/main" noGrp="1"/>
          </p:cNvSpPr>
          <p:nvPr/>
        </p:nvSpPr>
        <p:spPr>
          <a:xfrm xmlns:a="http://schemas.openxmlformats.org/drawingml/2006/main">
            <a:off x="2533650" y="5686425"/>
            <a:ext cx="8782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FFFEFA"/>
                </a:solidFill>
                <a:latin typeface="Arial"/>
                <a:ea typeface="Arial"/>
                <a:cs typeface="Arial"/>
              </a:defRPr>
            </a:defPPr>
            <a:lvl1pPr algn="l">
              <a:defRPr sz="1050" b="0">
                <a:solidFill>
                  <a:srgbClr val="FFFEFA"/>
                </a:solidFill>
                <a:latin typeface="Arial"/>
                <a:ea typeface="Arial"/>
                <a:cs typeface="Arial"/>
              </a:defRPr>
            </a:lvl1pPr>
            <a:lvl2pPr algn="l">
              <a:defRPr sz="1050" b="0">
                <a:solidFill>
                  <a:srgbClr val="FFFEFA"/>
                </a:solidFill>
                <a:latin typeface="Arial"/>
                <a:ea typeface="Arial"/>
                <a:cs typeface="Arial"/>
              </a:defRPr>
            </a:lvl2pPr>
            <a:lvl3pPr algn="l">
              <a:defRPr sz="1050" b="0">
                <a:solidFill>
                  <a:srgbClr val="FFFEFA"/>
                </a:solidFill>
                <a:latin typeface="Arial"/>
                <a:ea typeface="Arial"/>
                <a:cs typeface="Arial"/>
              </a:defRPr>
            </a:lvl3pPr>
            <a:lvl4pPr algn="l">
              <a:defRPr sz="1050" b="0">
                <a:solidFill>
                  <a:srgbClr val="FFFEFA"/>
                </a:solidFill>
                <a:latin typeface="Arial"/>
                <a:ea typeface="Arial"/>
                <a:cs typeface="Arial"/>
              </a:defRPr>
            </a:lvl4pPr>
            <a:lvl5pPr algn="l">
              <a:defRPr sz="1050" b="0">
                <a:solidFill>
                  <a:srgbClr val="FFFEFA"/>
                </a:solidFill>
                <a:latin typeface="Arial"/>
                <a:ea typeface="Arial"/>
                <a:cs typeface="Arial"/>
              </a:defRPr>
            </a:lvl5pPr>
            <a:lvl6pPr algn="l">
              <a:defRPr sz="1050" b="0">
                <a:solidFill>
                  <a:srgbClr val="FFFEFA"/>
                </a:solidFill>
                <a:latin typeface="Arial"/>
                <a:ea typeface="Arial"/>
                <a:cs typeface="Arial"/>
              </a:defRPr>
            </a:lvl6pPr>
            <a:lvl7pPr algn="l">
              <a:defRPr sz="1050" b="0">
                <a:solidFill>
                  <a:srgbClr val="FFFEFA"/>
                </a:solidFill>
                <a:latin typeface="Arial"/>
                <a:ea typeface="Arial"/>
                <a:cs typeface="Arial"/>
              </a:defRPr>
            </a:lvl7pPr>
            <a:lvl8pPr algn="l">
              <a:defRPr sz="1050" b="0">
                <a:solidFill>
                  <a:srgbClr val="FFFEFA"/>
                </a:solidFill>
                <a:latin typeface="Arial"/>
                <a:ea typeface="Arial"/>
                <a:cs typeface="Arial"/>
              </a:defRPr>
            </a:lvl8pPr>
            <a:lvl9pPr algn="l">
              <a:defRPr sz="1050" b="0">
                <a:solidFill>
                  <a:srgbClr val="FFFEFA"/>
                </a:solidFill>
                <a:latin typeface="Arial"/>
                <a:ea typeface="Arial"/>
                <a:cs typeface="Arial"/>
              </a:defRPr>
            </a:lvl9pPr>
          </a:lstStyle>
          <a:p xmlns:a="http://schemas.openxmlformats.org/drawingml/2006/main">
            <a:pPr algn="l">
              <a:defRPr sz="1050" b="0">
                <a:solidFill>
                  <a:srgbClr val="FFFEFA"/>
                </a:solidFill>
                <a:latin typeface="Arial"/>
                <a:ea typeface="Arial"/>
                <a:cs typeface="Arial"/>
              </a:defRPr>
            </a:pPr>
            <a:r>
              <a:rPr sz="1050" b="0">
                <a:solidFill>
                  <a:srgbClr val="FFFEFA"/>
                </a:solidFill>
                <a:latin typeface="Arial"/>
                <a:ea typeface="Arial"/>
                <a:cs typeface="Arial"/>
              </a:rPr>
              <a:t>Every recommendation is tied to dated evidence; when freshness fails, the agent explains the gap and abstains.</a:t>
            </a:r>
          </a:p>
        </p:txBody>
      </p:sp>
      <p:sp>
        <p:nvSpPr>
          <p:cNvPr id="23" name="status-footer">
            <a:extLst xmlns:a="http://schemas.openxmlformats.org/drawingml/2006/main">
              <a:ext uri="{FF2B5EF4-FFF2-40B4-BE49-F238E27FC236}">
                <a16:creationId xmlns:a16="http://schemas.microsoft.com/office/drawing/2014/main" id="{549F8574-2E25-4851-8AD1-2058E0496147}"/>
              </a:ext>
            </a:extLst>
          </p:cNvPr>
          <p:cNvSpPr>
            <a:spLocks xmlns:a="http://schemas.openxmlformats.org/drawingml/2006/main" noGrp="1"/>
          </p:cNvSpPr>
          <p:nvPr/>
        </p:nvSpPr>
        <p:spPr>
          <a:xfrm xmlns:a="http://schemas.openxmlformats.org/drawingml/2006/main">
            <a:off x="790575" y="6315075"/>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D9C99F"/>
                </a:solidFill>
                <a:latin typeface="Arial"/>
                <a:ea typeface="Arial"/>
                <a:cs typeface="Arial"/>
              </a:defRPr>
            </a:defPPr>
            <a:lvl1pPr algn="l">
              <a:defRPr sz="825" b="1">
                <a:solidFill>
                  <a:srgbClr val="D9C99F"/>
                </a:solidFill>
                <a:latin typeface="Arial"/>
                <a:ea typeface="Arial"/>
                <a:cs typeface="Arial"/>
              </a:defRPr>
            </a:lvl1pPr>
            <a:lvl2pPr algn="l">
              <a:defRPr sz="825" b="1">
                <a:solidFill>
                  <a:srgbClr val="D9C99F"/>
                </a:solidFill>
                <a:latin typeface="Arial"/>
                <a:ea typeface="Arial"/>
                <a:cs typeface="Arial"/>
              </a:defRPr>
            </a:lvl2pPr>
            <a:lvl3pPr algn="l">
              <a:defRPr sz="825" b="1">
                <a:solidFill>
                  <a:srgbClr val="D9C99F"/>
                </a:solidFill>
                <a:latin typeface="Arial"/>
                <a:ea typeface="Arial"/>
                <a:cs typeface="Arial"/>
              </a:defRPr>
            </a:lvl3pPr>
            <a:lvl4pPr algn="l">
              <a:defRPr sz="825" b="1">
                <a:solidFill>
                  <a:srgbClr val="D9C99F"/>
                </a:solidFill>
                <a:latin typeface="Arial"/>
                <a:ea typeface="Arial"/>
                <a:cs typeface="Arial"/>
              </a:defRPr>
            </a:lvl4pPr>
            <a:lvl5pPr algn="l">
              <a:defRPr sz="825" b="1">
                <a:solidFill>
                  <a:srgbClr val="D9C99F"/>
                </a:solidFill>
                <a:latin typeface="Arial"/>
                <a:ea typeface="Arial"/>
                <a:cs typeface="Arial"/>
              </a:defRPr>
            </a:lvl5pPr>
            <a:lvl6pPr algn="l">
              <a:defRPr sz="825" b="1">
                <a:solidFill>
                  <a:srgbClr val="D9C99F"/>
                </a:solidFill>
                <a:latin typeface="Arial"/>
                <a:ea typeface="Arial"/>
                <a:cs typeface="Arial"/>
              </a:defRPr>
            </a:lvl6pPr>
            <a:lvl7pPr algn="l">
              <a:defRPr sz="825" b="1">
                <a:solidFill>
                  <a:srgbClr val="D9C99F"/>
                </a:solidFill>
                <a:latin typeface="Arial"/>
                <a:ea typeface="Arial"/>
                <a:cs typeface="Arial"/>
              </a:defRPr>
            </a:lvl7pPr>
            <a:lvl8pPr algn="l">
              <a:defRPr sz="825" b="1">
                <a:solidFill>
                  <a:srgbClr val="D9C99F"/>
                </a:solidFill>
                <a:latin typeface="Arial"/>
                <a:ea typeface="Arial"/>
                <a:cs typeface="Arial"/>
              </a:defRPr>
            </a:lvl8pPr>
            <a:lvl9pPr algn="l">
              <a:defRPr sz="825" b="1">
                <a:solidFill>
                  <a:srgbClr val="D9C99F"/>
                </a:solidFill>
                <a:latin typeface="Arial"/>
                <a:ea typeface="Arial"/>
                <a:cs typeface="Arial"/>
              </a:defRPr>
            </a:lvl9pPr>
          </a:lstStyle>
          <a:p xmlns:a="http://schemas.openxmlformats.org/drawingml/2006/main">
            <a:pPr algn="l">
              <a:defRPr sz="825" b="1">
                <a:solidFill>
                  <a:srgbClr val="D9C99F"/>
                </a:solidFill>
                <a:latin typeface="Arial"/>
                <a:ea typeface="Arial"/>
                <a:cs typeface="Arial"/>
              </a:defRPr>
            </a:pPr>
            <a:r>
              <a:rPr sz="825" b="1">
                <a:solidFill>
                  <a:srgbClr val="D9C99F"/>
                </a:solidFill>
                <a:latin typeface="Arial"/>
                <a:ea typeface="Arial"/>
                <a:cs typeface="Arial"/>
              </a:rPr>
              <a:t>DECISION SUPPORT ONLY  ·  LIVE DATA SOURCES SHOWN  ·  NO TRADE IS PLACED</a:t>
            </a:r>
          </a:p>
        </p:txBody>
      </p:sp>
    </p:spTree>
    <p:extLst>
      <p:ext uri="{BB962C8B-B14F-4D97-AF65-F5344CB8AC3E}">
        <p14:creationId xmlns:p14="http://schemas.microsoft.com/office/powerpoint/2010/main" val="15897500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2026-10-24T15:40:52.8660000Z</dcterms:created>
  <dcterms:modified xsi:type="dcterms:W3CDTF">2026-10-24T15:40:52.8660000Z</dcterms:modified>
</coreProperties>
</file>